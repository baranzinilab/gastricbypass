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15.svg" ContentType="image/svg+xml"/>
  <Override PartName="/ppt/media/image17.svg" ContentType="image/svg+xml"/>
  <Override PartName="/ppt/media/image21.svg" ContentType="image/svg+xml"/>
  <Override PartName="/ppt/media/image22.svg" ContentType="image/svg+xml"/>
  <Override PartName="/ppt/media/image3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78" r:id="rId4"/>
    <p:sldMasterId id="2147483943" r:id="rId5"/>
  </p:sldMasterIdLst>
  <p:notesMasterIdLst>
    <p:notesMasterId r:id="rId26"/>
  </p:notesMasterIdLst>
  <p:handoutMasterIdLst>
    <p:handoutMasterId r:id="rId27"/>
  </p:handout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3"/>
  </p:sldIdLst>
  <p:sldSz cx="9144000" cy="5143500" type="screen16x9"/>
  <p:notesSz cx="68580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89" userDrawn="1">
          <p15:clr>
            <a:srgbClr val="A4A3A4"/>
          </p15:clr>
        </p15:guide>
        <p15:guide id="2" orient="horz" pos="2608" userDrawn="1">
          <p15:clr>
            <a:srgbClr val="A4A3A4"/>
          </p15:clr>
        </p15:guide>
        <p15:guide id="3" orient="horz" pos="3024" userDrawn="1">
          <p15:clr>
            <a:srgbClr val="A4A3A4"/>
          </p15:clr>
        </p15:guide>
        <p15:guide id="4" orient="horz" pos="1637" userDrawn="1">
          <p15:clr>
            <a:srgbClr val="A4A3A4"/>
          </p15:clr>
        </p15:guide>
        <p15:guide id="5" orient="horz" pos="215" userDrawn="1">
          <p15:clr>
            <a:srgbClr val="A4A3A4"/>
          </p15:clr>
        </p15:guide>
        <p15:guide id="6" orient="horz" pos="1103" userDrawn="1">
          <p15:clr>
            <a:srgbClr val="A4A3A4"/>
          </p15:clr>
        </p15:guide>
        <p15:guide id="7" orient="horz" pos="401" userDrawn="1">
          <p15:clr>
            <a:srgbClr val="A4A3A4"/>
          </p15:clr>
        </p15:guide>
        <p15:guide id="8" orient="horz" pos="2954" userDrawn="1">
          <p15:clr>
            <a:srgbClr val="A4A3A4"/>
          </p15:clr>
        </p15:guide>
        <p15:guide id="9" orient="horz" pos="173" userDrawn="1">
          <p15:clr>
            <a:srgbClr val="A4A3A4"/>
          </p15:clr>
        </p15:guide>
        <p15:guide id="10" pos="175" userDrawn="1">
          <p15:clr>
            <a:srgbClr val="A4A3A4"/>
          </p15:clr>
        </p15:guide>
        <p15:guide id="11" pos="5590" userDrawn="1">
          <p15:clr>
            <a:srgbClr val="A4A3A4"/>
          </p15:clr>
        </p15:guide>
        <p15:guide id="12" pos="2880" userDrawn="1">
          <p15:clr>
            <a:srgbClr val="A4A3A4"/>
          </p15:clr>
        </p15:guide>
        <p15:guide id="13" pos="776" userDrawn="1">
          <p15:clr>
            <a:srgbClr val="A4A3A4"/>
          </p15:clr>
        </p15:guide>
        <p15:guide id="14" pos="1411" userDrawn="1">
          <p15:clr>
            <a:srgbClr val="A4A3A4"/>
          </p15:clr>
        </p15:guide>
        <p15:guide id="15" pos="5287" userDrawn="1">
          <p15:clr>
            <a:srgbClr val="A4A3A4"/>
          </p15:clr>
        </p15:guide>
        <p15:guide id="16" pos="346" userDrawn="1">
          <p15:clr>
            <a:srgbClr val="A4A3A4"/>
          </p15:clr>
        </p15:guide>
        <p15:guide id="17" pos="4090" userDrawn="1">
          <p15:clr>
            <a:srgbClr val="A4A3A4"/>
          </p15:clr>
        </p15:guide>
      </p15:sldGuideLst>
    </p:ext>
    <p:ext uri="{2D200454-40CA-4A62-9FC3-DE9A4176ACB9}">
      <p15:notesGuideLst xmlns:p15="http://schemas.microsoft.com/office/powerpoint/2012/main">
        <p15:guide id="1" orient="horz" pos="2592" userDrawn="1">
          <p15:clr>
            <a:srgbClr val="A4A3A4"/>
          </p15:clr>
        </p15:guide>
        <p15:guide id="2" orient="horz" pos="5542" userDrawn="1">
          <p15:clr>
            <a:srgbClr val="A4A3A4"/>
          </p15:clr>
        </p15:guide>
        <p15:guide id="3" orient="horz" pos="5777" userDrawn="1">
          <p15:clr>
            <a:srgbClr val="A4A3A4"/>
          </p15:clr>
        </p15:guide>
        <p15:guide id="4" pos="286" userDrawn="1">
          <p15:clr>
            <a:srgbClr val="A4A3A4"/>
          </p15:clr>
        </p15:guide>
        <p15:guide id="5" pos="403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8024"/>
    <a:srgbClr val="BFBFBF"/>
    <a:srgbClr val="6C62D0"/>
    <a:srgbClr val="052049"/>
    <a:srgbClr val="90BD31"/>
    <a:srgbClr val="18A3AC"/>
    <a:srgbClr val="178CCB"/>
    <a:srgbClr val="000000"/>
    <a:srgbClr val="EC1848"/>
    <a:srgbClr val="E8E7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98C260-70E6-492A-8AC5-8DD2B2669B87}" v="4" dt="2024-06-07T23:33:41.6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013" autoAdjust="0"/>
    <p:restoredTop sz="79726" autoAdjust="0"/>
  </p:normalViewPr>
  <p:slideViewPr>
    <p:cSldViewPr snapToGrid="0" showGuides="1">
      <p:cViewPr varScale="1">
        <p:scale>
          <a:sx n="133" d="100"/>
          <a:sy n="133" d="100"/>
        </p:scale>
        <p:origin x="1048" y="192"/>
      </p:cViewPr>
      <p:guideLst>
        <p:guide orient="horz" pos="789"/>
        <p:guide orient="horz" pos="2608"/>
        <p:guide orient="horz" pos="3024"/>
        <p:guide orient="horz" pos="1637"/>
        <p:guide orient="horz" pos="215"/>
        <p:guide orient="horz" pos="1103"/>
        <p:guide orient="horz" pos="401"/>
        <p:guide orient="horz" pos="2954"/>
        <p:guide orient="horz" pos="173"/>
        <p:guide pos="175"/>
        <p:guide pos="5590"/>
        <p:guide pos="2880"/>
        <p:guide pos="776"/>
        <p:guide pos="1411"/>
        <p:guide pos="5287"/>
        <p:guide pos="346"/>
        <p:guide pos="409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1" d="100"/>
        <a:sy n="71" d="100"/>
      </p:scale>
      <p:origin x="0" y="0"/>
    </p:cViewPr>
  </p:sorterViewPr>
  <p:notesViewPr>
    <p:cSldViewPr snapToGrid="0">
      <p:cViewPr>
        <p:scale>
          <a:sx n="108" d="100"/>
          <a:sy n="108" d="100"/>
        </p:scale>
        <p:origin x="2576" y="-240"/>
      </p:cViewPr>
      <p:guideLst>
        <p:guide orient="horz" pos="2592"/>
        <p:guide orient="horz" pos="5542"/>
        <p:guide orient="horz" pos="5777"/>
        <p:guide pos="286"/>
        <p:guide pos="4033"/>
      </p:guideLst>
    </p:cSldViewPr>
  </p:notes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1.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notesMaster" Target="notesMasters/notesMaster1.xml"/><Relationship Id="rId27" Type="http://schemas.openxmlformats.org/officeDocument/2006/relationships/handoutMaster" Target="handoutMasters/handout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6/11/relationships/changesInfo" Target="changesInfos/changesInfo1.xml"/><Relationship Id="rId3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 Vincent" clId="Web-{D398C260-70E6-492A-8AC5-8DD2B2669B87}"/>
    <pc:docChg chg="addSld delSld">
      <pc:chgData name="Marc Vincent" userId="" providerId="" clId="Web-{D398C260-70E6-492A-8AC5-8DD2B2669B87}" dt="2024-06-07T23:33:41.690" v="3"/>
      <pc:docMkLst>
        <pc:docMk/>
      </pc:docMkLst>
      <pc:sldChg chg="del">
        <pc:chgData name="Marc Vincent" userId="" providerId="" clId="Web-{D398C260-70E6-492A-8AC5-8DD2B2669B87}" dt="2024-06-07T23:33:41.690" v="3"/>
        <pc:sldMkLst>
          <pc:docMk/>
          <pc:sldMk cId="543433178" sldId="289"/>
        </pc:sldMkLst>
      </pc:sldChg>
      <pc:sldChg chg="new del">
        <pc:chgData name="Marc Vincent" userId="" providerId="" clId="Web-{D398C260-70E6-492A-8AC5-8DD2B2669B87}" dt="2024-06-07T23:33:30.517" v="2"/>
        <pc:sldMkLst>
          <pc:docMk/>
          <pc:sldMk cId="651748649" sldId="290"/>
        </pc:sldMkLst>
      </pc:sldChg>
    </pc:docChg>
  </pc:docChgLst>
  <pc:docChgLst>
    <pc:chgData name="Jonathan Menendez" clId="Web-{CF0FD079-902A-4D5D-90B2-3EB9D2BD7628}"/>
    <pc:docChg chg="addSld modSld">
      <pc:chgData name="Jonathan Menendez" userId="" providerId="" clId="Web-{CF0FD079-902A-4D5D-90B2-3EB9D2BD7628}" dt="2024-04-17T11:13:03.667" v="2"/>
      <pc:docMkLst>
        <pc:docMk/>
      </pc:docMkLst>
      <pc:sldChg chg="addSp delSp modSp mod modClrScheme chgLayout">
        <pc:chgData name="Jonathan Menendez" userId="" providerId="" clId="Web-{CF0FD079-902A-4D5D-90B2-3EB9D2BD7628}" dt="2024-04-17T11:07:24.476" v="1"/>
        <pc:sldMkLst>
          <pc:docMk/>
          <pc:sldMk cId="2154914541" sldId="277"/>
        </pc:sldMkLst>
        <pc:spChg chg="mod ord">
          <ac:chgData name="Jonathan Menendez" userId="" providerId="" clId="Web-{CF0FD079-902A-4D5D-90B2-3EB9D2BD7628}" dt="2024-04-17T11:07:24.476" v="1"/>
          <ac:spMkLst>
            <pc:docMk/>
            <pc:sldMk cId="2154914541" sldId="277"/>
            <ac:spMk id="2" creationId="{EA2C5C1B-281B-8E40-AE3B-01687C427CF5}"/>
          </ac:spMkLst>
        </pc:spChg>
        <pc:spChg chg="add del mod ord">
          <ac:chgData name="Jonathan Menendez" userId="" providerId="" clId="Web-{CF0FD079-902A-4D5D-90B2-3EB9D2BD7628}" dt="2024-04-17T11:07:24.476" v="1"/>
          <ac:spMkLst>
            <pc:docMk/>
            <pc:sldMk cId="2154914541" sldId="277"/>
            <ac:spMk id="3" creationId="{04DEAA18-E19F-4AC3-4125-C7A732218FDC}"/>
          </ac:spMkLst>
        </pc:spChg>
        <pc:spChg chg="mod ord">
          <ac:chgData name="Jonathan Menendez" userId="" providerId="" clId="Web-{CF0FD079-902A-4D5D-90B2-3EB9D2BD7628}" dt="2024-04-17T11:07:24.476" v="1"/>
          <ac:spMkLst>
            <pc:docMk/>
            <pc:sldMk cId="2154914541" sldId="277"/>
            <ac:spMk id="4" creationId="{C8CB38CF-9FDE-7947-B8D0-17938F8ED68F}"/>
          </ac:spMkLst>
        </pc:spChg>
        <pc:spChg chg="mod ord">
          <ac:chgData name="Jonathan Menendez" userId="" providerId="" clId="Web-{CF0FD079-902A-4D5D-90B2-3EB9D2BD7628}" dt="2024-04-17T11:07:24.476" v="1"/>
          <ac:spMkLst>
            <pc:docMk/>
            <pc:sldMk cId="2154914541" sldId="277"/>
            <ac:spMk id="5" creationId="{E3E096C0-A652-6C4B-BABD-F955B605F28D}"/>
          </ac:spMkLst>
        </pc:spChg>
      </pc:sldChg>
      <pc:sldChg chg="new">
        <pc:chgData name="Jonathan Menendez" userId="" providerId="" clId="Web-{CF0FD079-902A-4D5D-90B2-3EB9D2BD7628}" dt="2024-04-17T11:13:03.667" v="2"/>
        <pc:sldMkLst>
          <pc:docMk/>
          <pc:sldMk cId="543433178" sldId="28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37.emf"/></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44" name="Straight Connector 43"/>
          <p:cNvCxnSpPr/>
          <p:nvPr/>
        </p:nvCxnSpPr>
        <p:spPr>
          <a:xfrm>
            <a:off x="455585" y="8795705"/>
            <a:ext cx="59436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Slide Number Placeholder 6"/>
          <p:cNvSpPr>
            <a:spLocks noGrp="1"/>
          </p:cNvSpPr>
          <p:nvPr>
            <p:ph type="sldNum" sz="quarter" idx="3"/>
          </p:nvPr>
        </p:nvSpPr>
        <p:spPr>
          <a:xfrm>
            <a:off x="403350" y="8880855"/>
            <a:ext cx="281232" cy="105317"/>
          </a:xfrm>
          <a:prstGeom prst="rect">
            <a:avLst/>
          </a:prstGeom>
        </p:spPr>
        <p:txBody>
          <a:bodyPr vert="horz" wrap="square" lIns="0" tIns="0" rIns="0" bIns="0" rtlCol="0" anchor="b" anchorCtr="0"/>
          <a:lstStyle>
            <a:lvl1pPr marL="0" algn="l" defTabSz="914400" rtl="0" eaLnBrk="1" latinLnBrk="0" hangingPunct="1">
              <a:defRPr lang="en-US" sz="800" kern="1200" smtClean="0">
                <a:solidFill>
                  <a:schemeClr val="tx1"/>
                </a:solidFill>
                <a:latin typeface="+mn-lt"/>
                <a:ea typeface="+mn-ea"/>
                <a:cs typeface="+mn-cs"/>
              </a:defRPr>
            </a:lvl1pPr>
          </a:lstStyle>
          <a:p>
            <a:pPr algn="r"/>
            <a:fld id="{111E5896-917A-4035-A860-408E1EC3CD51}" type="slidenum">
              <a:rPr lang="en-US">
                <a:solidFill>
                  <a:srgbClr val="052049"/>
                </a:solidFill>
                <a:latin typeface="Arial" panose="020B0604020202020204" pitchFamily="34" charset="0"/>
                <a:cs typeface="Arial" panose="020B0604020202020204" pitchFamily="34" charset="0"/>
              </a:rPr>
              <a:pPr algn="r"/>
              <a:t>‹#›</a:t>
            </a:fld>
            <a:endParaRPr lang="en-US" dirty="0">
              <a:solidFill>
                <a:srgbClr val="052049"/>
              </a:solidFill>
              <a:latin typeface="Arial" panose="020B0604020202020204" pitchFamily="34" charset="0"/>
              <a:cs typeface="Arial" panose="020B0604020202020204" pitchFamily="34" charset="0"/>
            </a:endParaRPr>
          </a:p>
        </p:txBody>
      </p:sp>
      <p:pic>
        <p:nvPicPr>
          <p:cNvPr id="20" name="Picture 7"/>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5802407" y="8866372"/>
            <a:ext cx="599982" cy="291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Footer Placeholder 3"/>
          <p:cNvSpPr>
            <a:spLocks noGrp="1"/>
          </p:cNvSpPr>
          <p:nvPr>
            <p:ph type="ftr" sz="quarter" idx="2"/>
          </p:nvPr>
        </p:nvSpPr>
        <p:spPr>
          <a:xfrm>
            <a:off x="636536" y="8821324"/>
            <a:ext cx="2971800" cy="131586"/>
          </a:xfrm>
          <a:prstGeom prst="rect">
            <a:avLst/>
          </a:prstGeom>
        </p:spPr>
        <p:txBody>
          <a:bodyPr vert="horz" lIns="91440" tIns="45720" rIns="91440" bIns="45720" rtlCol="0" anchor="t"/>
          <a:lstStyle>
            <a:lvl1pPr algn="l">
              <a:defRPr sz="1200"/>
            </a:lvl1pPr>
          </a:lstStyle>
          <a:p>
            <a:r>
              <a:rPr lang="en-US" sz="800" dirty="0">
                <a:solidFill>
                  <a:srgbClr val="052049"/>
                </a:solidFill>
                <a:latin typeface="Arial" panose="020B0604020202020204" pitchFamily="34" charset="0"/>
              </a:rPr>
              <a:t>| [footer text here]</a:t>
            </a:r>
          </a:p>
        </p:txBody>
      </p:sp>
    </p:spTree>
    <p:extLst>
      <p:ext uri="{BB962C8B-B14F-4D97-AF65-F5344CB8AC3E}">
        <p14:creationId xmlns:p14="http://schemas.microsoft.com/office/powerpoint/2010/main" val="18283294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37.emf"/></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12750" y="400050"/>
            <a:ext cx="6197600" cy="348615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441268" y="4080297"/>
            <a:ext cx="5961120" cy="44805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29" name="Straight Connector 28"/>
          <p:cNvCxnSpPr/>
          <p:nvPr/>
        </p:nvCxnSpPr>
        <p:spPr>
          <a:xfrm>
            <a:off x="455585" y="8795705"/>
            <a:ext cx="59436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30"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2407" y="8866372"/>
            <a:ext cx="599982" cy="291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Slide Number Placeholder 6"/>
          <p:cNvSpPr>
            <a:spLocks noGrp="1"/>
          </p:cNvSpPr>
          <p:nvPr>
            <p:ph type="sldNum" sz="quarter" idx="5"/>
          </p:nvPr>
        </p:nvSpPr>
        <p:spPr>
          <a:xfrm>
            <a:off x="403350" y="8880855"/>
            <a:ext cx="281232" cy="105317"/>
          </a:xfrm>
          <a:prstGeom prst="rect">
            <a:avLst/>
          </a:prstGeom>
        </p:spPr>
        <p:txBody>
          <a:bodyPr vert="horz" wrap="square" lIns="0" tIns="0" rIns="0" bIns="0" rtlCol="0" anchor="b" anchorCtr="0"/>
          <a:lstStyle>
            <a:lvl1pPr marL="0" algn="l" defTabSz="914400" rtl="0" eaLnBrk="1" latinLnBrk="0" hangingPunct="1">
              <a:defRPr lang="en-US" sz="800" b="0" i="0" kern="1200" smtClean="0">
                <a:solidFill>
                  <a:schemeClr val="tx1"/>
                </a:solidFill>
                <a:latin typeface="Arial" panose="020B0604020202020204" pitchFamily="34" charset="0"/>
                <a:ea typeface="+mn-ea"/>
                <a:cs typeface="Arial" panose="020B0604020202020204" pitchFamily="34" charset="0"/>
              </a:defRPr>
            </a:lvl1pPr>
          </a:lstStyle>
          <a:p>
            <a:pPr algn="r"/>
            <a:fld id="{111E5896-917A-4035-A860-408E1EC3CD51}" type="slidenum">
              <a:rPr lang="en-US" smtClean="0">
                <a:solidFill>
                  <a:srgbClr val="052049"/>
                </a:solidFill>
              </a:rPr>
              <a:pPr algn="r"/>
              <a:t>‹#›</a:t>
            </a:fld>
            <a:endParaRPr lang="en-US" dirty="0">
              <a:solidFill>
                <a:srgbClr val="052049"/>
              </a:solidFill>
            </a:endParaRPr>
          </a:p>
        </p:txBody>
      </p:sp>
      <p:sp>
        <p:nvSpPr>
          <p:cNvPr id="10" name="Footer Placeholder 3"/>
          <p:cNvSpPr>
            <a:spLocks noGrp="1"/>
          </p:cNvSpPr>
          <p:nvPr>
            <p:ph type="ftr" sz="quarter" idx="4"/>
          </p:nvPr>
        </p:nvSpPr>
        <p:spPr>
          <a:xfrm>
            <a:off x="636536" y="8821324"/>
            <a:ext cx="2971800" cy="131586"/>
          </a:xfrm>
          <a:prstGeom prst="rect">
            <a:avLst/>
          </a:prstGeom>
        </p:spPr>
        <p:txBody>
          <a:bodyPr vert="horz" lIns="91440" tIns="45720" rIns="91440" bIns="45720" rtlCol="0" anchor="t"/>
          <a:lstStyle>
            <a:lvl1pPr algn="l">
              <a:defRPr sz="1200" b="0" i="0">
                <a:latin typeface="Arial" panose="020B0604020202020204" pitchFamily="34" charset="0"/>
              </a:defRPr>
            </a:lvl1pPr>
          </a:lstStyle>
          <a:p>
            <a:r>
              <a:rPr lang="en-US" sz="800" dirty="0">
                <a:solidFill>
                  <a:srgbClr val="052049"/>
                </a:solidFill>
              </a:rPr>
              <a:t>| [footer text here]</a:t>
            </a:r>
          </a:p>
        </p:txBody>
      </p:sp>
      <p:sp>
        <p:nvSpPr>
          <p:cNvPr id="2" name="Date Placeholder 1"/>
          <p:cNvSpPr>
            <a:spLocks noGrp="1"/>
          </p:cNvSpPr>
          <p:nvPr>
            <p:ph type="dt" idx="1"/>
          </p:nvPr>
        </p:nvSpPr>
        <p:spPr>
          <a:xfrm>
            <a:off x="3884613" y="3"/>
            <a:ext cx="2971800" cy="466725"/>
          </a:xfrm>
          <a:prstGeom prst="rect">
            <a:avLst/>
          </a:prstGeom>
        </p:spPr>
        <p:txBody>
          <a:bodyPr vert="horz" lIns="91440" tIns="45720" rIns="91440" bIns="45720" rtlCol="0"/>
          <a:lstStyle>
            <a:lvl1pPr algn="r">
              <a:defRPr sz="1200" b="0" i="0">
                <a:latin typeface="Arial" panose="020B0604020202020204" pitchFamily="34" charset="0"/>
              </a:defRPr>
            </a:lvl1pPr>
          </a:lstStyle>
          <a:p>
            <a:fld id="{EF798EC2-7587-174C-8F9B-BEC1CFBF2B9A}" type="datetimeFigureOut">
              <a:rPr lang="en-US" smtClean="0"/>
              <a:pPr/>
              <a:t>8/19/26</a:t>
            </a:fld>
            <a:endParaRPr lang="en-US" dirty="0"/>
          </a:p>
        </p:txBody>
      </p:sp>
    </p:spTree>
    <p:extLst>
      <p:ext uri="{BB962C8B-B14F-4D97-AF65-F5344CB8AC3E}">
        <p14:creationId xmlns:p14="http://schemas.microsoft.com/office/powerpoint/2010/main" val="450748310"/>
      </p:ext>
    </p:extLst>
  </p:cSld>
  <p:clrMap bg1="lt1" tx1="dk1" bg2="lt2" tx2="dk2" accent1="accent1" accent2="accent2" accent3="accent3" accent4="accent4" accent5="accent5" accent6="accent6" hlink="hlink" folHlink="folHlink"/>
  <p:hf hdr="0" dt="0"/>
  <p:notesStyle>
    <a:lvl1pPr marL="114300" indent="-114300" algn="l" defTabSz="914400" rtl="0" eaLnBrk="1" latinLnBrk="0" hangingPunct="1">
      <a:spcBef>
        <a:spcPts val="800"/>
      </a:spcBef>
      <a:buClr>
        <a:srgbClr val="178CCB"/>
      </a:buClr>
      <a:buFont typeface="Arial" pitchFamily="34" charset="0"/>
      <a:buChar char="•"/>
      <a:defRPr sz="1200" b="0" i="0" kern="1200">
        <a:solidFill>
          <a:srgbClr val="052049"/>
        </a:solidFill>
        <a:latin typeface="Arial" panose="020B0604020202020204" pitchFamily="34" charset="0"/>
        <a:ea typeface="+mn-ea"/>
        <a:cs typeface="Arial" panose="020B0604020202020204" pitchFamily="34" charset="0"/>
      </a:defRPr>
    </a:lvl1pPr>
    <a:lvl2pPr marL="285750" indent="-112713" algn="l" defTabSz="914400" rtl="0" eaLnBrk="1" latinLnBrk="0" hangingPunct="1">
      <a:spcBef>
        <a:spcPts val="200"/>
      </a:spcBef>
      <a:buClr>
        <a:srgbClr val="178CCB"/>
      </a:buClr>
      <a:buFont typeface="Arial" pitchFamily="34" charset="0"/>
      <a:buChar char="•"/>
      <a:defRPr sz="1100" b="0" i="0" kern="1200">
        <a:solidFill>
          <a:srgbClr val="052049"/>
        </a:solidFill>
        <a:latin typeface="Arial" panose="020B0604020202020204" pitchFamily="34" charset="0"/>
        <a:ea typeface="+mn-ea"/>
        <a:cs typeface="Arial" panose="020B0604020202020204" pitchFamily="34" charset="0"/>
      </a:defRPr>
    </a:lvl2pPr>
    <a:lvl3pPr marL="403225" indent="-117475" algn="l" defTabSz="914400" rtl="0" eaLnBrk="1" latinLnBrk="0" hangingPunct="1">
      <a:spcBef>
        <a:spcPts val="200"/>
      </a:spcBef>
      <a:buClr>
        <a:srgbClr val="178CCB"/>
      </a:buClr>
      <a:buFont typeface="Arial" pitchFamily="34" charset="0"/>
      <a:buChar char="•"/>
      <a:defRPr sz="1050" b="0" i="0" kern="1200">
        <a:solidFill>
          <a:srgbClr val="052049"/>
        </a:solidFill>
        <a:latin typeface="Arial" panose="020B0604020202020204" pitchFamily="34" charset="0"/>
        <a:ea typeface="+mn-ea"/>
        <a:cs typeface="Arial" panose="020B0604020202020204" pitchFamily="34" charset="0"/>
      </a:defRPr>
    </a:lvl3pPr>
    <a:lvl4pPr marL="569913" indent="-112713" algn="l" defTabSz="914400" rtl="0" eaLnBrk="1" latinLnBrk="0" hangingPunct="1">
      <a:spcBef>
        <a:spcPts val="200"/>
      </a:spcBef>
      <a:buClr>
        <a:srgbClr val="178CCB"/>
      </a:buClr>
      <a:buFont typeface="Arial" pitchFamily="34" charset="0"/>
      <a:buChar char="•"/>
      <a:defRPr sz="1050" b="0" i="0" kern="1200">
        <a:solidFill>
          <a:srgbClr val="052049"/>
        </a:solidFill>
        <a:latin typeface="Arial" panose="020B0604020202020204" pitchFamily="34" charset="0"/>
        <a:ea typeface="+mn-ea"/>
        <a:cs typeface="Arial" panose="020B0604020202020204" pitchFamily="34" charset="0"/>
      </a:defRPr>
    </a:lvl4pPr>
    <a:lvl5pPr marL="457200" indent="114300" algn="l" defTabSz="914400" rtl="0" eaLnBrk="1" latinLnBrk="0" hangingPunct="1">
      <a:buFont typeface="Arial" pitchFamily="34" charset="0"/>
      <a:buChar char="•"/>
      <a:defRPr sz="1050" kern="1200">
        <a:solidFill>
          <a:schemeClr val="tx1"/>
        </a:solidFill>
        <a:latin typeface="+mn-lt"/>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Roux-en-Y gastric bypass is both restrictive and malabsorptive by design, but the durable metabolic effect comes mainly from rerouting nutrient and bile flow. Bile acids reaching the distal ileum activate FXR and TGR5 on enteroendocrine L-cells, which amplifies the post-prandial GLP-1 response. That hormonal shift, rather than pouch size alone, accounts for much of the weight loss and diabetes remission.\n\nRoughly 280,000 metabolic and bariatric procedures were performed in the US in 2022, about 1% of the eligible population. Sleeve gastrectomy is now the most common procedure, but RYGB gives greater long-term weight loss and more durable type 2 diabetes remission in head-to-head comparisons. Seventy to eighty percent of patients keep the weight off for at least five years.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The three-class solution was chosen over two-, four- and five-class models on BIC, sample-size-adjusted BIC, the Vuong-Lo-Mendell-Rubin test and the bootstrap likelihood-ratio test, with entropy above 0.80 and mean posterior class-membership probability above 0.90.\n\nThe key point is that Classes 1 and 2 start from the same place. Baseline excess body weight was 101.0 kg in the regain class and 105.5 kg in the sustained loss class, a difference that is not significant. So whatever separates them is not how heavy they were going in.\n\nClass 3 held 87% of the cohort but started at 58.1 kg excess body weight, far lighter. Including it would have meant that any metabolite difference we found was really a signal of baseline adiposity. That is why the metabolomic contrast uses only the two extreme classes.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The extreme-phenotype design profiles the tails of the trajectory distribution rather than the whole cohort. This maximises discovery power for a fixed number of expensive assays, and it is an established approach in omics biomarker work. The trade-off is that effect sizes estimated from the tails are optimistic relative to an unselected population, so they should be read as upper bounds.\n\nThe LC-MS panel ran two HILIC modes, positive and negative, plus C18-negative and C8-positive reversed phase. That gives coverage of amines, polar metabolites, central carbon intermediates, free fatty acids and lipids. No samples failed QC.\n\nBaseline clinical and biochemical measures, including fasting glucose, insulin, lipids, ghrelin, leptin and inflammatory markers, were similar between the two groups. Weight trajectories were not influenced by sex or by surgical centre.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Post-surgical weight change has a characteristic shape: very rapid loss in the first six months, a nadir somewhere between one and two years, then either a plateau or slow regain. A single straight line through that trajectory averages away the whole story, which is why the linear R-squared is only 0.58.\n\nThe broken-stick linear mixed-effects model places knots at 6, 12 and 24 months, letting the slope change at each. R-squared rises to 0.98. Because it is a mixed model it borrows strength across participants, so individuals with sparse visit data still get a sensible curve.\n\nNote on the animation: the same frame cycles through Fig 1c, then 1d, then 1e.\n\n%EBW5 is defined as year-5 EBW divided by baseline EBW, times 100. Higher values mean a less effective operation, whether that came from poor initial loss or from later regain.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Twelve of the 62 nominally associated metabolites went up with worse outcomes, including kynurenine, bilirubin, CEHC, leucine, tryptophan, GABA and homoarginine. The other 50 went the opposite way, among them seven triacylglycerols, three lysophosphatidylcholines, four phosphatidylcholines and two lysophosphatidylethanolamines. That pattern suggests a broadly favourable lipid profile in people who sustain their weight loss.\n\nFeature selection was bidirectional stepwise regression on AIC, restricted to the 62 candidates. Restricting the candidate pool and using AIC keeps the model from chasing noise. Residual diagnostics showed no serious violation of linearity, homoscedasticity or normality, and variance inflation factors were acceptable.\n\nDMGV reached FDR significance but correlated with BAIBA at r = -0.56, above the prespecified cut-off of 0.5, so it was excluded from the score. It is kept later in the network analysis for completeness.\n\nBootstrap resampling ran the whole stepwise procedure 1,000 times. Seven of the 13 were picked in more than half of resamples; kynurenine, homoarginine and BAIBA were picked in more than three quarters, which is the stable core of the score.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Estimates are the change in %EBW5 per standard deviation of the metabolite, so a positive coefficient means a higher preoperative level goes with more excess weight left at year five, that is, a worse surgical outcome.\n\n3-methyladipate/pimelate is a composite feature. The two are structural isomers that the platform cannot separate, so they are reported together and split into two nodes later in the network analysis. Both candidate identities point to mitochondrial fatty acid oxidation, one through omega-oxidation and the other through branched-chain fatty acid catabolism.\n\nMost of these metabolites have not been linked to obesity or bariatric outcomes before, which is part of what makes the signature novel. The four with prior literature are kynurenine, BAIBA, homoarginine and glucuronate.\n\nBAIBA is the surprise. It is usually described as a protective exercise-induced myokine, yet here a higher level predicts worse outcomes. One reading is that it is a compensatory response to early mitochondrial dysfunction rather than a cause of benefit.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This matters practically. If the 13 metabolites were all measuring the same underlying axis, you could drop twelve of them and lose nothing, and the score would be fragile to any one assay failing. The weak off-diagonal structure says the opposite: the panel is compact but not redundant, which is what you want if this is ever going to become a clinical assay.\n\nThe clustering is soft. These are not tight modules, just a tendency for the lipid-derived features to travel together and the amino acid and microbial features to travel together.\n\nDMGV and BAIBA are the one genuinely collinear pair, at r = -0.56. Both are handled by AGXT2 biology, which is probably why. DMGV was dropped and BAIBA kept.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SPOKE is a heterogeneous knowledge graph built at UCSF that links compounds, genes, proteins, pathways, biological processes and diseases from curated sources including Gene Ontology, Reactome, WikiPathways and HMDB. Seeding it with the MetRS metabolites and pulling first-degree neighbours is an unbiased way to ask what biology these molecules already sit in.\n\nFifteen compounds were seeded rather than thirteen. 3-methyladipate and pimelate are entered separately because SPOKE holds them as distinct entities, and DMGV was added back for network completeness even though it is not in the score.\n\nThe layout is Kamada-Kawai, which positions nodes so that on-screen distance reflects path length in the graph. The visual clustering is therefore meaningful, not decorative.\n\nAn interactive version is in the project code repository at github.com/baranzinilab/GastricBypass.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Obesity sitting at the top of the disease bridge ranking is the most important result on this slide. The graph traversal was unbiased, so the score did not have to land on obesity. That it does argues against the signature being a surgical epiphenomenon and for it indexing a pre-existing cardiometabolic state that the operation only partly corrects.\n\nBile acid and GLP-1 axis: after Roux-en-Y reconstruction, bile acids reaching the distal ileum activate FXR and TGR5 on L-cells and amplify post-prandial GLP-1. D-glucuronic acid is the sugar donor for UGT-mediated bile acid conjugation, and it connects straight through to GCG, the proglucagon gene. If preoperative glucuronate is a readable proxy for that circuit, it would be clinically useful, because GLP-1 response after surgery varies a lot between individuals and predicts outcome.\n\nTryptophan axis: TDO2-driven tryptophan catabolism is induced by adipose tissue macrophage inflammation, and circulating kynurenine tracks BMI and insulin resistance. Kynurenine was also the most stably selected metabolite in the bootstrap.\n\nFatty acid oxidation: BAIBA is a PGC-1-alpha-dependent myokine that amplifies PPARA signalling, drives white adipose browning and hepatic beta-oxidation.\n\nNitric oxide: low circulating homoarginine, an endogenous NOS substrate, is an independent risk marker for cardiovascular and renal mortality. Its presence here points to endothelial dysfunction as part of the regain phenotype.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The odds ratios come from conditional logistic regression on the matched pairs. The age result means younger patients regain more, which matches prior reports that younger age at surgery is a risk factor for long-term regain.\n\nThe AUC gain from 0.60 to 0.74 is the headline number. Age, sex and baseline excess body weight are what a surgeon already has in front of them, and on their own they classify barely better than chance in this cohort. Adding the metabolite score moves it into a range that could plausibly change management.\n\nOne caveat worth saying out loud: because the discovery cohort is drawn from the tails of the trajectory distribution, this AUC should be read as an upper bound. In an unselected population with many intermediate trajectories it would be lower.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Model 1 is baseline EBW, age and sex. Model 2 is MetRS alone. Model 3 adds baseline EBW to MetRS. Model 4 is the full model with baseline EBW, age, sex and MetRS.\n\nThe point of showing all four is that the MetRS coefficient is stable across them. If the score were really a proxy for age or starting weight, adding those covariates would shrink it. It does not shrink.\n\nThe cross-validation ran 100 repetitions of 10-fold CV. RMSE being larger than MAE is expected in weight data, where a few large residuals pull the squared error up. An RMSE of about 21 kg on an EBW range of roughly 40 to 165 kg is moderate accuracy for a molecular biomarker predicting a five-year surgical outcome.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This is the real replication of the predictive claim, in a cohort profiled at a different site on a different platform, years after surgery. The sample is small at n = 35, so treat it as supportive rather than definitive.\n\nThe dose-response in Fig 4c is the more informative panel. It is not just that regainers have a higher score on average; the score scales with the magnitude of regain, and it does so independently of baseline clinical characteristics.\n\nThe sensitivity check matters. Dropping three metabolites and re-scoring LABS-2 still gives p = 8.1 x 10-5, so the reduced score is not a different instrument. It also means a clinical assay would not have to carry all thirteen.\n\nThe main limitation here is that this cohort has no preoperative samples, so we cannot resolve how the score changes over time within a person.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This cohort was never designed as a second replication of the surgical prediction, and it should not be presented as one. It answers a different question: does this metabolic signature mean anything outside a surgical setting?\n\nThe answer is a qualified yes. MetRS-8 is elevated in people with a BMI around 40 compared with people at a BMI around 18, and the metabolomic profiles separate in PLS-DA space. But the continuous association with BMI is weak, at 0.10 kg per square metre per standard deviation.\n\nOnly eight of the thirteen metabolites were available on the Estonian platform, five fewer than the full score. The sensitivity analysis showed MetRS-8 still discriminates in LABS-2 at p = 2.6 x 10-6.\n\nTaken with the network result, the reading is that the score indexes a pre-existing cardiometabolic state, and surgery only partly corrects it.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LAT1, encoded by SLC7A5, is the large neutral amino acid transporter that carries kynurenine across the blood-brain barrier. Finding it here is genetic support for the tryptophan axis that came out of the network analysis, and it is reassuring that it has been reported before in metabolite-QTL studies.\n\nThe other loci look new. LINC00351 for glucuronate, an intergenic locus on chromosome 21 for hippurate, and a signal for N-carbamoyl-beta-alanine. C34:2 phosphatidylcholine maps to FADS2, which is a canonical fatty acid desaturase locus and a sanity check that the pipeline works.\n\nThe broader point is that these are enzymes and transporters. Genetic variation in the machinery that makes and moves these metabolites feeds into the score, which supports the idea of a partly inherited metabolic set point rather than a purely dietary or environmental signature.\n\nGenomic inflation was lambda = 1.87, consistent with polygenic architecture, though some population stratification cannot be ruled out in a cohort this size.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Arial"/>
              </a:rPr>
              <a:t>AGXT2 is already known to be polygenic. Missense variants V140I and V498L independently affect enzyme activity and BAIBA metabolism, so finding four independent signals here is consistent with the existing literature rather than surprising.\n\nWhat is interesting is rs13174300. It is associated with the composite score and with BAIBA, but it stays genome-wide significant after conditioning on the three BAIBA variants. That means it is contributing to the score through something other than BAIBA alone, either another component metabolite or a regulatory mechanism distinct from the known missense variants.\n\nThe phenome-wide picture supports the fatty acid oxidation reading. Nominal association with age at menarche at p = 2.4 x 10-6 and with serum triglycerides at p = 5.6 x 10-5, both consistent with BAIBA's role in adipose browning and mitochondrial beta-oxidation. In the UK Biobank binary disease analysis nothing reached genome-wide significance, so its footprint is at the metabolite-QTL level rather than as overt disease risk.</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Limits: extreme-phenotype design inflates effect sizes; validation cohorts were small and used reduced scores; 82.5% female and mostly European ancestry</a:t>
            </a:r>
          </a:p>
          <a:p>
            <a:r>
              <a:t>Next: test a preoperative screening score prospectively, alongside microbiome and GLP-1 dynamic profiling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7.jpe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eg"/><Relationship Id="rId3" Type="http://schemas.openxmlformats.org/officeDocument/2006/relationships/image" Target="../media/image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eg"/><Relationship Id="rId3" Type="http://schemas.openxmlformats.org/officeDocument/2006/relationships/image" Target="../media/image7.jpe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eg"/><Relationship Id="rId3" Type="http://schemas.openxmlformats.org/officeDocument/2006/relationships/image" Target="../media/image1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eg"/><Relationship Id="rId3" Type="http://schemas.openxmlformats.org/officeDocument/2006/relationships/image" Target="../media/image7.jpe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jpeg"/><Relationship Id="rId3" Type="http://schemas.openxmlformats.org/officeDocument/2006/relationships/image" Target="../media/image7.jpe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eg"/><Relationship Id="rId3" Type="http://schemas.openxmlformats.org/officeDocument/2006/relationships/image" Target="../media/image7.jpe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svg"/><Relationship Id="rId3" Type="http://schemas.openxmlformats.org/officeDocument/2006/relationships/image" Target="../media/image16.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svg"/><Relationship Id="rId3" Type="http://schemas.openxmlformats.org/officeDocument/2006/relationships/image" Target="../media/image16.jpe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 Id="rId3" Type="http://schemas.openxmlformats.org/officeDocument/2006/relationships/image" Target="../media/image1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20.emf"/></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emf"/></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jpe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jpeg"/><Relationship Id="rId3" Type="http://schemas.openxmlformats.org/officeDocument/2006/relationships/image" Target="../media/image27.jpeg"/><Relationship Id="rId4" Type="http://schemas.openxmlformats.org/officeDocument/2006/relationships/image" Target="../media/image20.emf"/><Relationship Id="rId5" Type="http://schemas.openxmlformats.org/officeDocument/2006/relationships/image" Target="../media/image28.jpe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jpeg"/><Relationship Id="rId3" Type="http://schemas.openxmlformats.org/officeDocument/2006/relationships/image" Target="../media/image30.jpeg"/><Relationship Id="rId4" Type="http://schemas.openxmlformats.org/officeDocument/2006/relationships/image" Target="../media/image31.jpeg"/><Relationship Id="rId5" Type="http://schemas.openxmlformats.org/officeDocument/2006/relationships/image" Target="../media/image32.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jpeg"/><Relationship Id="rId3" Type="http://schemas.openxmlformats.org/officeDocument/2006/relationships/image" Target="../media/image34.jpeg"/><Relationship Id="rId4" Type="http://schemas.openxmlformats.org/officeDocument/2006/relationships/image" Target="../media/image31.jpeg"/><Relationship Id="rId5" Type="http://schemas.openxmlformats.org/officeDocument/2006/relationships/image" Target="../media/image35.emf"/></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jpeg"/><Relationship Id="rId3" Type="http://schemas.openxmlformats.org/officeDocument/2006/relationships/image" Target="../media/image34.jpeg"/><Relationship Id="rId4" Type="http://schemas.openxmlformats.org/officeDocument/2006/relationships/image" Target="../media/image32.svg"/><Relationship Id="rId5" Type="http://schemas.openxmlformats.org/officeDocument/2006/relationships/image" Target="../media/image31.jpe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 Whit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28220" y="471851"/>
            <a:ext cx="1307578" cy="847504"/>
          </a:xfrm>
          <a:prstGeom prst="rect">
            <a:avLst/>
          </a:prstGeom>
        </p:spPr>
      </p:pic>
      <p:sp>
        <p:nvSpPr>
          <p:cNvPr id="2" name="Rectangle 1"/>
          <p:cNvSpPr/>
          <p:nvPr userDrawn="1"/>
        </p:nvSpPr>
        <p:spPr bwMode="auto">
          <a:xfrm>
            <a:off x="159026" y="4323522"/>
            <a:ext cx="8984974" cy="819978"/>
          </a:xfrm>
          <a:prstGeom prst="rect">
            <a:avLst/>
          </a:prstGeom>
          <a:solidFill>
            <a:schemeClr val="bg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22" name="Title 15"/>
          <p:cNvSpPr>
            <a:spLocks noGrp="1"/>
          </p:cNvSpPr>
          <p:nvPr>
            <p:ph type="title" hasCustomPrompt="1"/>
          </p:nvPr>
        </p:nvSpPr>
        <p:spPr>
          <a:xfrm>
            <a:off x="299201" y="1878497"/>
            <a:ext cx="6141359" cy="1311963"/>
          </a:xfrm>
        </p:spPr>
        <p:txBody>
          <a:bodyPr anchor="b">
            <a:noAutofit/>
          </a:bodyPr>
          <a:lstStyle>
            <a:lvl1pPr>
              <a:defRPr sz="3600" b="0" i="0" baseline="0">
                <a:solidFill>
                  <a:schemeClr val="tx1"/>
                </a:solidFill>
                <a:latin typeface="+mj-lt"/>
                <a:ea typeface="Arial" panose="02000503000000020004" pitchFamily="2" charset="0"/>
                <a:cs typeface="Arial" panose="020B0604020202020204" pitchFamily="34" charset="0"/>
              </a:defRPr>
            </a:lvl1pPr>
          </a:lstStyle>
          <a:p>
            <a:r>
              <a:rPr lang="en-US" dirty="0"/>
              <a:t>Title Here</a:t>
            </a:r>
          </a:p>
        </p:txBody>
      </p:sp>
      <p:sp>
        <p:nvSpPr>
          <p:cNvPr id="23" name="Date Placeholder 4"/>
          <p:cNvSpPr>
            <a:spLocks noGrp="1"/>
          </p:cNvSpPr>
          <p:nvPr>
            <p:ph type="dt" sz="half" idx="2"/>
          </p:nvPr>
        </p:nvSpPr>
        <p:spPr>
          <a:xfrm>
            <a:off x="319200" y="4616419"/>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ea typeface="Arial" panose="02000503000000020004" pitchFamily="2" charset="0"/>
                <a:cs typeface="Arial" panose="020B0604020202020204" pitchFamily="34" charset="0"/>
              </a:defRPr>
            </a:lvl1pPr>
          </a:lstStyle>
          <a:p>
            <a:fld id="{D470D759-0E0E-8249-AFAC-A75A00A3758F}" type="datetime1">
              <a:rPr lang="en-US" smtClean="0"/>
              <a:t>8/19/26</a:t>
            </a:fld>
            <a:endParaRPr lang="en-US" dirty="0"/>
          </a:p>
        </p:txBody>
      </p:sp>
      <p:sp>
        <p:nvSpPr>
          <p:cNvPr id="24" name="Text Placeholder 2"/>
          <p:cNvSpPr>
            <a:spLocks noGrp="1"/>
          </p:cNvSpPr>
          <p:nvPr>
            <p:ph type="body" sz="quarter" idx="10" hasCustomPrompt="1"/>
          </p:nvPr>
        </p:nvSpPr>
        <p:spPr>
          <a:xfrm>
            <a:off x="317595" y="4102257"/>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latin typeface="Arial" panose="020B0604020202020204" pitchFamily="34" charset="0"/>
                <a:ea typeface="Arial" panose="02000503000000020004" pitchFamily="2" charset="0"/>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25" name="Text Placeholder 3"/>
          <p:cNvSpPr>
            <a:spLocks noGrp="1"/>
          </p:cNvSpPr>
          <p:nvPr>
            <p:ph type="body" sz="quarter" idx="15" hasCustomPrompt="1"/>
          </p:nvPr>
        </p:nvSpPr>
        <p:spPr>
          <a:xfrm>
            <a:off x="302816" y="3185161"/>
            <a:ext cx="6147682"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Tree>
    <p:extLst>
      <p:ext uri="{BB962C8B-B14F-4D97-AF65-F5344CB8AC3E}">
        <p14:creationId xmlns:p14="http://schemas.microsoft.com/office/powerpoint/2010/main" val="1763073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 Teal">
    <p:bg>
      <p:bgPr>
        <a:solidFill>
          <a:schemeClr val="accent2"/>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28220" y="478425"/>
            <a:ext cx="1297452" cy="840941"/>
          </a:xfrm>
          <a:prstGeom prst="rect">
            <a:avLst/>
          </a:prstGeom>
        </p:spPr>
      </p:pic>
      <p:sp>
        <p:nvSpPr>
          <p:cNvPr id="2" name="Rectangle 1"/>
          <p:cNvSpPr/>
          <p:nvPr userDrawn="1"/>
        </p:nvSpPr>
        <p:spPr bwMode="auto">
          <a:xfrm>
            <a:off x="159026" y="4323522"/>
            <a:ext cx="8984974" cy="819978"/>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15" name="Date Placeholder 4"/>
          <p:cNvSpPr>
            <a:spLocks noGrp="1"/>
          </p:cNvSpPr>
          <p:nvPr>
            <p:ph type="dt" sz="half" idx="2"/>
          </p:nvPr>
        </p:nvSpPr>
        <p:spPr>
          <a:xfrm>
            <a:off x="319200" y="4616419"/>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ea typeface="Arial" panose="02000503000000020004" pitchFamily="2" charset="0"/>
                <a:cs typeface="Arial" panose="020B0604020202020204" pitchFamily="34" charset="0"/>
              </a:defRPr>
            </a:lvl1pPr>
          </a:lstStyle>
          <a:p>
            <a:fld id="{D2C759A4-81DB-2B49-BAD8-20F4759D56E4}" type="datetime1">
              <a:rPr lang="en-US" smtClean="0"/>
              <a:t>8/19/26</a:t>
            </a:fld>
            <a:endParaRPr lang="en-US" dirty="0"/>
          </a:p>
        </p:txBody>
      </p:sp>
      <p:sp>
        <p:nvSpPr>
          <p:cNvPr id="17" name="Text Placeholder 3"/>
          <p:cNvSpPr>
            <a:spLocks noGrp="1"/>
          </p:cNvSpPr>
          <p:nvPr>
            <p:ph type="body" sz="quarter" idx="15" hasCustomPrompt="1"/>
          </p:nvPr>
        </p:nvSpPr>
        <p:spPr>
          <a:xfrm>
            <a:off x="302816" y="3185161"/>
            <a:ext cx="6147682"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10" name="Text Placeholder 2"/>
          <p:cNvSpPr>
            <a:spLocks noGrp="1"/>
          </p:cNvSpPr>
          <p:nvPr>
            <p:ph type="body" sz="quarter" idx="10" hasCustomPrompt="1"/>
          </p:nvPr>
        </p:nvSpPr>
        <p:spPr>
          <a:xfrm>
            <a:off x="317595" y="4102257"/>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latin typeface="Arial" panose="020B0604020202020204" pitchFamily="34" charset="0"/>
                <a:ea typeface="Arial" panose="02000503000000020004" pitchFamily="2" charset="0"/>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1" name="Title 15">
            <a:extLst>
              <a:ext uri="{FF2B5EF4-FFF2-40B4-BE49-F238E27FC236}">
                <a16:creationId xmlns:a16="http://schemas.microsoft.com/office/drawing/2014/main" id="{A8F50CE7-BE49-DF46-A309-403467331352}"/>
              </a:ext>
            </a:extLst>
          </p:cNvPr>
          <p:cNvSpPr>
            <a:spLocks noGrp="1"/>
          </p:cNvSpPr>
          <p:nvPr>
            <p:ph type="title" hasCustomPrompt="1"/>
          </p:nvPr>
        </p:nvSpPr>
        <p:spPr>
          <a:xfrm>
            <a:off x="299201" y="1878497"/>
            <a:ext cx="6141359" cy="1311963"/>
          </a:xfrm>
        </p:spPr>
        <p:txBody>
          <a:bodyPr anchor="b">
            <a:noAutofit/>
          </a:bodyPr>
          <a:lstStyle>
            <a:lvl1pPr>
              <a:defRPr sz="3600" b="0" i="0" baseline="0">
                <a:solidFill>
                  <a:schemeClr val="tx1"/>
                </a:solidFill>
                <a:latin typeface="Arial" panose="02020404030301010803" pitchFamily="18" charset="0"/>
                <a:ea typeface="Arial" panose="02000503000000020004" pitchFamily="2" charset="0"/>
                <a:cs typeface="Arial" panose="020B0604020202020204" pitchFamily="34" charset="0"/>
              </a:defRPr>
            </a:lvl1pPr>
          </a:lstStyle>
          <a:p>
            <a:r>
              <a:rPr lang="en-US" dirty="0"/>
              <a:t>Title Here</a:t>
            </a:r>
          </a:p>
        </p:txBody>
      </p:sp>
    </p:spTree>
    <p:extLst>
      <p:ext uri="{BB962C8B-B14F-4D97-AF65-F5344CB8AC3E}">
        <p14:creationId xmlns:p14="http://schemas.microsoft.com/office/powerpoint/2010/main" val="5304207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 Blue">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bwMode="auto">
          <a:xfrm>
            <a:off x="159026" y="4323522"/>
            <a:ext cx="8984974" cy="819978"/>
          </a:xfrm>
          <a:prstGeom prst="rect">
            <a:avLst/>
          </a:prstGeom>
          <a:solidFill>
            <a:schemeClr val="bg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14" name="Title 15"/>
          <p:cNvSpPr>
            <a:spLocks noGrp="1"/>
          </p:cNvSpPr>
          <p:nvPr>
            <p:ph type="title" hasCustomPrompt="1"/>
          </p:nvPr>
        </p:nvSpPr>
        <p:spPr>
          <a:xfrm>
            <a:off x="299201" y="1878497"/>
            <a:ext cx="6141359" cy="1311963"/>
          </a:xfrm>
        </p:spPr>
        <p:txBody>
          <a:bodyPr anchor="b">
            <a:noAutofit/>
          </a:bodyPr>
          <a:lstStyle>
            <a:lvl1pPr>
              <a:defRPr sz="3600" b="0" i="0" baseline="0">
                <a:solidFill>
                  <a:schemeClr val="tx1"/>
                </a:solidFill>
                <a:latin typeface="Arial" panose="02020404030301010803" pitchFamily="18" charset="0"/>
                <a:ea typeface="Arial" panose="02000503000000020004" pitchFamily="2" charset="0"/>
                <a:cs typeface="Arial" panose="020B0604020202020204" pitchFamily="34" charset="0"/>
              </a:defRPr>
            </a:lvl1pPr>
          </a:lstStyle>
          <a:p>
            <a:r>
              <a:rPr lang="en-US" dirty="0"/>
              <a:t>Title Here</a:t>
            </a:r>
          </a:p>
        </p:txBody>
      </p:sp>
      <p:sp>
        <p:nvSpPr>
          <p:cNvPr id="15" name="Date Placeholder 4"/>
          <p:cNvSpPr>
            <a:spLocks noGrp="1"/>
          </p:cNvSpPr>
          <p:nvPr>
            <p:ph type="dt" sz="half" idx="2"/>
          </p:nvPr>
        </p:nvSpPr>
        <p:spPr>
          <a:xfrm>
            <a:off x="319200" y="4616419"/>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ea typeface="Arial" panose="02000503000000020004" pitchFamily="2" charset="0"/>
                <a:cs typeface="Arial" panose="020B0604020202020204" pitchFamily="34" charset="0"/>
              </a:defRPr>
            </a:lvl1pPr>
          </a:lstStyle>
          <a:p>
            <a:fld id="{4AD83FAE-0AD2-084F-918F-E696D117757B}" type="datetime1">
              <a:rPr lang="en-US" smtClean="0"/>
              <a:t>8/19/26</a:t>
            </a:fld>
            <a:endParaRPr lang="en-US" dirty="0"/>
          </a:p>
        </p:txBody>
      </p:sp>
      <p:sp>
        <p:nvSpPr>
          <p:cNvPr id="17" name="Text Placeholder 3"/>
          <p:cNvSpPr>
            <a:spLocks noGrp="1"/>
          </p:cNvSpPr>
          <p:nvPr>
            <p:ph type="body" sz="quarter" idx="15" hasCustomPrompt="1"/>
          </p:nvPr>
        </p:nvSpPr>
        <p:spPr>
          <a:xfrm>
            <a:off x="302816" y="3185161"/>
            <a:ext cx="6147682"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10" name="Text Placeholder 2"/>
          <p:cNvSpPr>
            <a:spLocks noGrp="1"/>
          </p:cNvSpPr>
          <p:nvPr>
            <p:ph type="body" sz="quarter" idx="10" hasCustomPrompt="1"/>
          </p:nvPr>
        </p:nvSpPr>
        <p:spPr>
          <a:xfrm>
            <a:off x="317595" y="4102257"/>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latin typeface="Arial" panose="020B0604020202020204" pitchFamily="34" charset="0"/>
                <a:ea typeface="Arial" panose="02000503000000020004" pitchFamily="2" charset="0"/>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pic>
        <p:nvPicPr>
          <p:cNvPr id="9" name="Picture 8">
            <a:extLst>
              <a:ext uri="{FF2B5EF4-FFF2-40B4-BE49-F238E27FC236}">
                <a16:creationId xmlns:a16="http://schemas.microsoft.com/office/drawing/2014/main" id="{44418279-066F-DC44-B86B-14E3FAD25D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28220" y="478425"/>
            <a:ext cx="1297452" cy="840941"/>
          </a:xfrm>
          <a:prstGeom prst="rect">
            <a:avLst/>
          </a:prstGeom>
        </p:spPr>
      </p:pic>
    </p:spTree>
    <p:extLst>
      <p:ext uri="{BB962C8B-B14F-4D97-AF65-F5344CB8AC3E}">
        <p14:creationId xmlns:p14="http://schemas.microsoft.com/office/powerpoint/2010/main" val="15301339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ullet Slid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11" name="Title 15"/>
          <p:cNvSpPr>
            <a:spLocks noGrp="1"/>
          </p:cNvSpPr>
          <p:nvPr>
            <p:ph type="title" hasCustomPrompt="1"/>
          </p:nvPr>
        </p:nvSpPr>
        <p:spPr>
          <a:xfrm>
            <a:off x="453585" y="318751"/>
            <a:ext cx="8173580" cy="458587"/>
          </a:xfrm>
        </p:spPr>
        <p:txBody>
          <a:bodyPr anchor="b">
            <a:noAutofit/>
          </a:bodyPr>
          <a:lstStyle>
            <a:lvl1pPr>
              <a:defRPr sz="3600" b="0" i="0">
                <a:latin typeface="Arial" panose="02020404030301010803" pitchFamily="18" charset="0"/>
                <a:ea typeface="Arial" panose="02000503000000020004" pitchFamily="2" charset="0"/>
                <a:cs typeface="Arial" panose="020B0604020202020204" pitchFamily="34" charset="0"/>
              </a:defRPr>
            </a:lvl1pPr>
          </a:lstStyle>
          <a:p>
            <a:r>
              <a:rPr lang="en-US" dirty="0"/>
              <a:t>Slide Title Here</a:t>
            </a:r>
          </a:p>
        </p:txBody>
      </p:sp>
      <p:sp>
        <p:nvSpPr>
          <p:cNvPr id="12" name="Text Placeholder 3"/>
          <p:cNvSpPr>
            <a:spLocks noGrp="1"/>
          </p:cNvSpPr>
          <p:nvPr>
            <p:ph type="body" sz="quarter" idx="15" hasCustomPrompt="1"/>
          </p:nvPr>
        </p:nvSpPr>
        <p:spPr>
          <a:xfrm>
            <a:off x="457202" y="695741"/>
            <a:ext cx="8169964" cy="334897"/>
          </a:xfrm>
          <a:prstGeom prst="rect">
            <a:avLst/>
          </a:prstGeom>
        </p:spPr>
        <p:txBody>
          <a:bodyPr>
            <a:noAutofit/>
          </a:bodyPr>
          <a:lstStyle>
            <a:lvl1pPr marL="0" indent="0">
              <a:lnSpc>
                <a:spcPct val="100000"/>
              </a:lnSpc>
              <a:buNone/>
              <a:defRPr sz="1800" b="0" i="0">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9" name="Content Placeholder 2">
            <a:extLst>
              <a:ext uri="{FF2B5EF4-FFF2-40B4-BE49-F238E27FC236}">
                <a16:creationId xmlns:a16="http://schemas.microsoft.com/office/drawing/2014/main" id="{79D9FF64-C01C-5C4C-8AB2-E760BF769004}"/>
              </a:ext>
            </a:extLst>
          </p:cNvPr>
          <p:cNvSpPr>
            <a:spLocks noGrp="1"/>
          </p:cNvSpPr>
          <p:nvPr>
            <p:ph sz="quarter" idx="16"/>
          </p:nvPr>
        </p:nvSpPr>
        <p:spPr>
          <a:xfrm>
            <a:off x="453585" y="1401763"/>
            <a:ext cx="8169964" cy="2932112"/>
          </a:xfrm>
        </p:spPr>
        <p:txBody>
          <a:bodyPr/>
          <a:lstStyle>
            <a:lvl1pPr>
              <a:defRPr b="0" i="0"/>
            </a:lvl1pPr>
            <a:lvl2pPr>
              <a:defRPr b="0" i="0"/>
            </a:lvl2pPr>
            <a:lvl3pPr>
              <a:defRPr b="0" i="0"/>
            </a:lvl3pPr>
            <a:lvl4pPr>
              <a:defRPr b="0" i="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7542644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Tree>
    <p:extLst>
      <p:ext uri="{BB962C8B-B14F-4D97-AF65-F5344CB8AC3E}">
        <p14:creationId xmlns:p14="http://schemas.microsoft.com/office/powerpoint/2010/main" val="11951592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3" name="Chart Placeholder 2"/>
          <p:cNvSpPr>
            <a:spLocks noGrp="1"/>
          </p:cNvSpPr>
          <p:nvPr>
            <p:ph type="chart" sz="quarter" idx="14"/>
          </p:nvPr>
        </p:nvSpPr>
        <p:spPr>
          <a:xfrm>
            <a:off x="268359" y="337931"/>
            <a:ext cx="8587407" cy="4065105"/>
          </a:xfrm>
          <a:prstGeom prst="rect">
            <a:avLst/>
          </a:prstGeom>
        </p:spPr>
        <p:txBody>
          <a:bodyPr>
            <a:normAutofit/>
          </a:bodyPr>
          <a:lstStyle>
            <a:lvl1pPr>
              <a:defRPr b="0" i="0">
                <a:latin typeface="Arial" panose="020B0604020202020204" pitchFamily="34" charset="0"/>
                <a:ea typeface="Arial" panose="02000503000000020004" pitchFamily="2" charset="0"/>
                <a:cs typeface="Arial" panose="020B0604020202020204" pitchFamily="34" charset="0"/>
              </a:defRPr>
            </a:lvl1pPr>
          </a:lstStyle>
          <a:p>
            <a:r>
              <a:rPr lang="en-US" dirty="0"/>
              <a:t>Click icon to add chart</a:t>
            </a:r>
          </a:p>
        </p:txBody>
      </p:sp>
    </p:spTree>
    <p:extLst>
      <p:ext uri="{BB962C8B-B14F-4D97-AF65-F5344CB8AC3E}">
        <p14:creationId xmlns:p14="http://schemas.microsoft.com/office/powerpoint/2010/main" val="6329067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Slid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11" name="Title 15"/>
          <p:cNvSpPr>
            <a:spLocks noGrp="1"/>
          </p:cNvSpPr>
          <p:nvPr>
            <p:ph type="title" hasCustomPrompt="1"/>
          </p:nvPr>
        </p:nvSpPr>
        <p:spPr>
          <a:xfrm>
            <a:off x="453585" y="318751"/>
            <a:ext cx="8173580" cy="458587"/>
          </a:xfrm>
        </p:spPr>
        <p:txBody>
          <a:bodyPr anchor="b">
            <a:noAutofit/>
          </a:bodyPr>
          <a:lstStyle>
            <a:lvl1pPr>
              <a:defRPr sz="3600" b="0" i="0">
                <a:latin typeface="Arial" panose="02020404030301010803" pitchFamily="18" charset="0"/>
                <a:ea typeface="Arial" panose="02000503000000020004" pitchFamily="2" charset="0"/>
                <a:cs typeface="Arial" panose="020B0604020202020204" pitchFamily="34" charset="0"/>
              </a:defRPr>
            </a:lvl1pPr>
          </a:lstStyle>
          <a:p>
            <a:r>
              <a:rPr lang="en-US" dirty="0"/>
              <a:t>Slide Title Here</a:t>
            </a:r>
          </a:p>
        </p:txBody>
      </p:sp>
      <p:sp>
        <p:nvSpPr>
          <p:cNvPr id="12" name="Text Placeholder 3"/>
          <p:cNvSpPr>
            <a:spLocks noGrp="1"/>
          </p:cNvSpPr>
          <p:nvPr>
            <p:ph type="body" sz="quarter" idx="15" hasCustomPrompt="1"/>
          </p:nvPr>
        </p:nvSpPr>
        <p:spPr>
          <a:xfrm>
            <a:off x="457202" y="695741"/>
            <a:ext cx="8169964" cy="334897"/>
          </a:xfrm>
          <a:prstGeom prst="rect">
            <a:avLst/>
          </a:prstGeom>
        </p:spPr>
        <p:txBody>
          <a:bodyPr>
            <a:noAutofit/>
          </a:bodyPr>
          <a:lstStyle>
            <a:lvl1pPr marL="0" indent="0">
              <a:lnSpc>
                <a:spcPct val="100000"/>
              </a:lnSpc>
              <a:buNone/>
              <a:defRPr sz="1800" b="0" i="0">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9" name="Content Placeholder 2">
            <a:extLst>
              <a:ext uri="{FF2B5EF4-FFF2-40B4-BE49-F238E27FC236}">
                <a16:creationId xmlns:a16="http://schemas.microsoft.com/office/drawing/2014/main" id="{9469704F-E66B-5B41-BF3B-8C6539B48428}"/>
              </a:ext>
            </a:extLst>
          </p:cNvPr>
          <p:cNvSpPr>
            <a:spLocks noGrp="1"/>
          </p:cNvSpPr>
          <p:nvPr>
            <p:ph sz="quarter" idx="16"/>
          </p:nvPr>
        </p:nvSpPr>
        <p:spPr>
          <a:xfrm>
            <a:off x="453585" y="1401763"/>
            <a:ext cx="3915528" cy="2932112"/>
          </a:xfrm>
        </p:spPr>
        <p:txBody>
          <a:bodyPr/>
          <a:lstStyle>
            <a:lvl1pPr>
              <a:defRPr b="0" i="0"/>
            </a:lvl1pPr>
            <a:lvl2pPr>
              <a:defRPr b="0" i="0"/>
            </a:lvl2pPr>
            <a:lvl3pPr>
              <a:defRPr b="0" i="0"/>
            </a:lvl3pPr>
            <a:lvl4pPr>
              <a:defRPr b="0" i="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Content Placeholder 2">
            <a:extLst>
              <a:ext uri="{FF2B5EF4-FFF2-40B4-BE49-F238E27FC236}">
                <a16:creationId xmlns:a16="http://schemas.microsoft.com/office/drawing/2014/main" id="{C99F718F-E8D1-5640-A678-0137FDBAEC9F}"/>
              </a:ext>
            </a:extLst>
          </p:cNvPr>
          <p:cNvSpPr>
            <a:spLocks noGrp="1"/>
          </p:cNvSpPr>
          <p:nvPr>
            <p:ph sz="quarter" idx="20"/>
          </p:nvPr>
        </p:nvSpPr>
        <p:spPr>
          <a:xfrm>
            <a:off x="4733354" y="1401763"/>
            <a:ext cx="3915528" cy="2932112"/>
          </a:xfrm>
        </p:spPr>
        <p:txBody>
          <a:bodyPr/>
          <a:lstStyle>
            <a:lvl1pPr>
              <a:defRPr b="0" i="0"/>
            </a:lvl1pPr>
            <a:lvl2pPr>
              <a:defRPr b="0" i="0"/>
            </a:lvl2pPr>
            <a:lvl3pPr>
              <a:defRPr b="0" i="0"/>
            </a:lvl3pPr>
            <a:lvl4pPr>
              <a:defRPr b="0" i="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0841559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Slide – Nav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7" name="TextBox 6"/>
          <p:cNvSpPr txBox="1"/>
          <p:nvPr userDrawn="1"/>
        </p:nvSpPr>
        <p:spPr bwMode="auto">
          <a:xfrm>
            <a:off x="457203" y="198783"/>
            <a:ext cx="1192695" cy="2123658"/>
          </a:xfrm>
          <a:prstGeom prst="rect">
            <a:avLst/>
          </a:prstGeom>
          <a:noFill/>
          <a:ln w="19050" algn="ctr">
            <a:noFill/>
            <a:miter lim="800000"/>
            <a:headEnd/>
            <a:tailEnd/>
          </a:ln>
        </p:spPr>
        <p:txBody>
          <a:bodyPr wrap="square" lIns="0" tIns="0" rIns="0" bIns="0" rtlCol="0">
            <a:spAutoFit/>
          </a:bodyPr>
          <a:lstStyle/>
          <a:p>
            <a:r>
              <a:rPr lang="en-US" sz="13800" b="0" i="0" dirty="0">
                <a:solidFill>
                  <a:schemeClr val="tx2"/>
                </a:solidFill>
                <a:latin typeface="Arial" panose="020B0604020202020204" pitchFamily="34" charset="0"/>
                <a:ea typeface="Arial" panose="02000503000000020004" pitchFamily="2" charset="0"/>
                <a:cs typeface="Arial" panose="020B0604020202020204" pitchFamily="34" charset="0"/>
              </a:rPr>
              <a:t>“</a:t>
            </a:r>
          </a:p>
        </p:txBody>
      </p:sp>
      <p:sp>
        <p:nvSpPr>
          <p:cNvPr id="9" name="Text Placeholder 8"/>
          <p:cNvSpPr>
            <a:spLocks noGrp="1"/>
          </p:cNvSpPr>
          <p:nvPr>
            <p:ph type="body" sz="quarter" idx="13" hasCustomPrompt="1"/>
          </p:nvPr>
        </p:nvSpPr>
        <p:spPr>
          <a:xfrm>
            <a:off x="437601" y="1431236"/>
            <a:ext cx="8229323" cy="2107096"/>
          </a:xfrm>
          <a:prstGeom prst="rect">
            <a:avLst/>
          </a:prstGeom>
        </p:spPr>
        <p:txBody>
          <a:bodyPr anchor="ctr" anchorCtr="0">
            <a:normAutofit/>
          </a:bodyPr>
          <a:lstStyle>
            <a:lvl1pPr marL="0" indent="0">
              <a:lnSpc>
                <a:spcPct val="100000"/>
              </a:lnSpc>
              <a:buNone/>
              <a:defRPr sz="2800" b="0" i="0" baseline="0">
                <a:latin typeface="Arial" panose="020B0604020202020204" pitchFamily="34" charset="0"/>
                <a:ea typeface="Arial" panose="02000503000000020004" pitchFamily="2" charset="0"/>
                <a:cs typeface="Arial" panose="020B0604020202020204" pitchFamily="34" charset="0"/>
              </a:defRPr>
            </a:lvl1pPr>
            <a:lvl2pPr marL="230181" indent="0">
              <a:buNone/>
              <a:defRPr>
                <a:latin typeface="+mn-lt"/>
              </a:defRPr>
            </a:lvl2pPr>
            <a:lvl3pPr marL="515924" indent="0">
              <a:buNone/>
              <a:defRPr>
                <a:latin typeface="+mn-lt"/>
              </a:defRPr>
            </a:lvl3pPr>
            <a:lvl4pPr marL="800080" indent="0">
              <a:buNone/>
              <a:defRPr>
                <a:latin typeface="+mn-lt"/>
              </a:defRPr>
            </a:lvl4pPr>
            <a:lvl5pPr marL="1085823" indent="0">
              <a:buNone/>
              <a:defRPr>
                <a:latin typeface="+mn-lt"/>
              </a:defRPr>
            </a:lvl5pPr>
          </a:lstStyle>
          <a:p>
            <a:pPr lvl="0"/>
            <a:r>
              <a:rPr lang="en-US" dirty="0"/>
              <a:t>This page is an option should you wish to utilize a quote as a stand-alone slide within your presentation. The rest is </a:t>
            </a:r>
            <a:r>
              <a:rPr lang="en-US" dirty="0" err="1"/>
              <a:t>lorem</a:t>
            </a:r>
            <a:r>
              <a:rPr lang="en-US" dirty="0"/>
              <a:t> </a:t>
            </a:r>
            <a:r>
              <a:rPr lang="en-US" dirty="0" err="1"/>
              <a:t>ipsum</a:t>
            </a:r>
            <a:r>
              <a:rPr lang="en-US" dirty="0"/>
              <a:t>. </a:t>
            </a:r>
            <a:r>
              <a:rPr lang="en-US" dirty="0" err="1"/>
              <a:t>Ut</a:t>
            </a:r>
            <a:r>
              <a:rPr lang="en-US" dirty="0"/>
              <a:t> </a:t>
            </a:r>
            <a:r>
              <a:rPr lang="en-US" dirty="0" err="1"/>
              <a:t>enim</a:t>
            </a:r>
            <a:r>
              <a:rPr lang="en-US" dirty="0"/>
              <a:t> ad minim </a:t>
            </a:r>
            <a:r>
              <a:rPr lang="en-US" dirty="0" err="1"/>
              <a:t>quis</a:t>
            </a:r>
            <a:r>
              <a:rPr lang="en-US" dirty="0"/>
              <a:t> </a:t>
            </a:r>
            <a:r>
              <a:rPr lang="en-US" dirty="0" err="1"/>
              <a:t>nostrud</a:t>
            </a:r>
            <a:r>
              <a:rPr lang="en-US" dirty="0"/>
              <a:t>.</a:t>
            </a:r>
          </a:p>
        </p:txBody>
      </p:sp>
      <p:sp>
        <p:nvSpPr>
          <p:cNvPr id="10" name="Text Placeholder 13"/>
          <p:cNvSpPr>
            <a:spLocks noGrp="1"/>
          </p:cNvSpPr>
          <p:nvPr>
            <p:ph type="body" sz="quarter" idx="14" hasCustomPrompt="1"/>
          </p:nvPr>
        </p:nvSpPr>
        <p:spPr>
          <a:xfrm>
            <a:off x="447674" y="3696829"/>
            <a:ext cx="6513958" cy="430429"/>
          </a:xfrm>
          <a:prstGeom prst="rect">
            <a:avLst/>
          </a:prstGeom>
        </p:spPr>
        <p:txBody>
          <a:bodyPr>
            <a:normAutofit/>
          </a:bodyPr>
          <a:lstStyle>
            <a:lvl1pPr marL="0" indent="0">
              <a:lnSpc>
                <a:spcPct val="100000"/>
              </a:lnSpc>
              <a:buNone/>
              <a:defRPr sz="1800" b="0" i="0">
                <a:solidFill>
                  <a:schemeClr val="tx1"/>
                </a:solidFill>
                <a:latin typeface="Arial" panose="020B0604020202020204" pitchFamily="34" charset="0"/>
                <a:ea typeface="Arial" panose="02000503000000020004" pitchFamily="2" charset="0"/>
                <a:cs typeface="Arial" panose="020B0604020202020204" pitchFamily="34" charset="0"/>
              </a:defRPr>
            </a:lvl1pPr>
          </a:lstStyle>
          <a:p>
            <a:pPr lvl="0"/>
            <a:r>
              <a:rPr lang="en-US" dirty="0"/>
              <a:t>Author’s Name</a:t>
            </a:r>
          </a:p>
        </p:txBody>
      </p:sp>
      <p:sp>
        <p:nvSpPr>
          <p:cNvPr id="11" name="Text Placeholder 13"/>
          <p:cNvSpPr>
            <a:spLocks noGrp="1"/>
          </p:cNvSpPr>
          <p:nvPr>
            <p:ph type="body" sz="quarter" idx="15" hasCustomPrompt="1"/>
          </p:nvPr>
        </p:nvSpPr>
        <p:spPr>
          <a:xfrm>
            <a:off x="447674" y="3980953"/>
            <a:ext cx="6513958" cy="440937"/>
          </a:xfrm>
          <a:prstGeom prst="rect">
            <a:avLst/>
          </a:prstGeom>
        </p:spPr>
        <p:txBody>
          <a:bodyPr>
            <a:normAutofit/>
          </a:bodyPr>
          <a:lstStyle>
            <a:lvl1pPr marL="0" indent="0">
              <a:lnSpc>
                <a:spcPts val="2000"/>
              </a:lnSpc>
              <a:buNone/>
              <a:defRPr sz="1800" b="0" i="0" baseline="0">
                <a:solidFill>
                  <a:schemeClr val="tx1"/>
                </a:solidFill>
                <a:latin typeface="Arial" panose="020B0604020202020204" pitchFamily="34" charset="0"/>
                <a:ea typeface="Arial" panose="02000503000000020004" pitchFamily="2" charset="0"/>
                <a:cs typeface="Arial" panose="020B0604020202020204" pitchFamily="34" charset="0"/>
              </a:defRPr>
            </a:lvl1pPr>
          </a:lstStyle>
          <a:p>
            <a:pPr lvl="0"/>
            <a:r>
              <a:rPr lang="en-US" dirty="0"/>
              <a:t>Position Title</a:t>
            </a:r>
          </a:p>
        </p:txBody>
      </p:sp>
    </p:spTree>
    <p:extLst>
      <p:ext uri="{BB962C8B-B14F-4D97-AF65-F5344CB8AC3E}">
        <p14:creationId xmlns:p14="http://schemas.microsoft.com/office/powerpoint/2010/main" val="17905471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ote Slide – Teal">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7" name="TextBox 6"/>
          <p:cNvSpPr txBox="1"/>
          <p:nvPr userDrawn="1"/>
        </p:nvSpPr>
        <p:spPr bwMode="auto">
          <a:xfrm>
            <a:off x="457203" y="198783"/>
            <a:ext cx="1192695" cy="2123658"/>
          </a:xfrm>
          <a:prstGeom prst="rect">
            <a:avLst/>
          </a:prstGeom>
          <a:noFill/>
          <a:ln w="19050" algn="ctr">
            <a:noFill/>
            <a:miter lim="800000"/>
            <a:headEnd/>
            <a:tailEnd/>
          </a:ln>
        </p:spPr>
        <p:txBody>
          <a:bodyPr wrap="square" lIns="0" tIns="0" rIns="0" bIns="0" rtlCol="0">
            <a:spAutoFit/>
          </a:bodyPr>
          <a:lstStyle/>
          <a:p>
            <a:r>
              <a:rPr lang="en-US" sz="13800" b="0" i="0" dirty="0">
                <a:solidFill>
                  <a:schemeClr val="accent2"/>
                </a:solidFill>
                <a:latin typeface="Arial" panose="020B0604020202020204" pitchFamily="34" charset="0"/>
                <a:ea typeface="Arial" panose="02000503000000020004" pitchFamily="2" charset="0"/>
                <a:cs typeface="Arial" panose="020B0604020202020204" pitchFamily="34" charset="0"/>
              </a:rPr>
              <a:t>“</a:t>
            </a:r>
          </a:p>
        </p:txBody>
      </p:sp>
      <p:sp>
        <p:nvSpPr>
          <p:cNvPr id="9" name="Text Placeholder 8"/>
          <p:cNvSpPr>
            <a:spLocks noGrp="1"/>
          </p:cNvSpPr>
          <p:nvPr>
            <p:ph type="body" sz="quarter" idx="13" hasCustomPrompt="1"/>
          </p:nvPr>
        </p:nvSpPr>
        <p:spPr>
          <a:xfrm>
            <a:off x="437601" y="1431236"/>
            <a:ext cx="8229323" cy="2107096"/>
          </a:xfrm>
          <a:prstGeom prst="rect">
            <a:avLst/>
          </a:prstGeom>
        </p:spPr>
        <p:txBody>
          <a:bodyPr anchor="ctr" anchorCtr="0">
            <a:normAutofit/>
          </a:bodyPr>
          <a:lstStyle>
            <a:lvl1pPr marL="0" indent="0">
              <a:lnSpc>
                <a:spcPct val="100000"/>
              </a:lnSpc>
              <a:buNone/>
              <a:defRPr sz="2800" b="0" i="0" baseline="0">
                <a:latin typeface="Arial" panose="020B0604020202020204" pitchFamily="34" charset="0"/>
                <a:ea typeface="Arial" panose="02000503000000020004" pitchFamily="2" charset="0"/>
                <a:cs typeface="Arial" panose="020B0604020202020204" pitchFamily="34" charset="0"/>
              </a:defRPr>
            </a:lvl1pPr>
            <a:lvl2pPr marL="230181" indent="0">
              <a:buNone/>
              <a:defRPr>
                <a:latin typeface="+mn-lt"/>
              </a:defRPr>
            </a:lvl2pPr>
            <a:lvl3pPr marL="515924" indent="0">
              <a:buNone/>
              <a:defRPr>
                <a:latin typeface="+mn-lt"/>
              </a:defRPr>
            </a:lvl3pPr>
            <a:lvl4pPr marL="800080" indent="0">
              <a:buNone/>
              <a:defRPr>
                <a:latin typeface="+mn-lt"/>
              </a:defRPr>
            </a:lvl4pPr>
            <a:lvl5pPr marL="1085823" indent="0">
              <a:buNone/>
              <a:defRPr>
                <a:latin typeface="+mn-lt"/>
              </a:defRPr>
            </a:lvl5pPr>
          </a:lstStyle>
          <a:p>
            <a:pPr lvl="0"/>
            <a:r>
              <a:rPr lang="en-US" dirty="0"/>
              <a:t>This page is an option should you wish to utilize a quote as a stand-alone slide within your presentation. The rest is lorem ipsum. Ut </a:t>
            </a:r>
            <a:r>
              <a:rPr lang="en-US" dirty="0" err="1"/>
              <a:t>enim</a:t>
            </a:r>
            <a:r>
              <a:rPr lang="en-US" dirty="0"/>
              <a:t> ad minim </a:t>
            </a:r>
            <a:r>
              <a:rPr lang="en-US" dirty="0" err="1"/>
              <a:t>quis</a:t>
            </a:r>
            <a:r>
              <a:rPr lang="en-US" dirty="0"/>
              <a:t> </a:t>
            </a:r>
            <a:r>
              <a:rPr lang="en-US" dirty="0" err="1"/>
              <a:t>nostrud</a:t>
            </a:r>
            <a:r>
              <a:rPr lang="en-US" dirty="0"/>
              <a:t>.</a:t>
            </a:r>
          </a:p>
        </p:txBody>
      </p:sp>
      <p:sp>
        <p:nvSpPr>
          <p:cNvPr id="14" name="Text Placeholder 13"/>
          <p:cNvSpPr>
            <a:spLocks noGrp="1"/>
          </p:cNvSpPr>
          <p:nvPr>
            <p:ph type="body" sz="quarter" idx="14" hasCustomPrompt="1"/>
          </p:nvPr>
        </p:nvSpPr>
        <p:spPr>
          <a:xfrm>
            <a:off x="447674" y="3696829"/>
            <a:ext cx="6513958" cy="430429"/>
          </a:xfrm>
          <a:prstGeom prst="rect">
            <a:avLst/>
          </a:prstGeom>
        </p:spPr>
        <p:txBody>
          <a:bodyPr>
            <a:normAutofit/>
          </a:bodyPr>
          <a:lstStyle>
            <a:lvl1pPr marL="0" indent="0">
              <a:lnSpc>
                <a:spcPct val="100000"/>
              </a:lnSpc>
              <a:buNone/>
              <a:defRPr sz="1800" b="0" i="0">
                <a:solidFill>
                  <a:schemeClr val="accent2"/>
                </a:solidFill>
                <a:latin typeface="Arial" panose="020B0604020202020204" pitchFamily="34" charset="0"/>
                <a:ea typeface="Arial" panose="02000503000000020004" pitchFamily="2" charset="0"/>
                <a:cs typeface="Arial" panose="020B0604020202020204" pitchFamily="34" charset="0"/>
              </a:defRPr>
            </a:lvl1pPr>
          </a:lstStyle>
          <a:p>
            <a:pPr lvl="0"/>
            <a:r>
              <a:rPr lang="en-US" dirty="0"/>
              <a:t>Author’s Name</a:t>
            </a:r>
          </a:p>
        </p:txBody>
      </p:sp>
      <p:sp>
        <p:nvSpPr>
          <p:cNvPr id="15" name="Text Placeholder 13"/>
          <p:cNvSpPr>
            <a:spLocks noGrp="1"/>
          </p:cNvSpPr>
          <p:nvPr>
            <p:ph type="body" sz="quarter" idx="15" hasCustomPrompt="1"/>
          </p:nvPr>
        </p:nvSpPr>
        <p:spPr>
          <a:xfrm>
            <a:off x="447674" y="3980953"/>
            <a:ext cx="6513958" cy="440937"/>
          </a:xfrm>
          <a:prstGeom prst="rect">
            <a:avLst/>
          </a:prstGeom>
        </p:spPr>
        <p:txBody>
          <a:bodyPr>
            <a:normAutofit/>
          </a:bodyPr>
          <a:lstStyle>
            <a:lvl1pPr marL="0" indent="0">
              <a:lnSpc>
                <a:spcPts val="2000"/>
              </a:lnSpc>
              <a:buNone/>
              <a:defRPr sz="1800" b="0" i="0" baseline="0">
                <a:solidFill>
                  <a:schemeClr val="accent2"/>
                </a:solidFill>
                <a:latin typeface="Arial" panose="020B0604020202020204" pitchFamily="34" charset="0"/>
                <a:ea typeface="Arial" panose="02000503000000020004" pitchFamily="2" charset="0"/>
                <a:cs typeface="Arial" panose="020B0604020202020204" pitchFamily="34" charset="0"/>
              </a:defRPr>
            </a:lvl1pPr>
          </a:lstStyle>
          <a:p>
            <a:pPr lvl="0"/>
            <a:r>
              <a:rPr lang="en-US" dirty="0"/>
              <a:t>Position Title</a:t>
            </a:r>
          </a:p>
        </p:txBody>
      </p:sp>
    </p:spTree>
    <p:extLst>
      <p:ext uri="{BB962C8B-B14F-4D97-AF65-F5344CB8AC3E}">
        <p14:creationId xmlns:p14="http://schemas.microsoft.com/office/powerpoint/2010/main" val="20733843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Quote Slide – Blue">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7" name="TextBox 6"/>
          <p:cNvSpPr txBox="1"/>
          <p:nvPr userDrawn="1"/>
        </p:nvSpPr>
        <p:spPr bwMode="auto">
          <a:xfrm>
            <a:off x="457203" y="198783"/>
            <a:ext cx="1192695" cy="2123658"/>
          </a:xfrm>
          <a:prstGeom prst="rect">
            <a:avLst/>
          </a:prstGeom>
          <a:noFill/>
          <a:ln w="19050" algn="ctr">
            <a:noFill/>
            <a:miter lim="800000"/>
            <a:headEnd/>
            <a:tailEnd/>
          </a:ln>
        </p:spPr>
        <p:txBody>
          <a:bodyPr wrap="square" lIns="0" tIns="0" rIns="0" bIns="0" rtlCol="0">
            <a:spAutoFit/>
          </a:bodyPr>
          <a:lstStyle/>
          <a:p>
            <a:r>
              <a:rPr lang="en-US" sz="13800" b="0" i="0" dirty="0">
                <a:solidFill>
                  <a:schemeClr val="accent1"/>
                </a:solidFill>
                <a:latin typeface="Arial" panose="020B0604020202020204" pitchFamily="34" charset="0"/>
                <a:ea typeface="Arial" panose="02000503000000020004" pitchFamily="2" charset="0"/>
                <a:cs typeface="Arial" panose="020B0604020202020204" pitchFamily="34" charset="0"/>
              </a:rPr>
              <a:t>“</a:t>
            </a:r>
          </a:p>
        </p:txBody>
      </p:sp>
      <p:sp>
        <p:nvSpPr>
          <p:cNvPr id="9" name="Text Placeholder 8"/>
          <p:cNvSpPr>
            <a:spLocks noGrp="1"/>
          </p:cNvSpPr>
          <p:nvPr>
            <p:ph type="body" sz="quarter" idx="13" hasCustomPrompt="1"/>
          </p:nvPr>
        </p:nvSpPr>
        <p:spPr>
          <a:xfrm>
            <a:off x="437601" y="1431236"/>
            <a:ext cx="8229323" cy="2107096"/>
          </a:xfrm>
          <a:prstGeom prst="rect">
            <a:avLst/>
          </a:prstGeom>
        </p:spPr>
        <p:txBody>
          <a:bodyPr anchor="ctr" anchorCtr="0">
            <a:normAutofit/>
          </a:bodyPr>
          <a:lstStyle>
            <a:lvl1pPr marL="0" indent="0">
              <a:lnSpc>
                <a:spcPct val="100000"/>
              </a:lnSpc>
              <a:buNone/>
              <a:defRPr sz="2800" b="0" i="0" baseline="0">
                <a:latin typeface="Arial" panose="020B0604020202020204" pitchFamily="34" charset="0"/>
                <a:ea typeface="Arial" panose="02000503000000020004" pitchFamily="2" charset="0"/>
                <a:cs typeface="Arial" panose="020B0604020202020204" pitchFamily="34" charset="0"/>
              </a:defRPr>
            </a:lvl1pPr>
            <a:lvl2pPr marL="230181" indent="0">
              <a:buNone/>
              <a:defRPr>
                <a:latin typeface="+mn-lt"/>
              </a:defRPr>
            </a:lvl2pPr>
            <a:lvl3pPr marL="515924" indent="0">
              <a:buNone/>
              <a:defRPr>
                <a:latin typeface="+mn-lt"/>
              </a:defRPr>
            </a:lvl3pPr>
            <a:lvl4pPr marL="800080" indent="0">
              <a:buNone/>
              <a:defRPr>
                <a:latin typeface="+mn-lt"/>
              </a:defRPr>
            </a:lvl4pPr>
            <a:lvl5pPr marL="1085823" indent="0">
              <a:buNone/>
              <a:defRPr>
                <a:latin typeface="+mn-lt"/>
              </a:defRPr>
            </a:lvl5pPr>
          </a:lstStyle>
          <a:p>
            <a:pPr lvl="0"/>
            <a:r>
              <a:rPr lang="en-US" dirty="0"/>
              <a:t>This page is an option should you wish to utilize a quote as a stand-alone slide within your presentation. The rest is </a:t>
            </a:r>
            <a:r>
              <a:rPr lang="en-US" dirty="0" err="1"/>
              <a:t>lorem</a:t>
            </a:r>
            <a:r>
              <a:rPr lang="en-US" dirty="0"/>
              <a:t> </a:t>
            </a:r>
            <a:r>
              <a:rPr lang="en-US" dirty="0" err="1"/>
              <a:t>ipsum</a:t>
            </a:r>
            <a:r>
              <a:rPr lang="en-US" dirty="0"/>
              <a:t>. </a:t>
            </a:r>
            <a:r>
              <a:rPr lang="en-US" dirty="0" err="1"/>
              <a:t>Ut</a:t>
            </a:r>
            <a:r>
              <a:rPr lang="en-US" dirty="0"/>
              <a:t> </a:t>
            </a:r>
            <a:r>
              <a:rPr lang="en-US" dirty="0" err="1"/>
              <a:t>enim</a:t>
            </a:r>
            <a:r>
              <a:rPr lang="en-US" dirty="0"/>
              <a:t> ad minim </a:t>
            </a:r>
            <a:r>
              <a:rPr lang="en-US" dirty="0" err="1"/>
              <a:t>quis</a:t>
            </a:r>
            <a:r>
              <a:rPr lang="en-US" dirty="0"/>
              <a:t> </a:t>
            </a:r>
            <a:r>
              <a:rPr lang="en-US" dirty="0" err="1"/>
              <a:t>nostrud</a:t>
            </a:r>
            <a:r>
              <a:rPr lang="en-US" dirty="0"/>
              <a:t>.</a:t>
            </a:r>
          </a:p>
        </p:txBody>
      </p:sp>
      <p:sp>
        <p:nvSpPr>
          <p:cNvPr id="12" name="Text Placeholder 13"/>
          <p:cNvSpPr>
            <a:spLocks noGrp="1"/>
          </p:cNvSpPr>
          <p:nvPr>
            <p:ph type="body" sz="quarter" idx="14" hasCustomPrompt="1"/>
          </p:nvPr>
        </p:nvSpPr>
        <p:spPr>
          <a:xfrm>
            <a:off x="447674" y="3696829"/>
            <a:ext cx="6513958" cy="430429"/>
          </a:xfrm>
          <a:prstGeom prst="rect">
            <a:avLst/>
          </a:prstGeom>
        </p:spPr>
        <p:txBody>
          <a:bodyPr>
            <a:normAutofit/>
          </a:bodyPr>
          <a:lstStyle>
            <a:lvl1pPr marL="0" indent="0">
              <a:lnSpc>
                <a:spcPct val="100000"/>
              </a:lnSpc>
              <a:buNone/>
              <a:defRPr sz="1800" b="0" i="0">
                <a:solidFill>
                  <a:schemeClr val="accent1"/>
                </a:solidFill>
                <a:latin typeface="Arial" panose="020B0604020202020204" pitchFamily="34" charset="0"/>
                <a:ea typeface="Arial" panose="02000503000000020004" pitchFamily="2" charset="0"/>
                <a:cs typeface="Arial" panose="020B0604020202020204" pitchFamily="34" charset="0"/>
              </a:defRPr>
            </a:lvl1pPr>
          </a:lstStyle>
          <a:p>
            <a:pPr lvl="0"/>
            <a:r>
              <a:rPr lang="en-US" dirty="0"/>
              <a:t>Author’s Name</a:t>
            </a:r>
          </a:p>
        </p:txBody>
      </p:sp>
      <p:sp>
        <p:nvSpPr>
          <p:cNvPr id="13" name="Text Placeholder 13"/>
          <p:cNvSpPr>
            <a:spLocks noGrp="1"/>
          </p:cNvSpPr>
          <p:nvPr>
            <p:ph type="body" sz="quarter" idx="15" hasCustomPrompt="1"/>
          </p:nvPr>
        </p:nvSpPr>
        <p:spPr>
          <a:xfrm>
            <a:off x="447674" y="3980953"/>
            <a:ext cx="6513958" cy="440937"/>
          </a:xfrm>
          <a:prstGeom prst="rect">
            <a:avLst/>
          </a:prstGeom>
        </p:spPr>
        <p:txBody>
          <a:bodyPr>
            <a:normAutofit/>
          </a:bodyPr>
          <a:lstStyle>
            <a:lvl1pPr marL="0" indent="0">
              <a:lnSpc>
                <a:spcPts val="2000"/>
              </a:lnSpc>
              <a:buNone/>
              <a:defRPr sz="1800" b="0" i="0" baseline="0">
                <a:solidFill>
                  <a:schemeClr val="accent1"/>
                </a:solidFill>
                <a:latin typeface="Arial" panose="020B0604020202020204" pitchFamily="34" charset="0"/>
                <a:ea typeface="Arial" panose="02000503000000020004" pitchFamily="2" charset="0"/>
                <a:cs typeface="Arial" panose="020B0604020202020204" pitchFamily="34" charset="0"/>
              </a:defRPr>
            </a:lvl1pPr>
          </a:lstStyle>
          <a:p>
            <a:pPr lvl="0"/>
            <a:r>
              <a:rPr lang="en-US" dirty="0"/>
              <a:t>Position Title</a:t>
            </a:r>
          </a:p>
        </p:txBody>
      </p:sp>
    </p:spTree>
    <p:extLst>
      <p:ext uri="{BB962C8B-B14F-4D97-AF65-F5344CB8AC3E}">
        <p14:creationId xmlns:p14="http://schemas.microsoft.com/office/powerpoint/2010/main" val="620825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Slide – Navy">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16" name="Title 15"/>
          <p:cNvSpPr>
            <a:spLocks noGrp="1"/>
          </p:cNvSpPr>
          <p:nvPr>
            <p:ph type="title" hasCustomPrompt="1"/>
          </p:nvPr>
        </p:nvSpPr>
        <p:spPr>
          <a:xfrm>
            <a:off x="453585" y="1754766"/>
            <a:ext cx="6593258" cy="1430138"/>
          </a:xfrm>
        </p:spPr>
        <p:txBody>
          <a:bodyPr anchor="ctr">
            <a:noAutofit/>
          </a:bodyPr>
          <a:lstStyle>
            <a:lvl1pPr>
              <a:defRPr sz="3600" b="0" i="0" baseline="0">
                <a:latin typeface="Arial" panose="02020404030301010803" pitchFamily="18" charset="0"/>
                <a:ea typeface="Arial" panose="02000503000000020004" pitchFamily="2" charset="0"/>
                <a:cs typeface="Arial" panose="020B0604020202020204" pitchFamily="34" charset="0"/>
              </a:defRPr>
            </a:lvl1pPr>
          </a:lstStyle>
          <a:p>
            <a:r>
              <a:rPr lang="en-US" dirty="0"/>
              <a:t>Section Header Here</a:t>
            </a:r>
          </a:p>
        </p:txBody>
      </p:sp>
      <p:sp>
        <p:nvSpPr>
          <p:cNvPr id="2" name="Rectangle 1"/>
          <p:cNvSpPr/>
          <p:nvPr userDrawn="1"/>
        </p:nvSpPr>
        <p:spPr bwMode="auto">
          <a:xfrm>
            <a:off x="2" y="1769166"/>
            <a:ext cx="248479" cy="1411357"/>
          </a:xfrm>
          <a:prstGeom prst="rect">
            <a:avLst/>
          </a:prstGeom>
          <a:solidFill>
            <a:schemeClr val="tx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a typeface="Arial" panose="02000503000000020004" pitchFamily="2" charset="0"/>
              <a:cs typeface="Arial" panose="020B0604020202020204" pitchFamily="34" charset="0"/>
            </a:endParaRPr>
          </a:p>
        </p:txBody>
      </p:sp>
    </p:spTree>
    <p:extLst>
      <p:ext uri="{BB962C8B-B14F-4D97-AF65-F5344CB8AC3E}">
        <p14:creationId xmlns:p14="http://schemas.microsoft.com/office/powerpoint/2010/main" val="11168220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Slide – Teal">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Arial"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16" name="Title 15"/>
          <p:cNvSpPr>
            <a:spLocks noGrp="1"/>
          </p:cNvSpPr>
          <p:nvPr>
            <p:ph type="title" hasCustomPrompt="1"/>
          </p:nvPr>
        </p:nvSpPr>
        <p:spPr>
          <a:xfrm>
            <a:off x="453585" y="1754766"/>
            <a:ext cx="6593258" cy="1430138"/>
          </a:xfrm>
        </p:spPr>
        <p:txBody>
          <a:bodyPr anchor="ctr">
            <a:noAutofit/>
          </a:bodyPr>
          <a:lstStyle>
            <a:lvl1pPr>
              <a:defRPr sz="3600" b="0" i="0" baseline="0">
                <a:solidFill>
                  <a:schemeClr val="accent2"/>
                </a:solidFill>
                <a:latin typeface="Arial" panose="02020404030301010803" pitchFamily="18" charset="0"/>
                <a:ea typeface="Arial" panose="02000503000000020004" pitchFamily="2" charset="0"/>
                <a:cs typeface="Arial" panose="020B0604020202020204" pitchFamily="34" charset="0"/>
              </a:defRPr>
            </a:lvl1pPr>
          </a:lstStyle>
          <a:p>
            <a:r>
              <a:rPr lang="en-US" dirty="0"/>
              <a:t>Section Header Here</a:t>
            </a:r>
          </a:p>
        </p:txBody>
      </p:sp>
      <p:sp>
        <p:nvSpPr>
          <p:cNvPr id="2" name="Rectangle 1"/>
          <p:cNvSpPr/>
          <p:nvPr userDrawn="1"/>
        </p:nvSpPr>
        <p:spPr bwMode="auto">
          <a:xfrm>
            <a:off x="2" y="1769166"/>
            <a:ext cx="248479" cy="1411357"/>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1600" b="0" i="0" dirty="0" err="1">
              <a:solidFill>
                <a:schemeClr val="accent2"/>
              </a:solidFill>
              <a:latin typeface="Arial" panose="020B0604020202020204" pitchFamily="34" charset="0"/>
              <a:ea typeface="Arial" panose="02000503000000020004" pitchFamily="2" charset="0"/>
              <a:cs typeface="Arial" panose="020B0604020202020204" pitchFamily="34" charset="0"/>
            </a:endParaRPr>
          </a:p>
        </p:txBody>
      </p:sp>
    </p:spTree>
    <p:extLst>
      <p:ext uri="{BB962C8B-B14F-4D97-AF65-F5344CB8AC3E}">
        <p14:creationId xmlns:p14="http://schemas.microsoft.com/office/powerpoint/2010/main" val="21383425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 – Blu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p>
            <a:r>
              <a:rPr lang="en-US"/>
              <a:t>Presentation Title</a:t>
            </a:r>
            <a:endParaRPr lang="en-US" dirty="0"/>
          </a:p>
        </p:txBody>
      </p:sp>
      <p:sp>
        <p:nvSpPr>
          <p:cNvPr id="14" name="Slide Number Placeholder 13"/>
          <p:cNvSpPr>
            <a:spLocks noGrp="1"/>
          </p:cNvSpPr>
          <p:nvPr>
            <p:ph type="sldNum" sz="quarter" idx="13"/>
          </p:nvPr>
        </p:nvSpPr>
        <p:spPr/>
        <p:txBody>
          <a:bodyPr/>
          <a:lstStyle/>
          <a:p>
            <a:fld id="{7BCC8D0D-EAEC-449D-9161-023DFF90F2E2}" type="slidenum">
              <a:rPr lang="en-US" smtClean="0"/>
              <a:pPr/>
              <a:t>‹#›</a:t>
            </a:fld>
            <a:endParaRPr lang="en-US" dirty="0"/>
          </a:p>
        </p:txBody>
      </p:sp>
      <p:sp>
        <p:nvSpPr>
          <p:cNvPr id="16" name="Title 15"/>
          <p:cNvSpPr>
            <a:spLocks noGrp="1"/>
          </p:cNvSpPr>
          <p:nvPr>
            <p:ph type="title" hasCustomPrompt="1"/>
          </p:nvPr>
        </p:nvSpPr>
        <p:spPr>
          <a:xfrm>
            <a:off x="453585" y="1754766"/>
            <a:ext cx="6593258" cy="1430138"/>
          </a:xfrm>
        </p:spPr>
        <p:txBody>
          <a:bodyPr anchor="ctr">
            <a:noAutofit/>
          </a:bodyPr>
          <a:lstStyle>
            <a:lvl1pPr>
              <a:defRPr sz="3600" b="0" i="0" baseline="0">
                <a:solidFill>
                  <a:schemeClr val="accent1"/>
                </a:solidFill>
                <a:latin typeface="Arial" panose="02020404030301010803" pitchFamily="18" charset="0"/>
                <a:ea typeface="Arial" panose="02000503000000020004" pitchFamily="2" charset="0"/>
                <a:cs typeface="Arial" panose="020B0604020202020204" pitchFamily="34" charset="0"/>
              </a:defRPr>
            </a:lvl1pPr>
          </a:lstStyle>
          <a:p>
            <a:r>
              <a:rPr lang="en-US" dirty="0"/>
              <a:t>Section Header Here</a:t>
            </a:r>
          </a:p>
        </p:txBody>
      </p:sp>
      <p:sp>
        <p:nvSpPr>
          <p:cNvPr id="2" name="Rectangle 1"/>
          <p:cNvSpPr/>
          <p:nvPr userDrawn="1"/>
        </p:nvSpPr>
        <p:spPr bwMode="auto">
          <a:xfrm>
            <a:off x="2" y="1769166"/>
            <a:ext cx="248479" cy="1411357"/>
          </a:xfrm>
          <a:prstGeom prst="rect">
            <a:avLst/>
          </a:prstGeom>
          <a:solidFill>
            <a:schemeClr val="accent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Tree>
    <p:extLst>
      <p:ext uri="{BB962C8B-B14F-4D97-AF65-F5344CB8AC3E}">
        <p14:creationId xmlns:p14="http://schemas.microsoft.com/office/powerpoint/2010/main" val="6859446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Blank Slide">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28700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losing with logo – 1">
    <p:bg>
      <p:bgRef idx="1001">
        <a:schemeClr val="bg1"/>
      </p:bgRef>
    </p:bg>
    <p:spTree>
      <p:nvGrpSpPr>
        <p:cNvPr id="1" name=""/>
        <p:cNvGrpSpPr/>
        <p:nvPr/>
      </p:nvGrpSpPr>
      <p:grpSpPr>
        <a:xfrm>
          <a:off x="0" y="0"/>
          <a:ext cx="0" cy="0"/>
          <a:chOff x="0" y="0"/>
          <a:chExt cx="0" cy="0"/>
        </a:xfrm>
      </p:grpSpPr>
      <p:pic>
        <p:nvPicPr>
          <p:cNvPr id="4" name="Picture 41"/>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invGray">
          <a:xfrm>
            <a:off x="3865186" y="2032663"/>
            <a:ext cx="1571041" cy="1025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866785" y="2037522"/>
            <a:ext cx="1574426" cy="1023730"/>
          </a:xfrm>
          <a:prstGeom prst="rect">
            <a:avLst/>
          </a:prstGeom>
        </p:spPr>
      </p:pic>
    </p:spTree>
    <p:extLst>
      <p:ext uri="{BB962C8B-B14F-4D97-AF65-F5344CB8AC3E}">
        <p14:creationId xmlns:p14="http://schemas.microsoft.com/office/powerpoint/2010/main" val="14066553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losing with logo – 2">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879213" y="1884801"/>
            <a:ext cx="1374274" cy="1373900"/>
          </a:xfrm>
          <a:prstGeom prst="rect">
            <a:avLst/>
          </a:prstGeom>
        </p:spPr>
      </p:pic>
    </p:spTree>
    <p:extLst>
      <p:ext uri="{BB962C8B-B14F-4D97-AF65-F5344CB8AC3E}">
        <p14:creationId xmlns:p14="http://schemas.microsoft.com/office/powerpoint/2010/main" val="18011672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ullet Slide-White">
    <p:bg>
      <p:bgRef idx="1001">
        <a:schemeClr val="bg1"/>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7" name="Title 15"/>
          <p:cNvSpPr>
            <a:spLocks noGrp="1"/>
          </p:cNvSpPr>
          <p:nvPr>
            <p:ph type="title" hasCustomPrompt="1"/>
          </p:nvPr>
        </p:nvSpPr>
        <p:spPr>
          <a:xfrm>
            <a:off x="453585" y="318751"/>
            <a:ext cx="8173580" cy="458587"/>
          </a:xfrm>
          <a:prstGeom prst="rect">
            <a:avLst/>
          </a:prstGeom>
        </p:spPr>
        <p:txBody>
          <a:bodyPr anchor="b">
            <a:noAutofit/>
          </a:bodyPr>
          <a:lstStyle>
            <a:lvl1pPr>
              <a:defRPr sz="3600" b="0" i="0">
                <a:latin typeface="Arial" panose="02020404030301010803" pitchFamily="18" charset="0"/>
                <a:ea typeface="Arial" panose="02000503000000020004" pitchFamily="2" charset="0"/>
                <a:cs typeface="Arial" panose="020B0604020202020204" pitchFamily="34" charset="0"/>
              </a:defRPr>
            </a:lvl1pPr>
          </a:lstStyle>
          <a:p>
            <a:r>
              <a:rPr lang="en-US" dirty="0"/>
              <a:t>Slide Title Here</a:t>
            </a:r>
          </a:p>
        </p:txBody>
      </p:sp>
      <p:sp>
        <p:nvSpPr>
          <p:cNvPr id="9" name="Text Placeholder 3"/>
          <p:cNvSpPr>
            <a:spLocks noGrp="1"/>
          </p:cNvSpPr>
          <p:nvPr>
            <p:ph type="body" sz="quarter" idx="15" hasCustomPrompt="1"/>
          </p:nvPr>
        </p:nvSpPr>
        <p:spPr>
          <a:xfrm>
            <a:off x="457202" y="695741"/>
            <a:ext cx="8169964" cy="334897"/>
          </a:xfrm>
          <a:prstGeom prst="rect">
            <a:avLst/>
          </a:prstGeom>
        </p:spPr>
        <p:txBody>
          <a:bodyPr>
            <a:noAutofit/>
          </a:bodyPr>
          <a:lstStyle>
            <a:lvl1pPr marL="0" indent="0">
              <a:lnSpc>
                <a:spcPct val="100000"/>
              </a:lnSpc>
              <a:buNone/>
              <a:defRPr sz="1800" b="0" i="0">
                <a:latin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11" name="Text Placeholder 3"/>
          <p:cNvSpPr>
            <a:spLocks noGrp="1"/>
          </p:cNvSpPr>
          <p:nvPr>
            <p:ph idx="1"/>
          </p:nvPr>
        </p:nvSpPr>
        <p:spPr>
          <a:xfrm>
            <a:off x="459685" y="1401417"/>
            <a:ext cx="8137665" cy="2932045"/>
          </a:xfrm>
          <a:prstGeom prst="rect">
            <a:avLst/>
          </a:prstGeom>
        </p:spPr>
        <p:txBody>
          <a:bodyPr vert="horz" lIns="91440" tIns="45720" rIns="91440" bIns="45720" rtlCol="0">
            <a:noAutofit/>
          </a:bodyPr>
          <a:lstStyle>
            <a:lvl1pPr>
              <a:defRPr b="0" i="0"/>
            </a:lvl1pPr>
            <a:lvl2pPr>
              <a:defRPr b="0" i="0"/>
            </a:lvl2pPr>
            <a:lvl3pPr>
              <a:defRPr b="0" i="0"/>
            </a:lvl3pPr>
            <a:lvl4pPr>
              <a:defRPr b="0" i="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1471969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ver – Blue1">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41905" y="241902"/>
            <a:ext cx="8902097" cy="4901598"/>
          </a:xfrm>
          <a:prstGeom prst="rect">
            <a:avLst/>
          </a:prstGeom>
        </p:spPr>
      </p:pic>
      <p:sp>
        <p:nvSpPr>
          <p:cNvPr id="2" name="Rectangle 1"/>
          <p:cNvSpPr/>
          <p:nvPr userDrawn="1"/>
        </p:nvSpPr>
        <p:spPr bwMode="auto">
          <a:xfrm>
            <a:off x="502920" y="1"/>
            <a:ext cx="5666935" cy="4304714"/>
          </a:xfrm>
          <a:prstGeom prst="rect">
            <a:avLst/>
          </a:prstGeom>
          <a:solidFill>
            <a:schemeClr val="tx1"/>
          </a:solidFill>
          <a:ln w="19050" algn="ctr">
            <a:noFill/>
            <a:miter lim="800000"/>
            <a:headEnd/>
            <a:tailEnd/>
          </a:ln>
        </p:spPr>
        <p:txBody>
          <a:bodyPr wrap="none" rtlCol="0" anchor="ctr"/>
          <a:lstStyle/>
          <a:p>
            <a:pPr algn="ctr">
              <a:lnSpc>
                <a:spcPct val="90000"/>
              </a:lnSpc>
            </a:pPr>
            <a:endParaRPr lang="en-US" sz="1600" b="0" i="0" dirty="0" err="1">
              <a:solidFill>
                <a:schemeClr val="tx1"/>
              </a:solidFill>
              <a:latin typeface="Arial" panose="020B0604020202020204" pitchFamily="34" charset="0"/>
            </a:endParaRPr>
          </a:p>
        </p:txBody>
      </p:sp>
      <p:pic>
        <p:nvPicPr>
          <p:cNvPr id="11" name="Picture 10">
            <a:extLst>
              <a:ext uri="{FF2B5EF4-FFF2-40B4-BE49-F238E27FC236}">
                <a16:creationId xmlns:a16="http://schemas.microsoft.com/office/drawing/2014/main" id="{360D46ED-C45A-5D4E-AA02-EF9EDB0FA1CF}"/>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684690" y="241702"/>
            <a:ext cx="812800" cy="812800"/>
          </a:xfrm>
          <a:prstGeom prst="rect">
            <a:avLst/>
          </a:prstGeom>
        </p:spPr>
      </p:pic>
      <p:sp>
        <p:nvSpPr>
          <p:cNvPr id="10" name="Date Placeholder 4"/>
          <p:cNvSpPr>
            <a:spLocks noGrp="1"/>
          </p:cNvSpPr>
          <p:nvPr>
            <p:ph type="dt" sz="half" idx="2"/>
          </p:nvPr>
        </p:nvSpPr>
        <p:spPr>
          <a:xfrm>
            <a:off x="686298" y="3869451"/>
            <a:ext cx="1925338" cy="178955"/>
          </a:xfrm>
          <a:prstGeom prst="rect">
            <a:avLst/>
          </a:prstGeom>
        </p:spPr>
        <p:txBody>
          <a:bodyPr vert="horz" wrap="square" lIns="91440" tIns="0" rIns="91440" bIns="0" rtlCol="0" anchor="b" anchorCtr="0">
            <a:noAutofit/>
          </a:bodyPr>
          <a:lstStyle>
            <a:lvl1pPr algn="l">
              <a:defRPr sz="1200" b="0" i="0">
                <a:solidFill>
                  <a:schemeClr val="bg1"/>
                </a:solidFill>
                <a:latin typeface="Arial" panose="020B0604020202020204" pitchFamily="34" charset="0"/>
                <a:cs typeface="Arial" panose="020B0604020202020204" pitchFamily="34" charset="0"/>
              </a:defRPr>
            </a:lvl1pPr>
          </a:lstStyle>
          <a:p>
            <a:fld id="{199763C0-80D9-8D42-B900-9C5810713DB1}" type="datetime1">
              <a:rPr lang="en-US" smtClean="0"/>
              <a:t>8/19/26</a:t>
            </a:fld>
            <a:endParaRPr lang="en-US" dirty="0"/>
          </a:p>
        </p:txBody>
      </p:sp>
      <p:sp>
        <p:nvSpPr>
          <p:cNvPr id="12" name="Text Placeholder 2"/>
          <p:cNvSpPr>
            <a:spLocks noGrp="1"/>
          </p:cNvSpPr>
          <p:nvPr>
            <p:ph type="body" sz="quarter" idx="10" hasCustomPrompt="1"/>
          </p:nvPr>
        </p:nvSpPr>
        <p:spPr>
          <a:xfrm>
            <a:off x="684693" y="3355289"/>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bg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3" name="Title 15">
            <a:extLst>
              <a:ext uri="{FF2B5EF4-FFF2-40B4-BE49-F238E27FC236}">
                <a16:creationId xmlns:a16="http://schemas.microsoft.com/office/drawing/2014/main" id="{7DAA724C-3107-8C4A-A46D-AB498B3D6B3F}"/>
              </a:ext>
            </a:extLst>
          </p:cNvPr>
          <p:cNvSpPr>
            <a:spLocks noGrp="1"/>
          </p:cNvSpPr>
          <p:nvPr>
            <p:ph type="title" hasCustomPrompt="1"/>
          </p:nvPr>
        </p:nvSpPr>
        <p:spPr>
          <a:xfrm>
            <a:off x="669972" y="1127897"/>
            <a:ext cx="4976447" cy="1311963"/>
          </a:xfrm>
        </p:spPr>
        <p:txBody>
          <a:bodyPr anchor="b">
            <a:noAutofit/>
          </a:bodyPr>
          <a:lstStyle>
            <a:lvl1pPr>
              <a:defRPr sz="3600" b="0" i="0" baseline="0">
                <a:solidFill>
                  <a:schemeClr val="bg1"/>
                </a:solidFill>
                <a:latin typeface="+mj-lt"/>
              </a:defRPr>
            </a:lvl1pPr>
          </a:lstStyle>
          <a:p>
            <a:r>
              <a:rPr lang="en-US" dirty="0"/>
              <a:t>Title Here</a:t>
            </a:r>
          </a:p>
        </p:txBody>
      </p:sp>
      <p:sp>
        <p:nvSpPr>
          <p:cNvPr id="15" name="Text Placeholder 3">
            <a:extLst>
              <a:ext uri="{FF2B5EF4-FFF2-40B4-BE49-F238E27FC236}">
                <a16:creationId xmlns:a16="http://schemas.microsoft.com/office/drawing/2014/main" id="{A9573359-3223-304A-9E4E-E3990C977311}"/>
              </a:ext>
            </a:extLst>
          </p:cNvPr>
          <p:cNvSpPr>
            <a:spLocks noGrp="1"/>
          </p:cNvSpPr>
          <p:nvPr>
            <p:ph type="body" sz="quarter" idx="15" hasCustomPrompt="1"/>
          </p:nvPr>
        </p:nvSpPr>
        <p:spPr>
          <a:xfrm>
            <a:off x="673589" y="2526001"/>
            <a:ext cx="4972830" cy="508220"/>
          </a:xfrm>
          <a:prstGeom prst="rect">
            <a:avLst/>
          </a:prstGeom>
        </p:spPr>
        <p:txBody>
          <a:bodyPr>
            <a:noAutofit/>
          </a:bodyPr>
          <a:lstStyle>
            <a:lvl1pPr marL="0" indent="0" algn="l">
              <a:lnSpc>
                <a:spcPct val="100000"/>
              </a:lnSpc>
              <a:buNone/>
              <a:defRPr sz="1600" b="0" i="0">
                <a:solidFill>
                  <a:schemeClr val="bg1"/>
                </a:solidFill>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Tree>
    <p:extLst>
      <p:ext uri="{BB962C8B-B14F-4D97-AF65-F5344CB8AC3E}">
        <p14:creationId xmlns:p14="http://schemas.microsoft.com/office/powerpoint/2010/main" val="3752861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extLst>
    <p:ext uri="{DCECCB84-F9BA-43D5-87BE-67443E8EF086}">
      <p15:sldGuideLst xmlns:p15="http://schemas.microsoft.com/office/powerpoint/2012/main">
        <p15:guide id="1" orient="horz" pos="1620" userDrawn="1">
          <p15:clr>
            <a:srgbClr val="FBAE40"/>
          </p15:clr>
        </p15:guide>
        <p15:guide id="2" pos="4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ver – Teal1">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screen">
            <a:extLst>
              <a:ext uri="{28A0092B-C50C-407E-A947-70E740481C1C}">
                <a14:useLocalDpi xmlns:a14="http://schemas.microsoft.com/office/drawing/2010/main"/>
              </a:ext>
            </a:extLst>
          </a:blip>
          <a:srcRect b="-1"/>
          <a:stretch/>
        </p:blipFill>
        <p:spPr>
          <a:xfrm>
            <a:off x="250522" y="244258"/>
            <a:ext cx="8893479" cy="4899242"/>
          </a:xfrm>
          <a:prstGeom prst="rect">
            <a:avLst/>
          </a:prstGeom>
        </p:spPr>
      </p:pic>
      <p:sp>
        <p:nvSpPr>
          <p:cNvPr id="2" name="Rectangle 1"/>
          <p:cNvSpPr/>
          <p:nvPr userDrawn="1"/>
        </p:nvSpPr>
        <p:spPr bwMode="auto">
          <a:xfrm>
            <a:off x="502920" y="1"/>
            <a:ext cx="5666935" cy="4304714"/>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1600" b="0" i="0" dirty="0" err="1">
              <a:solidFill>
                <a:schemeClr val="tx1"/>
              </a:solidFill>
              <a:latin typeface="Arial" panose="020B0604020202020204" pitchFamily="34" charset="0"/>
            </a:endParaRPr>
          </a:p>
        </p:txBody>
      </p:sp>
      <p:sp>
        <p:nvSpPr>
          <p:cNvPr id="14" name="Date Placeholder 4">
            <a:extLst>
              <a:ext uri="{FF2B5EF4-FFF2-40B4-BE49-F238E27FC236}">
                <a16:creationId xmlns:a16="http://schemas.microsoft.com/office/drawing/2014/main" id="{3BFC587D-F4CD-7648-95B7-35FDAB00708D}"/>
              </a:ext>
            </a:extLst>
          </p:cNvPr>
          <p:cNvSpPr>
            <a:spLocks noGrp="1"/>
          </p:cNvSpPr>
          <p:nvPr>
            <p:ph type="dt" sz="half" idx="2"/>
          </p:nvPr>
        </p:nvSpPr>
        <p:spPr>
          <a:xfrm>
            <a:off x="686298" y="3869451"/>
            <a:ext cx="1925338" cy="178955"/>
          </a:xfrm>
          <a:prstGeom prst="rect">
            <a:avLst/>
          </a:prstGeom>
        </p:spPr>
        <p:txBody>
          <a:bodyPr vert="horz" wrap="square" lIns="91440" tIns="0" rIns="91440" bIns="0" rtlCol="0" anchor="b" anchorCtr="0">
            <a:noAutofit/>
          </a:bodyPr>
          <a:lstStyle>
            <a:lvl1pPr algn="l">
              <a:defRPr sz="1200" b="0" i="0">
                <a:solidFill>
                  <a:schemeClr val="bg1"/>
                </a:solidFill>
                <a:latin typeface="Arial" panose="020B0604020202020204" pitchFamily="34" charset="0"/>
                <a:cs typeface="Arial" panose="020B0604020202020204" pitchFamily="34" charset="0"/>
              </a:defRPr>
            </a:lvl1pPr>
          </a:lstStyle>
          <a:p>
            <a:fld id="{5E758B97-1F12-914B-8A88-08F79B27CB21}" type="datetime1">
              <a:rPr lang="en-US" smtClean="0"/>
              <a:t>8/19/26</a:t>
            </a:fld>
            <a:endParaRPr lang="en-US" dirty="0"/>
          </a:p>
        </p:txBody>
      </p:sp>
      <p:sp>
        <p:nvSpPr>
          <p:cNvPr id="15" name="Text Placeholder 2">
            <a:extLst>
              <a:ext uri="{FF2B5EF4-FFF2-40B4-BE49-F238E27FC236}">
                <a16:creationId xmlns:a16="http://schemas.microsoft.com/office/drawing/2014/main" id="{2321EFAD-F786-464B-B3E8-5DEEB972AF4D}"/>
              </a:ext>
            </a:extLst>
          </p:cNvPr>
          <p:cNvSpPr>
            <a:spLocks noGrp="1"/>
          </p:cNvSpPr>
          <p:nvPr>
            <p:ph type="body" sz="quarter" idx="10" hasCustomPrompt="1"/>
          </p:nvPr>
        </p:nvSpPr>
        <p:spPr>
          <a:xfrm>
            <a:off x="684693" y="3355289"/>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bg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0" name="Title 15">
            <a:extLst>
              <a:ext uri="{FF2B5EF4-FFF2-40B4-BE49-F238E27FC236}">
                <a16:creationId xmlns:a16="http://schemas.microsoft.com/office/drawing/2014/main" id="{1D80BBCD-01AA-2048-816B-1926C338266F}"/>
              </a:ext>
            </a:extLst>
          </p:cNvPr>
          <p:cNvSpPr>
            <a:spLocks noGrp="1"/>
          </p:cNvSpPr>
          <p:nvPr>
            <p:ph type="title" hasCustomPrompt="1"/>
          </p:nvPr>
        </p:nvSpPr>
        <p:spPr>
          <a:xfrm>
            <a:off x="669972" y="1127897"/>
            <a:ext cx="4976447" cy="1311963"/>
          </a:xfrm>
        </p:spPr>
        <p:txBody>
          <a:bodyPr anchor="b">
            <a:noAutofit/>
          </a:bodyPr>
          <a:lstStyle>
            <a:lvl1pPr>
              <a:defRPr sz="3600" b="0" i="0" baseline="0">
                <a:solidFill>
                  <a:schemeClr val="bg1"/>
                </a:solidFill>
                <a:latin typeface="+mj-lt"/>
              </a:defRPr>
            </a:lvl1pPr>
          </a:lstStyle>
          <a:p>
            <a:r>
              <a:rPr lang="en-US" dirty="0"/>
              <a:t>Title Here</a:t>
            </a:r>
          </a:p>
        </p:txBody>
      </p:sp>
      <p:sp>
        <p:nvSpPr>
          <p:cNvPr id="16" name="Text Placeholder 3">
            <a:extLst>
              <a:ext uri="{FF2B5EF4-FFF2-40B4-BE49-F238E27FC236}">
                <a16:creationId xmlns:a16="http://schemas.microsoft.com/office/drawing/2014/main" id="{CF776777-542E-DD44-ADA8-B722AD3865C3}"/>
              </a:ext>
            </a:extLst>
          </p:cNvPr>
          <p:cNvSpPr>
            <a:spLocks noGrp="1"/>
          </p:cNvSpPr>
          <p:nvPr>
            <p:ph type="body" sz="quarter" idx="15" hasCustomPrompt="1"/>
          </p:nvPr>
        </p:nvSpPr>
        <p:spPr>
          <a:xfrm>
            <a:off x="673589" y="2526001"/>
            <a:ext cx="4972830" cy="508220"/>
          </a:xfrm>
          <a:prstGeom prst="rect">
            <a:avLst/>
          </a:prstGeom>
        </p:spPr>
        <p:txBody>
          <a:bodyPr>
            <a:noAutofit/>
          </a:bodyPr>
          <a:lstStyle>
            <a:lvl1pPr marL="0" indent="0" algn="l">
              <a:lnSpc>
                <a:spcPct val="100000"/>
              </a:lnSpc>
              <a:buNone/>
              <a:defRPr sz="1600" b="0" i="0">
                <a:solidFill>
                  <a:schemeClr val="bg1"/>
                </a:solidFill>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11" name="Picture 10">
            <a:extLst>
              <a:ext uri="{FF2B5EF4-FFF2-40B4-BE49-F238E27FC236}">
                <a16:creationId xmlns:a16="http://schemas.microsoft.com/office/drawing/2014/main" id="{7BC7F4D8-5A99-1448-8564-FCC90659795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684690" y="241702"/>
            <a:ext cx="812800" cy="81280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ver – Blue2">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41905" y="241902"/>
            <a:ext cx="8908063" cy="4901598"/>
          </a:xfrm>
          <a:prstGeom prst="rect">
            <a:avLst/>
          </a:prstGeom>
        </p:spPr>
      </p:pic>
      <p:sp>
        <p:nvSpPr>
          <p:cNvPr id="2" name="Rectangle 1"/>
          <p:cNvSpPr/>
          <p:nvPr userDrawn="1"/>
        </p:nvSpPr>
        <p:spPr bwMode="auto">
          <a:xfrm>
            <a:off x="502920" y="1"/>
            <a:ext cx="5666935" cy="4304714"/>
          </a:xfrm>
          <a:prstGeom prst="rect">
            <a:avLst/>
          </a:prstGeom>
          <a:solidFill>
            <a:schemeClr val="accent1"/>
          </a:solidFill>
          <a:ln w="19050" algn="ctr">
            <a:noFill/>
            <a:miter lim="800000"/>
            <a:headEnd/>
            <a:tailEnd/>
          </a:ln>
        </p:spPr>
        <p:txBody>
          <a:bodyPr wrap="none" rtlCol="0" anchor="ctr"/>
          <a:lstStyle/>
          <a:p>
            <a:pPr algn="ctr">
              <a:lnSpc>
                <a:spcPct val="90000"/>
              </a:lnSpc>
            </a:pPr>
            <a:endParaRPr lang="en-US" sz="1600" b="0" i="0" dirty="0" err="1">
              <a:solidFill>
                <a:schemeClr val="tx1"/>
              </a:solidFill>
              <a:latin typeface="Arial" panose="020B0604020202020204" pitchFamily="34" charset="0"/>
            </a:endParaRPr>
          </a:p>
        </p:txBody>
      </p:sp>
      <p:sp>
        <p:nvSpPr>
          <p:cNvPr id="15" name="Date Placeholder 4">
            <a:extLst>
              <a:ext uri="{FF2B5EF4-FFF2-40B4-BE49-F238E27FC236}">
                <a16:creationId xmlns:a16="http://schemas.microsoft.com/office/drawing/2014/main" id="{8CD1AB83-6DAD-CB4D-8F80-6559296DFFA5}"/>
              </a:ext>
            </a:extLst>
          </p:cNvPr>
          <p:cNvSpPr>
            <a:spLocks noGrp="1"/>
          </p:cNvSpPr>
          <p:nvPr>
            <p:ph type="dt" sz="half" idx="2"/>
          </p:nvPr>
        </p:nvSpPr>
        <p:spPr>
          <a:xfrm>
            <a:off x="686298" y="3869451"/>
            <a:ext cx="1925338" cy="178955"/>
          </a:xfrm>
          <a:prstGeom prst="rect">
            <a:avLst/>
          </a:prstGeom>
        </p:spPr>
        <p:txBody>
          <a:bodyPr vert="horz" wrap="square" lIns="91440" tIns="0" rIns="91440" bIns="0" rtlCol="0" anchor="b" anchorCtr="0">
            <a:noAutofit/>
          </a:bodyPr>
          <a:lstStyle>
            <a:lvl1pPr algn="l">
              <a:defRPr sz="1200" b="0" i="0">
                <a:solidFill>
                  <a:schemeClr val="bg1"/>
                </a:solidFill>
                <a:latin typeface="Arial" panose="020B0604020202020204" pitchFamily="34" charset="0"/>
                <a:cs typeface="Arial" panose="020B0604020202020204" pitchFamily="34" charset="0"/>
              </a:defRPr>
            </a:lvl1pPr>
          </a:lstStyle>
          <a:p>
            <a:fld id="{E601DCD7-F394-9C47-9AE3-85303D673D5E}" type="datetime1">
              <a:rPr lang="en-US" smtClean="0"/>
              <a:t>8/19/26</a:t>
            </a:fld>
            <a:endParaRPr lang="en-US" dirty="0"/>
          </a:p>
        </p:txBody>
      </p:sp>
      <p:sp>
        <p:nvSpPr>
          <p:cNvPr id="16" name="Text Placeholder 2">
            <a:extLst>
              <a:ext uri="{FF2B5EF4-FFF2-40B4-BE49-F238E27FC236}">
                <a16:creationId xmlns:a16="http://schemas.microsoft.com/office/drawing/2014/main" id="{AD076ED3-B4CC-4448-9C8D-EE9C8E4EDB9A}"/>
              </a:ext>
            </a:extLst>
          </p:cNvPr>
          <p:cNvSpPr>
            <a:spLocks noGrp="1"/>
          </p:cNvSpPr>
          <p:nvPr>
            <p:ph type="body" sz="quarter" idx="10" hasCustomPrompt="1"/>
          </p:nvPr>
        </p:nvSpPr>
        <p:spPr>
          <a:xfrm>
            <a:off x="684693" y="3355289"/>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bg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2" name="Title 15">
            <a:extLst>
              <a:ext uri="{FF2B5EF4-FFF2-40B4-BE49-F238E27FC236}">
                <a16:creationId xmlns:a16="http://schemas.microsoft.com/office/drawing/2014/main" id="{B315E655-425B-6342-8FC5-549929A12CE9}"/>
              </a:ext>
            </a:extLst>
          </p:cNvPr>
          <p:cNvSpPr>
            <a:spLocks noGrp="1"/>
          </p:cNvSpPr>
          <p:nvPr>
            <p:ph type="title" hasCustomPrompt="1"/>
          </p:nvPr>
        </p:nvSpPr>
        <p:spPr>
          <a:xfrm>
            <a:off x="669972" y="1127897"/>
            <a:ext cx="4976447" cy="1311963"/>
          </a:xfrm>
        </p:spPr>
        <p:txBody>
          <a:bodyPr anchor="b">
            <a:noAutofit/>
          </a:bodyPr>
          <a:lstStyle>
            <a:lvl1pPr>
              <a:defRPr sz="3600" b="0" i="0" baseline="0">
                <a:solidFill>
                  <a:schemeClr val="bg1"/>
                </a:solidFill>
                <a:latin typeface="+mj-lt"/>
              </a:defRPr>
            </a:lvl1pPr>
          </a:lstStyle>
          <a:p>
            <a:r>
              <a:rPr lang="en-US" dirty="0"/>
              <a:t>Title Here</a:t>
            </a:r>
          </a:p>
        </p:txBody>
      </p:sp>
      <p:sp>
        <p:nvSpPr>
          <p:cNvPr id="18" name="Text Placeholder 3">
            <a:extLst>
              <a:ext uri="{FF2B5EF4-FFF2-40B4-BE49-F238E27FC236}">
                <a16:creationId xmlns:a16="http://schemas.microsoft.com/office/drawing/2014/main" id="{59D8CE0E-5F3B-3149-9E62-C9706A69F83B}"/>
              </a:ext>
            </a:extLst>
          </p:cNvPr>
          <p:cNvSpPr>
            <a:spLocks noGrp="1"/>
          </p:cNvSpPr>
          <p:nvPr>
            <p:ph type="body" sz="quarter" idx="15" hasCustomPrompt="1"/>
          </p:nvPr>
        </p:nvSpPr>
        <p:spPr>
          <a:xfrm>
            <a:off x="673589" y="2526001"/>
            <a:ext cx="4972830" cy="508220"/>
          </a:xfrm>
          <a:prstGeom prst="rect">
            <a:avLst/>
          </a:prstGeom>
        </p:spPr>
        <p:txBody>
          <a:bodyPr>
            <a:noAutofit/>
          </a:bodyPr>
          <a:lstStyle>
            <a:lvl1pPr marL="0" indent="0" algn="l">
              <a:lnSpc>
                <a:spcPct val="100000"/>
              </a:lnSpc>
              <a:buNone/>
              <a:defRPr sz="1600" b="0" i="0">
                <a:solidFill>
                  <a:schemeClr val="bg1"/>
                </a:solidFill>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9" name="Picture 8">
            <a:extLst>
              <a:ext uri="{FF2B5EF4-FFF2-40B4-BE49-F238E27FC236}">
                <a16:creationId xmlns:a16="http://schemas.microsoft.com/office/drawing/2014/main" id="{C7B8961A-B94A-D843-9BDD-2DC2524C1EC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684690" y="241702"/>
            <a:ext cx="812800" cy="81280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ver – Teal2">
    <p:bg>
      <p:bgRef idx="1001">
        <a:schemeClr val="bg1"/>
      </p:bgRef>
    </p:bg>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41905" y="241902"/>
            <a:ext cx="8902097" cy="4901598"/>
          </a:xfrm>
          <a:prstGeom prst="rect">
            <a:avLst/>
          </a:prstGeom>
        </p:spPr>
      </p:pic>
      <p:sp>
        <p:nvSpPr>
          <p:cNvPr id="2" name="Rectangle 1"/>
          <p:cNvSpPr/>
          <p:nvPr userDrawn="1"/>
        </p:nvSpPr>
        <p:spPr bwMode="auto">
          <a:xfrm>
            <a:off x="502920" y="1"/>
            <a:ext cx="5666935" cy="4304714"/>
          </a:xfrm>
          <a:prstGeom prst="rect">
            <a:avLst/>
          </a:prstGeom>
          <a:solidFill>
            <a:schemeClr val="bg1">
              <a:lumMod val="95000"/>
            </a:schemeClr>
          </a:solidFill>
          <a:ln w="19050" algn="ctr">
            <a:noFill/>
            <a:miter lim="800000"/>
            <a:headEnd/>
            <a:tailEnd/>
          </a:ln>
        </p:spPr>
        <p:txBody>
          <a:bodyPr wrap="none" rtlCol="0" anchor="ctr"/>
          <a:lstStyle/>
          <a:p>
            <a:pPr algn="ctr">
              <a:lnSpc>
                <a:spcPct val="90000"/>
              </a:lnSpc>
            </a:pPr>
            <a:endParaRPr lang="en-US" sz="1600" b="0" i="0" dirty="0" err="1">
              <a:solidFill>
                <a:schemeClr val="tx1"/>
              </a:solidFill>
              <a:latin typeface="Arial" panose="020B0604020202020204" pitchFamily="34" charset="0"/>
            </a:endParaRPr>
          </a:p>
        </p:txBody>
      </p:sp>
      <p:sp>
        <p:nvSpPr>
          <p:cNvPr id="15" name="Date Placeholder 4">
            <a:extLst>
              <a:ext uri="{FF2B5EF4-FFF2-40B4-BE49-F238E27FC236}">
                <a16:creationId xmlns:a16="http://schemas.microsoft.com/office/drawing/2014/main" id="{EA5AAF51-36B8-9940-ACBC-F45CDFBB60D9}"/>
              </a:ext>
            </a:extLst>
          </p:cNvPr>
          <p:cNvSpPr>
            <a:spLocks noGrp="1"/>
          </p:cNvSpPr>
          <p:nvPr>
            <p:ph type="dt" sz="half" idx="2"/>
          </p:nvPr>
        </p:nvSpPr>
        <p:spPr>
          <a:xfrm>
            <a:off x="686298" y="3869451"/>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cs typeface="Arial" panose="020B0604020202020204" pitchFamily="34" charset="0"/>
              </a:defRPr>
            </a:lvl1pPr>
          </a:lstStyle>
          <a:p>
            <a:fld id="{B4798F0E-CEC8-8A4D-A129-15694C617DB3}" type="datetime1">
              <a:rPr lang="en-US" smtClean="0"/>
              <a:t>8/19/26</a:t>
            </a:fld>
            <a:endParaRPr lang="en-US" dirty="0"/>
          </a:p>
        </p:txBody>
      </p:sp>
      <p:sp>
        <p:nvSpPr>
          <p:cNvPr id="16" name="Text Placeholder 2">
            <a:extLst>
              <a:ext uri="{FF2B5EF4-FFF2-40B4-BE49-F238E27FC236}">
                <a16:creationId xmlns:a16="http://schemas.microsoft.com/office/drawing/2014/main" id="{364A4BD1-BDC4-5847-8479-2F6EAA1BF060}"/>
              </a:ext>
            </a:extLst>
          </p:cNvPr>
          <p:cNvSpPr>
            <a:spLocks noGrp="1"/>
          </p:cNvSpPr>
          <p:nvPr>
            <p:ph type="body" sz="quarter" idx="10" hasCustomPrompt="1"/>
          </p:nvPr>
        </p:nvSpPr>
        <p:spPr>
          <a:xfrm>
            <a:off x="684693" y="3355289"/>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pic>
        <p:nvPicPr>
          <p:cNvPr id="18" name="Picture 17">
            <a:extLst>
              <a:ext uri="{FF2B5EF4-FFF2-40B4-BE49-F238E27FC236}">
                <a16:creationId xmlns:a16="http://schemas.microsoft.com/office/drawing/2014/main" id="{845348B5-ADBC-3742-81A7-0E4C003890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84690" y="241702"/>
            <a:ext cx="812800" cy="812579"/>
          </a:xfrm>
          <a:prstGeom prst="rect">
            <a:avLst/>
          </a:prstGeom>
        </p:spPr>
      </p:pic>
      <p:sp>
        <p:nvSpPr>
          <p:cNvPr id="10" name="Title 15">
            <a:extLst>
              <a:ext uri="{FF2B5EF4-FFF2-40B4-BE49-F238E27FC236}">
                <a16:creationId xmlns:a16="http://schemas.microsoft.com/office/drawing/2014/main" id="{3D807373-E9A5-9F41-8251-72DE5DC0C0B9}"/>
              </a:ext>
            </a:extLst>
          </p:cNvPr>
          <p:cNvSpPr>
            <a:spLocks noGrp="1"/>
          </p:cNvSpPr>
          <p:nvPr>
            <p:ph type="title" hasCustomPrompt="1"/>
          </p:nvPr>
        </p:nvSpPr>
        <p:spPr>
          <a:xfrm>
            <a:off x="669972" y="1127897"/>
            <a:ext cx="4976447" cy="1311963"/>
          </a:xfrm>
        </p:spPr>
        <p:txBody>
          <a:bodyPr anchor="b">
            <a:noAutofit/>
          </a:bodyPr>
          <a:lstStyle>
            <a:lvl1pPr>
              <a:defRPr sz="3600" b="0" i="0" baseline="0">
                <a:solidFill>
                  <a:schemeClr val="tx1"/>
                </a:solidFill>
                <a:latin typeface="+mj-lt"/>
              </a:defRPr>
            </a:lvl1pPr>
          </a:lstStyle>
          <a:p>
            <a:r>
              <a:rPr lang="en-US" dirty="0"/>
              <a:t>Title Here</a:t>
            </a:r>
          </a:p>
        </p:txBody>
      </p:sp>
      <p:sp>
        <p:nvSpPr>
          <p:cNvPr id="17" name="Text Placeholder 3">
            <a:extLst>
              <a:ext uri="{FF2B5EF4-FFF2-40B4-BE49-F238E27FC236}">
                <a16:creationId xmlns:a16="http://schemas.microsoft.com/office/drawing/2014/main" id="{FA66BC5E-F1DA-6A44-9B69-93266278F913}"/>
              </a:ext>
            </a:extLst>
          </p:cNvPr>
          <p:cNvSpPr>
            <a:spLocks noGrp="1"/>
          </p:cNvSpPr>
          <p:nvPr>
            <p:ph type="body" sz="quarter" idx="15" hasCustomPrompt="1"/>
          </p:nvPr>
        </p:nvSpPr>
        <p:spPr>
          <a:xfrm>
            <a:off x="673589" y="2526001"/>
            <a:ext cx="4972830"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ver – Blue3">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41903" y="241703"/>
            <a:ext cx="8902097" cy="4901798"/>
          </a:xfrm>
          <a:prstGeom prst="rect">
            <a:avLst/>
          </a:prstGeom>
        </p:spPr>
      </p:pic>
      <p:sp>
        <p:nvSpPr>
          <p:cNvPr id="2" name="Rectangle 1"/>
          <p:cNvSpPr/>
          <p:nvPr userDrawn="1"/>
        </p:nvSpPr>
        <p:spPr bwMode="auto">
          <a:xfrm>
            <a:off x="502920" y="1"/>
            <a:ext cx="5666935" cy="4304714"/>
          </a:xfrm>
          <a:prstGeom prst="rect">
            <a:avLst/>
          </a:prstGeom>
          <a:solidFill>
            <a:schemeClr val="tx2"/>
          </a:solidFill>
          <a:ln w="19050" algn="ctr">
            <a:noFill/>
            <a:miter lim="800000"/>
            <a:headEnd/>
            <a:tailEnd/>
          </a:ln>
        </p:spPr>
        <p:txBody>
          <a:bodyPr wrap="none" rtlCol="0" anchor="ctr"/>
          <a:lstStyle/>
          <a:p>
            <a:pPr algn="ctr">
              <a:lnSpc>
                <a:spcPct val="90000"/>
              </a:lnSpc>
            </a:pPr>
            <a:endParaRPr lang="en-US" sz="1600" b="0" i="0" dirty="0" err="1">
              <a:solidFill>
                <a:schemeClr val="tx1"/>
              </a:solidFill>
              <a:latin typeface="Arial" panose="020B0604020202020204" pitchFamily="34" charset="0"/>
            </a:endParaRPr>
          </a:p>
        </p:txBody>
      </p:sp>
      <p:sp>
        <p:nvSpPr>
          <p:cNvPr id="15" name="Date Placeholder 4">
            <a:extLst>
              <a:ext uri="{FF2B5EF4-FFF2-40B4-BE49-F238E27FC236}">
                <a16:creationId xmlns:a16="http://schemas.microsoft.com/office/drawing/2014/main" id="{8CD1AB83-6DAD-CB4D-8F80-6559296DFFA5}"/>
              </a:ext>
            </a:extLst>
          </p:cNvPr>
          <p:cNvSpPr>
            <a:spLocks noGrp="1"/>
          </p:cNvSpPr>
          <p:nvPr>
            <p:ph type="dt" sz="half" idx="2"/>
          </p:nvPr>
        </p:nvSpPr>
        <p:spPr>
          <a:xfrm>
            <a:off x="686298" y="3869451"/>
            <a:ext cx="1925338" cy="178955"/>
          </a:xfrm>
          <a:prstGeom prst="rect">
            <a:avLst/>
          </a:prstGeom>
        </p:spPr>
        <p:txBody>
          <a:bodyPr vert="horz" wrap="square" lIns="91440" tIns="0" rIns="91440" bIns="0" rtlCol="0" anchor="b" anchorCtr="0">
            <a:noAutofit/>
          </a:bodyPr>
          <a:lstStyle>
            <a:lvl1pPr algn="l">
              <a:defRPr sz="1200" b="0" i="0">
                <a:solidFill>
                  <a:schemeClr val="bg1"/>
                </a:solidFill>
                <a:latin typeface="Arial" panose="020B0604020202020204" pitchFamily="34" charset="0"/>
                <a:cs typeface="Arial" panose="020B0604020202020204" pitchFamily="34" charset="0"/>
              </a:defRPr>
            </a:lvl1pPr>
          </a:lstStyle>
          <a:p>
            <a:fld id="{295CD000-1EC0-AA42-B1CD-FDFAC651DA81}" type="datetime1">
              <a:rPr lang="en-US" smtClean="0"/>
              <a:t>8/19/26</a:t>
            </a:fld>
            <a:endParaRPr lang="en-US" dirty="0"/>
          </a:p>
        </p:txBody>
      </p:sp>
      <p:sp>
        <p:nvSpPr>
          <p:cNvPr id="16" name="Text Placeholder 2">
            <a:extLst>
              <a:ext uri="{FF2B5EF4-FFF2-40B4-BE49-F238E27FC236}">
                <a16:creationId xmlns:a16="http://schemas.microsoft.com/office/drawing/2014/main" id="{AD076ED3-B4CC-4448-9C8D-EE9C8E4EDB9A}"/>
              </a:ext>
            </a:extLst>
          </p:cNvPr>
          <p:cNvSpPr>
            <a:spLocks noGrp="1"/>
          </p:cNvSpPr>
          <p:nvPr>
            <p:ph type="body" sz="quarter" idx="10" hasCustomPrompt="1"/>
          </p:nvPr>
        </p:nvSpPr>
        <p:spPr>
          <a:xfrm>
            <a:off x="684693" y="3355289"/>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bg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2" name="Title 15">
            <a:extLst>
              <a:ext uri="{FF2B5EF4-FFF2-40B4-BE49-F238E27FC236}">
                <a16:creationId xmlns:a16="http://schemas.microsoft.com/office/drawing/2014/main" id="{B315E655-425B-6342-8FC5-549929A12CE9}"/>
              </a:ext>
            </a:extLst>
          </p:cNvPr>
          <p:cNvSpPr>
            <a:spLocks noGrp="1"/>
          </p:cNvSpPr>
          <p:nvPr>
            <p:ph type="title" hasCustomPrompt="1"/>
          </p:nvPr>
        </p:nvSpPr>
        <p:spPr>
          <a:xfrm>
            <a:off x="669972" y="1127897"/>
            <a:ext cx="4976447" cy="1311963"/>
          </a:xfrm>
        </p:spPr>
        <p:txBody>
          <a:bodyPr anchor="b">
            <a:noAutofit/>
          </a:bodyPr>
          <a:lstStyle>
            <a:lvl1pPr>
              <a:defRPr sz="3600" b="0" i="0" baseline="0">
                <a:solidFill>
                  <a:schemeClr val="bg1"/>
                </a:solidFill>
                <a:latin typeface="+mj-lt"/>
              </a:defRPr>
            </a:lvl1pPr>
          </a:lstStyle>
          <a:p>
            <a:r>
              <a:rPr lang="en-US" dirty="0"/>
              <a:t>Title Here</a:t>
            </a:r>
          </a:p>
        </p:txBody>
      </p:sp>
      <p:sp>
        <p:nvSpPr>
          <p:cNvPr id="18" name="Text Placeholder 3">
            <a:extLst>
              <a:ext uri="{FF2B5EF4-FFF2-40B4-BE49-F238E27FC236}">
                <a16:creationId xmlns:a16="http://schemas.microsoft.com/office/drawing/2014/main" id="{59D8CE0E-5F3B-3149-9E62-C9706A69F83B}"/>
              </a:ext>
            </a:extLst>
          </p:cNvPr>
          <p:cNvSpPr>
            <a:spLocks noGrp="1"/>
          </p:cNvSpPr>
          <p:nvPr>
            <p:ph type="body" sz="quarter" idx="15" hasCustomPrompt="1"/>
          </p:nvPr>
        </p:nvSpPr>
        <p:spPr>
          <a:xfrm>
            <a:off x="673589" y="2526001"/>
            <a:ext cx="4972830" cy="508220"/>
          </a:xfrm>
          <a:prstGeom prst="rect">
            <a:avLst/>
          </a:prstGeom>
        </p:spPr>
        <p:txBody>
          <a:bodyPr>
            <a:noAutofit/>
          </a:bodyPr>
          <a:lstStyle>
            <a:lvl1pPr marL="0" indent="0" algn="l">
              <a:lnSpc>
                <a:spcPct val="100000"/>
              </a:lnSpc>
              <a:buNone/>
              <a:defRPr sz="1600" b="0" i="0">
                <a:solidFill>
                  <a:schemeClr val="bg1"/>
                </a:solidFill>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9" name="Picture 8">
            <a:extLst>
              <a:ext uri="{FF2B5EF4-FFF2-40B4-BE49-F238E27FC236}">
                <a16:creationId xmlns:a16="http://schemas.microsoft.com/office/drawing/2014/main" id="{C7B8961A-B94A-D843-9BDD-2DC2524C1EC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684690" y="241702"/>
            <a:ext cx="812800" cy="812800"/>
          </a:xfrm>
          <a:prstGeom prst="rect">
            <a:avLst/>
          </a:prstGeom>
        </p:spPr>
      </p:pic>
    </p:spTree>
    <p:extLst>
      <p:ext uri="{BB962C8B-B14F-4D97-AF65-F5344CB8AC3E}">
        <p14:creationId xmlns:p14="http://schemas.microsoft.com/office/powerpoint/2010/main" val="22554957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ver – Violet">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41903" y="241703"/>
            <a:ext cx="8902097" cy="4901798"/>
          </a:xfrm>
          <a:prstGeom prst="rect">
            <a:avLst/>
          </a:prstGeom>
        </p:spPr>
      </p:pic>
      <p:sp>
        <p:nvSpPr>
          <p:cNvPr id="2" name="Rectangle 1"/>
          <p:cNvSpPr/>
          <p:nvPr userDrawn="1"/>
        </p:nvSpPr>
        <p:spPr bwMode="auto">
          <a:xfrm>
            <a:off x="502920" y="1"/>
            <a:ext cx="5666935" cy="4304714"/>
          </a:xfrm>
          <a:prstGeom prst="rect">
            <a:avLst/>
          </a:prstGeom>
          <a:solidFill>
            <a:schemeClr val="accent5"/>
          </a:solidFill>
          <a:ln w="19050" algn="ctr">
            <a:noFill/>
            <a:miter lim="800000"/>
            <a:headEnd/>
            <a:tailEnd/>
          </a:ln>
        </p:spPr>
        <p:txBody>
          <a:bodyPr wrap="none" rtlCol="0" anchor="ctr"/>
          <a:lstStyle/>
          <a:p>
            <a:pPr algn="ctr">
              <a:lnSpc>
                <a:spcPct val="90000"/>
              </a:lnSpc>
            </a:pPr>
            <a:endParaRPr lang="en-US" sz="1600" b="0" i="0" dirty="0" err="1">
              <a:solidFill>
                <a:schemeClr val="tx1"/>
              </a:solidFill>
              <a:latin typeface="Arial" panose="020B0604020202020204" pitchFamily="34" charset="0"/>
            </a:endParaRPr>
          </a:p>
        </p:txBody>
      </p:sp>
      <p:sp>
        <p:nvSpPr>
          <p:cNvPr id="15" name="Date Placeholder 4">
            <a:extLst>
              <a:ext uri="{FF2B5EF4-FFF2-40B4-BE49-F238E27FC236}">
                <a16:creationId xmlns:a16="http://schemas.microsoft.com/office/drawing/2014/main" id="{8CD1AB83-6DAD-CB4D-8F80-6559296DFFA5}"/>
              </a:ext>
            </a:extLst>
          </p:cNvPr>
          <p:cNvSpPr>
            <a:spLocks noGrp="1"/>
          </p:cNvSpPr>
          <p:nvPr>
            <p:ph type="dt" sz="half" idx="2"/>
          </p:nvPr>
        </p:nvSpPr>
        <p:spPr>
          <a:xfrm>
            <a:off x="686298" y="3869451"/>
            <a:ext cx="1925338" cy="178955"/>
          </a:xfrm>
          <a:prstGeom prst="rect">
            <a:avLst/>
          </a:prstGeom>
        </p:spPr>
        <p:txBody>
          <a:bodyPr vert="horz" wrap="square" lIns="91440" tIns="0" rIns="91440" bIns="0" rtlCol="0" anchor="b" anchorCtr="0">
            <a:noAutofit/>
          </a:bodyPr>
          <a:lstStyle>
            <a:lvl1pPr algn="l">
              <a:defRPr sz="1200" b="0" i="0">
                <a:solidFill>
                  <a:schemeClr val="bg1"/>
                </a:solidFill>
                <a:latin typeface="Arial" panose="020B0604020202020204" pitchFamily="34" charset="0"/>
                <a:cs typeface="Arial" panose="020B0604020202020204" pitchFamily="34" charset="0"/>
              </a:defRPr>
            </a:lvl1pPr>
          </a:lstStyle>
          <a:p>
            <a:fld id="{B82CAA2A-5698-F649-A896-1B0C52B65B4D}" type="datetime1">
              <a:rPr lang="en-US" smtClean="0"/>
              <a:t>8/19/26</a:t>
            </a:fld>
            <a:endParaRPr lang="en-US" dirty="0"/>
          </a:p>
        </p:txBody>
      </p:sp>
      <p:sp>
        <p:nvSpPr>
          <p:cNvPr id="16" name="Text Placeholder 2">
            <a:extLst>
              <a:ext uri="{FF2B5EF4-FFF2-40B4-BE49-F238E27FC236}">
                <a16:creationId xmlns:a16="http://schemas.microsoft.com/office/drawing/2014/main" id="{AD076ED3-B4CC-4448-9C8D-EE9C8E4EDB9A}"/>
              </a:ext>
            </a:extLst>
          </p:cNvPr>
          <p:cNvSpPr>
            <a:spLocks noGrp="1"/>
          </p:cNvSpPr>
          <p:nvPr>
            <p:ph type="body" sz="quarter" idx="10" hasCustomPrompt="1"/>
          </p:nvPr>
        </p:nvSpPr>
        <p:spPr>
          <a:xfrm>
            <a:off x="684693" y="3355289"/>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bg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2" name="Title 15">
            <a:extLst>
              <a:ext uri="{FF2B5EF4-FFF2-40B4-BE49-F238E27FC236}">
                <a16:creationId xmlns:a16="http://schemas.microsoft.com/office/drawing/2014/main" id="{B315E655-425B-6342-8FC5-549929A12CE9}"/>
              </a:ext>
            </a:extLst>
          </p:cNvPr>
          <p:cNvSpPr>
            <a:spLocks noGrp="1"/>
          </p:cNvSpPr>
          <p:nvPr>
            <p:ph type="title" hasCustomPrompt="1"/>
          </p:nvPr>
        </p:nvSpPr>
        <p:spPr>
          <a:xfrm>
            <a:off x="669972" y="1127897"/>
            <a:ext cx="4976447" cy="1311963"/>
          </a:xfrm>
        </p:spPr>
        <p:txBody>
          <a:bodyPr anchor="b">
            <a:noAutofit/>
          </a:bodyPr>
          <a:lstStyle>
            <a:lvl1pPr>
              <a:defRPr sz="3600" b="0" i="0" baseline="0">
                <a:solidFill>
                  <a:schemeClr val="bg1"/>
                </a:solidFill>
                <a:latin typeface="+mj-lt"/>
              </a:defRPr>
            </a:lvl1pPr>
          </a:lstStyle>
          <a:p>
            <a:r>
              <a:rPr lang="en-US" dirty="0"/>
              <a:t>Title Here</a:t>
            </a:r>
          </a:p>
        </p:txBody>
      </p:sp>
      <p:sp>
        <p:nvSpPr>
          <p:cNvPr id="18" name="Text Placeholder 3">
            <a:extLst>
              <a:ext uri="{FF2B5EF4-FFF2-40B4-BE49-F238E27FC236}">
                <a16:creationId xmlns:a16="http://schemas.microsoft.com/office/drawing/2014/main" id="{59D8CE0E-5F3B-3149-9E62-C9706A69F83B}"/>
              </a:ext>
            </a:extLst>
          </p:cNvPr>
          <p:cNvSpPr>
            <a:spLocks noGrp="1"/>
          </p:cNvSpPr>
          <p:nvPr>
            <p:ph type="body" sz="quarter" idx="15" hasCustomPrompt="1"/>
          </p:nvPr>
        </p:nvSpPr>
        <p:spPr>
          <a:xfrm>
            <a:off x="673589" y="2526001"/>
            <a:ext cx="4972830" cy="508220"/>
          </a:xfrm>
          <a:prstGeom prst="rect">
            <a:avLst/>
          </a:prstGeom>
        </p:spPr>
        <p:txBody>
          <a:bodyPr>
            <a:noAutofit/>
          </a:bodyPr>
          <a:lstStyle>
            <a:lvl1pPr marL="0" indent="0" algn="l">
              <a:lnSpc>
                <a:spcPct val="100000"/>
              </a:lnSpc>
              <a:buNone/>
              <a:defRPr sz="1600" b="0" i="0">
                <a:solidFill>
                  <a:schemeClr val="bg1"/>
                </a:solidFill>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9" name="Picture 8">
            <a:extLst>
              <a:ext uri="{FF2B5EF4-FFF2-40B4-BE49-F238E27FC236}">
                <a16:creationId xmlns:a16="http://schemas.microsoft.com/office/drawing/2014/main" id="{C7B8961A-B94A-D843-9BDD-2DC2524C1EC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684690" y="241702"/>
            <a:ext cx="812800" cy="812800"/>
          </a:xfrm>
          <a:prstGeom prst="rect">
            <a:avLst/>
          </a:prstGeom>
        </p:spPr>
      </p:pic>
    </p:spTree>
    <p:extLst>
      <p:ext uri="{BB962C8B-B14F-4D97-AF65-F5344CB8AC3E}">
        <p14:creationId xmlns:p14="http://schemas.microsoft.com/office/powerpoint/2010/main" val="27796850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ver – Magenta">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41903" y="241703"/>
            <a:ext cx="8902097" cy="4901798"/>
          </a:xfrm>
          <a:prstGeom prst="rect">
            <a:avLst/>
          </a:prstGeom>
        </p:spPr>
      </p:pic>
      <p:sp>
        <p:nvSpPr>
          <p:cNvPr id="2" name="Rectangle 1"/>
          <p:cNvSpPr/>
          <p:nvPr userDrawn="1"/>
        </p:nvSpPr>
        <p:spPr bwMode="auto">
          <a:xfrm>
            <a:off x="502920" y="1"/>
            <a:ext cx="5666935" cy="4304714"/>
          </a:xfrm>
          <a:prstGeom prst="rect">
            <a:avLst/>
          </a:prstGeom>
          <a:solidFill>
            <a:schemeClr val="accent6"/>
          </a:solidFill>
          <a:ln w="19050" algn="ctr">
            <a:noFill/>
            <a:miter lim="800000"/>
            <a:headEnd/>
            <a:tailEnd/>
          </a:ln>
        </p:spPr>
        <p:txBody>
          <a:bodyPr wrap="none" rtlCol="0" anchor="ctr"/>
          <a:lstStyle/>
          <a:p>
            <a:pPr algn="ctr">
              <a:lnSpc>
                <a:spcPct val="90000"/>
              </a:lnSpc>
            </a:pPr>
            <a:endParaRPr lang="en-US" sz="1600" b="0" i="0" dirty="0" err="1">
              <a:solidFill>
                <a:schemeClr val="tx1"/>
              </a:solidFill>
              <a:latin typeface="Arial" panose="020B0604020202020204" pitchFamily="34" charset="0"/>
            </a:endParaRPr>
          </a:p>
        </p:txBody>
      </p:sp>
      <p:sp>
        <p:nvSpPr>
          <p:cNvPr id="15" name="Date Placeholder 4">
            <a:extLst>
              <a:ext uri="{FF2B5EF4-FFF2-40B4-BE49-F238E27FC236}">
                <a16:creationId xmlns:a16="http://schemas.microsoft.com/office/drawing/2014/main" id="{8CD1AB83-6DAD-CB4D-8F80-6559296DFFA5}"/>
              </a:ext>
            </a:extLst>
          </p:cNvPr>
          <p:cNvSpPr>
            <a:spLocks noGrp="1"/>
          </p:cNvSpPr>
          <p:nvPr>
            <p:ph type="dt" sz="half" idx="2"/>
          </p:nvPr>
        </p:nvSpPr>
        <p:spPr>
          <a:xfrm>
            <a:off x="686298" y="3869451"/>
            <a:ext cx="1925338" cy="178955"/>
          </a:xfrm>
          <a:prstGeom prst="rect">
            <a:avLst/>
          </a:prstGeom>
        </p:spPr>
        <p:txBody>
          <a:bodyPr vert="horz" wrap="square" lIns="91440" tIns="0" rIns="91440" bIns="0" rtlCol="0" anchor="b" anchorCtr="0">
            <a:noAutofit/>
          </a:bodyPr>
          <a:lstStyle>
            <a:lvl1pPr algn="l">
              <a:defRPr sz="1200" b="0" i="0">
                <a:solidFill>
                  <a:schemeClr val="bg1"/>
                </a:solidFill>
                <a:latin typeface="Arial" panose="020B0604020202020204" pitchFamily="34" charset="0"/>
                <a:cs typeface="Arial" panose="020B0604020202020204" pitchFamily="34" charset="0"/>
              </a:defRPr>
            </a:lvl1pPr>
          </a:lstStyle>
          <a:p>
            <a:fld id="{325E0E3E-37E7-624B-BD5B-F3FD27B58250}" type="datetime1">
              <a:rPr lang="en-US" smtClean="0"/>
              <a:t>8/19/26</a:t>
            </a:fld>
            <a:endParaRPr lang="en-US" dirty="0"/>
          </a:p>
        </p:txBody>
      </p:sp>
      <p:sp>
        <p:nvSpPr>
          <p:cNvPr id="16" name="Text Placeholder 2">
            <a:extLst>
              <a:ext uri="{FF2B5EF4-FFF2-40B4-BE49-F238E27FC236}">
                <a16:creationId xmlns:a16="http://schemas.microsoft.com/office/drawing/2014/main" id="{AD076ED3-B4CC-4448-9C8D-EE9C8E4EDB9A}"/>
              </a:ext>
            </a:extLst>
          </p:cNvPr>
          <p:cNvSpPr>
            <a:spLocks noGrp="1"/>
          </p:cNvSpPr>
          <p:nvPr>
            <p:ph type="body" sz="quarter" idx="10" hasCustomPrompt="1"/>
          </p:nvPr>
        </p:nvSpPr>
        <p:spPr>
          <a:xfrm>
            <a:off x="684693" y="3355289"/>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bg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2" name="Title 15">
            <a:extLst>
              <a:ext uri="{FF2B5EF4-FFF2-40B4-BE49-F238E27FC236}">
                <a16:creationId xmlns:a16="http://schemas.microsoft.com/office/drawing/2014/main" id="{B315E655-425B-6342-8FC5-549929A12CE9}"/>
              </a:ext>
            </a:extLst>
          </p:cNvPr>
          <p:cNvSpPr>
            <a:spLocks noGrp="1"/>
          </p:cNvSpPr>
          <p:nvPr>
            <p:ph type="title" hasCustomPrompt="1"/>
          </p:nvPr>
        </p:nvSpPr>
        <p:spPr>
          <a:xfrm>
            <a:off x="669972" y="1127897"/>
            <a:ext cx="4976447" cy="1311963"/>
          </a:xfrm>
        </p:spPr>
        <p:txBody>
          <a:bodyPr anchor="b">
            <a:noAutofit/>
          </a:bodyPr>
          <a:lstStyle>
            <a:lvl1pPr>
              <a:defRPr sz="3600" b="0" i="0" baseline="0">
                <a:solidFill>
                  <a:schemeClr val="bg1"/>
                </a:solidFill>
                <a:latin typeface="+mj-lt"/>
              </a:defRPr>
            </a:lvl1pPr>
          </a:lstStyle>
          <a:p>
            <a:r>
              <a:rPr lang="en-US" dirty="0"/>
              <a:t>Title Here</a:t>
            </a:r>
          </a:p>
        </p:txBody>
      </p:sp>
      <p:sp>
        <p:nvSpPr>
          <p:cNvPr id="18" name="Text Placeholder 3">
            <a:extLst>
              <a:ext uri="{FF2B5EF4-FFF2-40B4-BE49-F238E27FC236}">
                <a16:creationId xmlns:a16="http://schemas.microsoft.com/office/drawing/2014/main" id="{59D8CE0E-5F3B-3149-9E62-C9706A69F83B}"/>
              </a:ext>
            </a:extLst>
          </p:cNvPr>
          <p:cNvSpPr>
            <a:spLocks noGrp="1"/>
          </p:cNvSpPr>
          <p:nvPr>
            <p:ph type="body" sz="quarter" idx="15" hasCustomPrompt="1"/>
          </p:nvPr>
        </p:nvSpPr>
        <p:spPr>
          <a:xfrm>
            <a:off x="673589" y="2526001"/>
            <a:ext cx="4972830" cy="508220"/>
          </a:xfrm>
          <a:prstGeom prst="rect">
            <a:avLst/>
          </a:prstGeom>
        </p:spPr>
        <p:txBody>
          <a:bodyPr>
            <a:noAutofit/>
          </a:bodyPr>
          <a:lstStyle>
            <a:lvl1pPr marL="0" indent="0" algn="l">
              <a:lnSpc>
                <a:spcPct val="100000"/>
              </a:lnSpc>
              <a:buNone/>
              <a:defRPr sz="1600" b="0" i="0">
                <a:solidFill>
                  <a:schemeClr val="bg1"/>
                </a:solidFill>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9" name="Picture 8">
            <a:extLst>
              <a:ext uri="{FF2B5EF4-FFF2-40B4-BE49-F238E27FC236}">
                <a16:creationId xmlns:a16="http://schemas.microsoft.com/office/drawing/2014/main" id="{C7B8961A-B94A-D843-9BDD-2DC2524C1EC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684690" y="241702"/>
            <a:ext cx="812800" cy="812800"/>
          </a:xfrm>
          <a:prstGeom prst="rect">
            <a:avLst/>
          </a:prstGeom>
        </p:spPr>
      </p:pic>
    </p:spTree>
    <p:extLst>
      <p:ext uri="{BB962C8B-B14F-4D97-AF65-F5344CB8AC3E}">
        <p14:creationId xmlns:p14="http://schemas.microsoft.com/office/powerpoint/2010/main" val="32970062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ver – Navy">
    <p:bg>
      <p:bgRef idx="1001">
        <a:schemeClr val="bg2"/>
      </p:bgRef>
    </p:bg>
    <p:spTree>
      <p:nvGrpSpPr>
        <p:cNvPr id="1" name=""/>
        <p:cNvGrpSpPr/>
        <p:nvPr/>
      </p:nvGrpSpPr>
      <p:grpSpPr>
        <a:xfrm>
          <a:off x="0" y="0"/>
          <a:ext cx="0" cy="0"/>
          <a:chOff x="0" y="0"/>
          <a:chExt cx="0" cy="0"/>
        </a:xfrm>
      </p:grpSpPr>
      <p:sp>
        <p:nvSpPr>
          <p:cNvPr id="2" name="Rectangle 1"/>
          <p:cNvSpPr/>
          <p:nvPr userDrawn="1"/>
        </p:nvSpPr>
        <p:spPr bwMode="auto">
          <a:xfrm>
            <a:off x="0" y="4136994"/>
            <a:ext cx="9144000" cy="1006506"/>
          </a:xfrm>
          <a:prstGeom prst="rect">
            <a:avLst/>
          </a:prstGeom>
          <a:solidFill>
            <a:schemeClr val="bg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15" name="Date Placeholder 4"/>
          <p:cNvSpPr>
            <a:spLocks noGrp="1"/>
          </p:cNvSpPr>
          <p:nvPr>
            <p:ph type="dt" sz="half" idx="2"/>
          </p:nvPr>
        </p:nvSpPr>
        <p:spPr>
          <a:xfrm>
            <a:off x="319200" y="4634178"/>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cs typeface="Arial" panose="020B0604020202020204" pitchFamily="34" charset="0"/>
              </a:defRPr>
            </a:lvl1pPr>
          </a:lstStyle>
          <a:p>
            <a:fld id="{E76EBEE4-9892-574D-BF3F-34A92DB1BEAF}" type="datetime1">
              <a:rPr lang="en-US" smtClean="0"/>
              <a:t>8/19/26</a:t>
            </a:fld>
            <a:endParaRPr lang="en-US" dirty="0"/>
          </a:p>
        </p:txBody>
      </p:sp>
      <p:sp>
        <p:nvSpPr>
          <p:cNvPr id="8" name="Text Placeholder 2"/>
          <p:cNvSpPr>
            <a:spLocks noGrp="1"/>
          </p:cNvSpPr>
          <p:nvPr>
            <p:ph type="body" sz="quarter" idx="10" hasCustomPrompt="1"/>
          </p:nvPr>
        </p:nvSpPr>
        <p:spPr>
          <a:xfrm>
            <a:off x="317595" y="4120016"/>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pic>
        <p:nvPicPr>
          <p:cNvPr id="9" name="Graphic 8">
            <a:extLst>
              <a:ext uri="{FF2B5EF4-FFF2-40B4-BE49-F238E27FC236}">
                <a16:creationId xmlns:a16="http://schemas.microsoft.com/office/drawing/2014/main" id="{E56506E1-BB8B-7045-8D57-C400CDE42A8B}"/>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68552" t="35459" r="2030" b="-21848"/>
          <a:stretch/>
        </p:blipFill>
        <p:spPr>
          <a:xfrm rot="5400000">
            <a:off x="2622550" y="-1377949"/>
            <a:ext cx="5143500" cy="7899400"/>
          </a:xfrm>
          <a:prstGeom prst="rect">
            <a:avLst/>
          </a:prstGeom>
        </p:spPr>
      </p:pic>
      <p:pic>
        <p:nvPicPr>
          <p:cNvPr id="11" name="Picture 10">
            <a:extLst>
              <a:ext uri="{FF2B5EF4-FFF2-40B4-BE49-F238E27FC236}">
                <a16:creationId xmlns:a16="http://schemas.microsoft.com/office/drawing/2014/main" id="{AB461EED-DF40-EF49-BA4F-8A8FD2939BA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35411" y="303864"/>
            <a:ext cx="977866" cy="977866"/>
          </a:xfrm>
          <a:prstGeom prst="rect">
            <a:avLst/>
          </a:prstGeom>
        </p:spPr>
      </p:pic>
      <p:sp>
        <p:nvSpPr>
          <p:cNvPr id="10" name="Title 15">
            <a:extLst>
              <a:ext uri="{FF2B5EF4-FFF2-40B4-BE49-F238E27FC236}">
                <a16:creationId xmlns:a16="http://schemas.microsoft.com/office/drawing/2014/main" id="{65B08227-3138-BB41-8E3C-35CA4778CC1D}"/>
              </a:ext>
            </a:extLst>
          </p:cNvPr>
          <p:cNvSpPr>
            <a:spLocks noGrp="1"/>
          </p:cNvSpPr>
          <p:nvPr>
            <p:ph type="title" hasCustomPrompt="1"/>
          </p:nvPr>
        </p:nvSpPr>
        <p:spPr>
          <a:xfrm>
            <a:off x="337463" y="1418843"/>
            <a:ext cx="6437410" cy="1311963"/>
          </a:xfrm>
        </p:spPr>
        <p:txBody>
          <a:bodyPr anchor="b">
            <a:noAutofit/>
          </a:bodyPr>
          <a:lstStyle>
            <a:lvl1pPr>
              <a:defRPr sz="3600" b="0" i="0" baseline="0">
                <a:solidFill>
                  <a:schemeClr val="tx1"/>
                </a:solidFill>
                <a:latin typeface="+mj-lt"/>
              </a:defRPr>
            </a:lvl1pPr>
          </a:lstStyle>
          <a:p>
            <a:r>
              <a:rPr lang="en-US" dirty="0"/>
              <a:t>Title Here</a:t>
            </a:r>
          </a:p>
        </p:txBody>
      </p:sp>
      <p:sp>
        <p:nvSpPr>
          <p:cNvPr id="12" name="Text Placeholder 3">
            <a:extLst>
              <a:ext uri="{FF2B5EF4-FFF2-40B4-BE49-F238E27FC236}">
                <a16:creationId xmlns:a16="http://schemas.microsoft.com/office/drawing/2014/main" id="{E34A4266-EC7F-FD4B-9C3E-81E7A2295184}"/>
              </a:ext>
            </a:extLst>
          </p:cNvPr>
          <p:cNvSpPr>
            <a:spLocks noGrp="1"/>
          </p:cNvSpPr>
          <p:nvPr>
            <p:ph type="body" sz="quarter" idx="15" hasCustomPrompt="1"/>
          </p:nvPr>
        </p:nvSpPr>
        <p:spPr>
          <a:xfrm>
            <a:off x="341081" y="2816947"/>
            <a:ext cx="6432731"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Tree>
    <p:extLst>
      <p:ext uri="{BB962C8B-B14F-4D97-AF65-F5344CB8AC3E}">
        <p14:creationId xmlns:p14="http://schemas.microsoft.com/office/powerpoint/2010/main" val="19563316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extLst>
    <p:ext uri="{DCECCB84-F9BA-43D5-87BE-67443E8EF086}">
      <p15:sldGuideLst xmlns:p15="http://schemas.microsoft.com/office/powerpoint/2012/main">
        <p15:guide id="1" orient="horz" pos="1620" userDrawn="1">
          <p15:clr>
            <a:srgbClr val="FBAE40"/>
          </p15:clr>
        </p15:guide>
        <p15:guide id="2" pos="264"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over – Navy">
    <p:bg>
      <p:bgPr>
        <a:solidFill>
          <a:schemeClr val="accent1"/>
        </a:solidFill>
        <a:effectLst/>
      </p:bgPr>
    </p:bg>
    <p:spTree>
      <p:nvGrpSpPr>
        <p:cNvPr id="1" name=""/>
        <p:cNvGrpSpPr/>
        <p:nvPr/>
      </p:nvGrpSpPr>
      <p:grpSpPr>
        <a:xfrm>
          <a:off x="0" y="0"/>
          <a:ext cx="0" cy="0"/>
          <a:chOff x="0" y="0"/>
          <a:chExt cx="0" cy="0"/>
        </a:xfrm>
      </p:grpSpPr>
      <p:sp>
        <p:nvSpPr>
          <p:cNvPr id="15" name="Date Placeholder 4"/>
          <p:cNvSpPr>
            <a:spLocks noGrp="1"/>
          </p:cNvSpPr>
          <p:nvPr>
            <p:ph type="dt" sz="half" idx="2"/>
          </p:nvPr>
        </p:nvSpPr>
        <p:spPr>
          <a:xfrm>
            <a:off x="319200" y="4634178"/>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cs typeface="Arial" panose="020B0604020202020204" pitchFamily="34" charset="0"/>
              </a:defRPr>
            </a:lvl1pPr>
          </a:lstStyle>
          <a:p>
            <a:fld id="{98E9279F-0732-2D41-9F31-EB38C1C6965B}" type="datetime1">
              <a:rPr lang="en-US" smtClean="0"/>
              <a:t>8/19/26</a:t>
            </a:fld>
            <a:endParaRPr lang="en-US" dirty="0"/>
          </a:p>
        </p:txBody>
      </p:sp>
      <p:sp>
        <p:nvSpPr>
          <p:cNvPr id="8" name="Text Placeholder 2"/>
          <p:cNvSpPr>
            <a:spLocks noGrp="1"/>
          </p:cNvSpPr>
          <p:nvPr>
            <p:ph type="body" sz="quarter" idx="10" hasCustomPrompt="1"/>
          </p:nvPr>
        </p:nvSpPr>
        <p:spPr>
          <a:xfrm>
            <a:off x="317595" y="4120016"/>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0" name="Title 15">
            <a:extLst>
              <a:ext uri="{FF2B5EF4-FFF2-40B4-BE49-F238E27FC236}">
                <a16:creationId xmlns:a16="http://schemas.microsoft.com/office/drawing/2014/main" id="{65B08227-3138-BB41-8E3C-35CA4778CC1D}"/>
              </a:ext>
            </a:extLst>
          </p:cNvPr>
          <p:cNvSpPr>
            <a:spLocks noGrp="1"/>
          </p:cNvSpPr>
          <p:nvPr>
            <p:ph type="title" hasCustomPrompt="1"/>
          </p:nvPr>
        </p:nvSpPr>
        <p:spPr>
          <a:xfrm>
            <a:off x="337463" y="1418843"/>
            <a:ext cx="6437410" cy="1311963"/>
          </a:xfrm>
        </p:spPr>
        <p:txBody>
          <a:bodyPr anchor="b">
            <a:noAutofit/>
          </a:bodyPr>
          <a:lstStyle>
            <a:lvl1pPr>
              <a:defRPr sz="3600" b="0" i="0" baseline="0">
                <a:solidFill>
                  <a:schemeClr val="tx1"/>
                </a:solidFill>
                <a:latin typeface="+mj-lt"/>
              </a:defRPr>
            </a:lvl1pPr>
          </a:lstStyle>
          <a:p>
            <a:r>
              <a:rPr lang="en-US" dirty="0"/>
              <a:t>Title Here</a:t>
            </a:r>
          </a:p>
        </p:txBody>
      </p:sp>
      <p:sp>
        <p:nvSpPr>
          <p:cNvPr id="12" name="Text Placeholder 3">
            <a:extLst>
              <a:ext uri="{FF2B5EF4-FFF2-40B4-BE49-F238E27FC236}">
                <a16:creationId xmlns:a16="http://schemas.microsoft.com/office/drawing/2014/main" id="{E34A4266-EC7F-FD4B-9C3E-81E7A2295184}"/>
              </a:ext>
            </a:extLst>
          </p:cNvPr>
          <p:cNvSpPr>
            <a:spLocks noGrp="1"/>
          </p:cNvSpPr>
          <p:nvPr>
            <p:ph type="body" sz="quarter" idx="15" hasCustomPrompt="1"/>
          </p:nvPr>
        </p:nvSpPr>
        <p:spPr>
          <a:xfrm>
            <a:off x="341081" y="2816947"/>
            <a:ext cx="6432731"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16" name="Graphic 15">
            <a:extLst>
              <a:ext uri="{FF2B5EF4-FFF2-40B4-BE49-F238E27FC236}">
                <a16:creationId xmlns:a16="http://schemas.microsoft.com/office/drawing/2014/main" id="{29BA6BCF-2F1A-8443-A8DC-13CF462899A6}"/>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60227" t="19283" r="-18229" b="-22843"/>
          <a:stretch/>
        </p:blipFill>
        <p:spPr>
          <a:xfrm rot="5400000">
            <a:off x="2084133" y="-3768025"/>
            <a:ext cx="10362381" cy="9676016"/>
          </a:xfrm>
          <a:prstGeom prst="rect">
            <a:avLst/>
          </a:prstGeom>
        </p:spPr>
      </p:pic>
      <p:pic>
        <p:nvPicPr>
          <p:cNvPr id="9" name="Picture 8">
            <a:extLst>
              <a:ext uri="{FF2B5EF4-FFF2-40B4-BE49-F238E27FC236}">
                <a16:creationId xmlns:a16="http://schemas.microsoft.com/office/drawing/2014/main" id="{F28021FC-6CE9-D549-BE7A-5D94B0888C23}"/>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35411" y="303864"/>
            <a:ext cx="977866" cy="977866"/>
          </a:xfrm>
          <a:prstGeom prst="rect">
            <a:avLst/>
          </a:prstGeom>
        </p:spPr>
      </p:pic>
    </p:spTree>
    <p:extLst>
      <p:ext uri="{BB962C8B-B14F-4D97-AF65-F5344CB8AC3E}">
        <p14:creationId xmlns:p14="http://schemas.microsoft.com/office/powerpoint/2010/main" val="32660650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extLst>
    <p:ext uri="{DCECCB84-F9BA-43D5-87BE-67443E8EF086}">
      <p15:sldGuideLst xmlns:p15="http://schemas.microsoft.com/office/powerpoint/2012/main">
        <p15:guide id="1" orient="horz" pos="1620" userDrawn="1">
          <p15:clr>
            <a:srgbClr val="FBAE40"/>
          </p15:clr>
        </p15:guide>
        <p15:guide id="2" pos="264"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Cover – Navy">
    <p:bg>
      <p:bgPr>
        <a:solidFill>
          <a:schemeClr val="accent2"/>
        </a:solidFill>
        <a:effectLst/>
      </p:bgPr>
    </p:bg>
    <p:spTree>
      <p:nvGrpSpPr>
        <p:cNvPr id="1" name=""/>
        <p:cNvGrpSpPr/>
        <p:nvPr/>
      </p:nvGrpSpPr>
      <p:grpSpPr>
        <a:xfrm>
          <a:off x="0" y="0"/>
          <a:ext cx="0" cy="0"/>
          <a:chOff x="0" y="0"/>
          <a:chExt cx="0" cy="0"/>
        </a:xfrm>
      </p:grpSpPr>
      <p:sp>
        <p:nvSpPr>
          <p:cNvPr id="15" name="Date Placeholder 4"/>
          <p:cNvSpPr>
            <a:spLocks noGrp="1"/>
          </p:cNvSpPr>
          <p:nvPr>
            <p:ph type="dt" sz="half" idx="2"/>
          </p:nvPr>
        </p:nvSpPr>
        <p:spPr>
          <a:xfrm>
            <a:off x="319200" y="4634178"/>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cs typeface="Arial" panose="020B0604020202020204" pitchFamily="34" charset="0"/>
              </a:defRPr>
            </a:lvl1pPr>
          </a:lstStyle>
          <a:p>
            <a:fld id="{574AEBC4-F1C6-964F-B3AF-AF09E45DE715}" type="datetime1">
              <a:rPr lang="en-US" smtClean="0"/>
              <a:t>8/19/26</a:t>
            </a:fld>
            <a:endParaRPr lang="en-US" dirty="0"/>
          </a:p>
        </p:txBody>
      </p:sp>
      <p:sp>
        <p:nvSpPr>
          <p:cNvPr id="8" name="Text Placeholder 2"/>
          <p:cNvSpPr>
            <a:spLocks noGrp="1"/>
          </p:cNvSpPr>
          <p:nvPr>
            <p:ph type="body" sz="quarter" idx="10" hasCustomPrompt="1"/>
          </p:nvPr>
        </p:nvSpPr>
        <p:spPr>
          <a:xfrm>
            <a:off x="317595" y="4120016"/>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0" name="Title 15">
            <a:extLst>
              <a:ext uri="{FF2B5EF4-FFF2-40B4-BE49-F238E27FC236}">
                <a16:creationId xmlns:a16="http://schemas.microsoft.com/office/drawing/2014/main" id="{65B08227-3138-BB41-8E3C-35CA4778CC1D}"/>
              </a:ext>
            </a:extLst>
          </p:cNvPr>
          <p:cNvSpPr>
            <a:spLocks noGrp="1"/>
          </p:cNvSpPr>
          <p:nvPr>
            <p:ph type="title" hasCustomPrompt="1"/>
          </p:nvPr>
        </p:nvSpPr>
        <p:spPr>
          <a:xfrm>
            <a:off x="337463" y="1418843"/>
            <a:ext cx="6437410" cy="1311963"/>
          </a:xfrm>
        </p:spPr>
        <p:txBody>
          <a:bodyPr anchor="b">
            <a:noAutofit/>
          </a:bodyPr>
          <a:lstStyle>
            <a:lvl1pPr>
              <a:defRPr sz="3600" b="0" i="0" baseline="0">
                <a:solidFill>
                  <a:schemeClr val="tx1"/>
                </a:solidFill>
                <a:latin typeface="+mj-lt"/>
              </a:defRPr>
            </a:lvl1pPr>
          </a:lstStyle>
          <a:p>
            <a:r>
              <a:rPr lang="en-US" dirty="0"/>
              <a:t>Title Here</a:t>
            </a:r>
          </a:p>
        </p:txBody>
      </p:sp>
      <p:sp>
        <p:nvSpPr>
          <p:cNvPr id="12" name="Text Placeholder 3">
            <a:extLst>
              <a:ext uri="{FF2B5EF4-FFF2-40B4-BE49-F238E27FC236}">
                <a16:creationId xmlns:a16="http://schemas.microsoft.com/office/drawing/2014/main" id="{E34A4266-EC7F-FD4B-9C3E-81E7A2295184}"/>
              </a:ext>
            </a:extLst>
          </p:cNvPr>
          <p:cNvSpPr>
            <a:spLocks noGrp="1"/>
          </p:cNvSpPr>
          <p:nvPr>
            <p:ph type="body" sz="quarter" idx="15" hasCustomPrompt="1"/>
          </p:nvPr>
        </p:nvSpPr>
        <p:spPr>
          <a:xfrm>
            <a:off x="341081" y="2816947"/>
            <a:ext cx="6432731"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13" name="Picture 12" descr="Background pattern&#10;&#10;Description automatically generated">
            <a:extLst>
              <a:ext uri="{FF2B5EF4-FFF2-40B4-BE49-F238E27FC236}">
                <a16:creationId xmlns:a16="http://schemas.microsoft.com/office/drawing/2014/main" id="{8A9B26ED-91EB-374C-A70F-3562EDE10CB7}"/>
              </a:ext>
            </a:extLst>
          </p:cNvPr>
          <p:cNvPicPr>
            <a:picLocks noChangeAspect="1"/>
          </p:cNvPicPr>
          <p:nvPr userDrawn="1"/>
        </p:nvPicPr>
        <p:blipFill rotWithShape="1">
          <a:blip r:embed="rId2" cstate="screen">
            <a:alphaModFix amt="25000"/>
            <a:extLst>
              <a:ext uri="{28A0092B-C50C-407E-A947-70E740481C1C}">
                <a14:useLocalDpi xmlns:a14="http://schemas.microsoft.com/office/drawing/2010/main"/>
              </a:ext>
            </a:extLst>
          </a:blip>
          <a:srcRect b="-8148"/>
          <a:stretch/>
        </p:blipFill>
        <p:spPr>
          <a:xfrm rot="10800000">
            <a:off x="2413325" y="62568"/>
            <a:ext cx="6730677" cy="1959529"/>
          </a:xfrm>
          <a:prstGeom prst="rect">
            <a:avLst/>
          </a:prstGeom>
        </p:spPr>
      </p:pic>
      <p:pic>
        <p:nvPicPr>
          <p:cNvPr id="9" name="Picture 8">
            <a:extLst>
              <a:ext uri="{FF2B5EF4-FFF2-40B4-BE49-F238E27FC236}">
                <a16:creationId xmlns:a16="http://schemas.microsoft.com/office/drawing/2014/main" id="{F7AD5338-76BD-4C47-9834-F2629B5325E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35411" y="303864"/>
            <a:ext cx="977866" cy="977866"/>
          </a:xfrm>
          <a:prstGeom prst="rect">
            <a:avLst/>
          </a:prstGeom>
        </p:spPr>
      </p:pic>
    </p:spTree>
    <p:extLst>
      <p:ext uri="{BB962C8B-B14F-4D97-AF65-F5344CB8AC3E}">
        <p14:creationId xmlns:p14="http://schemas.microsoft.com/office/powerpoint/2010/main" val="2286180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extLst>
    <p:ext uri="{DCECCB84-F9BA-43D5-87BE-67443E8EF086}">
      <p15:sldGuideLst xmlns:p15="http://schemas.microsoft.com/office/powerpoint/2012/main">
        <p15:guide id="1" orient="horz" pos="1620" userDrawn="1">
          <p15:clr>
            <a:srgbClr val="FBAE40"/>
          </p15:clr>
        </p15:guide>
        <p15:guide id="2" pos="264"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Cover – Navy">
    <p:bg>
      <p:bgPr>
        <a:solidFill>
          <a:schemeClr val="tx2"/>
        </a:solidFill>
        <a:effectLst/>
      </p:bgPr>
    </p:bg>
    <p:spTree>
      <p:nvGrpSpPr>
        <p:cNvPr id="1" name=""/>
        <p:cNvGrpSpPr/>
        <p:nvPr/>
      </p:nvGrpSpPr>
      <p:grpSpPr>
        <a:xfrm>
          <a:off x="0" y="0"/>
          <a:ext cx="0" cy="0"/>
          <a:chOff x="0" y="0"/>
          <a:chExt cx="0" cy="0"/>
        </a:xfrm>
      </p:grpSpPr>
      <p:sp>
        <p:nvSpPr>
          <p:cNvPr id="15" name="Date Placeholder 4"/>
          <p:cNvSpPr>
            <a:spLocks noGrp="1"/>
          </p:cNvSpPr>
          <p:nvPr>
            <p:ph type="dt" sz="half" idx="2"/>
          </p:nvPr>
        </p:nvSpPr>
        <p:spPr>
          <a:xfrm>
            <a:off x="319200" y="4634178"/>
            <a:ext cx="1925338" cy="178955"/>
          </a:xfrm>
          <a:prstGeom prst="rect">
            <a:avLst/>
          </a:prstGeom>
        </p:spPr>
        <p:txBody>
          <a:bodyPr vert="horz" wrap="square" lIns="91440" tIns="0" rIns="91440" bIns="0" rtlCol="0" anchor="b" anchorCtr="0">
            <a:noAutofit/>
          </a:bodyPr>
          <a:lstStyle>
            <a:lvl1pPr algn="l">
              <a:defRPr sz="1200" b="0" i="0">
                <a:solidFill>
                  <a:schemeClr val="bg2"/>
                </a:solidFill>
                <a:latin typeface="Arial" panose="020B0604020202020204" pitchFamily="34" charset="0"/>
                <a:cs typeface="Arial" panose="020B0604020202020204" pitchFamily="34" charset="0"/>
              </a:defRPr>
            </a:lvl1pPr>
          </a:lstStyle>
          <a:p>
            <a:fld id="{44BC1395-2AD9-8C4D-9E13-CE99F3E7EA24}" type="datetime1">
              <a:rPr lang="en-US" smtClean="0"/>
              <a:t>8/19/26</a:t>
            </a:fld>
            <a:endParaRPr lang="en-US" dirty="0"/>
          </a:p>
        </p:txBody>
      </p:sp>
      <p:sp>
        <p:nvSpPr>
          <p:cNvPr id="8" name="Text Placeholder 2"/>
          <p:cNvSpPr>
            <a:spLocks noGrp="1"/>
          </p:cNvSpPr>
          <p:nvPr>
            <p:ph type="body" sz="quarter" idx="10" hasCustomPrompt="1"/>
          </p:nvPr>
        </p:nvSpPr>
        <p:spPr>
          <a:xfrm>
            <a:off x="317595" y="4120016"/>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bg2"/>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0" name="Title 15">
            <a:extLst>
              <a:ext uri="{FF2B5EF4-FFF2-40B4-BE49-F238E27FC236}">
                <a16:creationId xmlns:a16="http://schemas.microsoft.com/office/drawing/2014/main" id="{65B08227-3138-BB41-8E3C-35CA4778CC1D}"/>
              </a:ext>
            </a:extLst>
          </p:cNvPr>
          <p:cNvSpPr>
            <a:spLocks noGrp="1"/>
          </p:cNvSpPr>
          <p:nvPr>
            <p:ph type="title" hasCustomPrompt="1"/>
          </p:nvPr>
        </p:nvSpPr>
        <p:spPr>
          <a:xfrm>
            <a:off x="337463" y="1418843"/>
            <a:ext cx="6437410" cy="1311963"/>
          </a:xfrm>
        </p:spPr>
        <p:txBody>
          <a:bodyPr anchor="b">
            <a:noAutofit/>
          </a:bodyPr>
          <a:lstStyle>
            <a:lvl1pPr>
              <a:defRPr sz="3600" b="0" i="0" baseline="0">
                <a:solidFill>
                  <a:schemeClr val="bg2"/>
                </a:solidFill>
                <a:latin typeface="+mj-lt"/>
              </a:defRPr>
            </a:lvl1pPr>
          </a:lstStyle>
          <a:p>
            <a:r>
              <a:rPr lang="en-US" dirty="0"/>
              <a:t>Title Here</a:t>
            </a:r>
          </a:p>
        </p:txBody>
      </p:sp>
      <p:sp>
        <p:nvSpPr>
          <p:cNvPr id="12" name="Text Placeholder 3">
            <a:extLst>
              <a:ext uri="{FF2B5EF4-FFF2-40B4-BE49-F238E27FC236}">
                <a16:creationId xmlns:a16="http://schemas.microsoft.com/office/drawing/2014/main" id="{E34A4266-EC7F-FD4B-9C3E-81E7A2295184}"/>
              </a:ext>
            </a:extLst>
          </p:cNvPr>
          <p:cNvSpPr>
            <a:spLocks noGrp="1"/>
          </p:cNvSpPr>
          <p:nvPr>
            <p:ph type="body" sz="quarter" idx="15" hasCustomPrompt="1"/>
          </p:nvPr>
        </p:nvSpPr>
        <p:spPr>
          <a:xfrm>
            <a:off x="341081" y="2816947"/>
            <a:ext cx="6432731" cy="508220"/>
          </a:xfrm>
          <a:prstGeom prst="rect">
            <a:avLst/>
          </a:prstGeom>
        </p:spPr>
        <p:txBody>
          <a:bodyPr>
            <a:noAutofit/>
          </a:bodyPr>
          <a:lstStyle>
            <a:lvl1pPr marL="0" indent="0" algn="l">
              <a:lnSpc>
                <a:spcPct val="100000"/>
              </a:lnSpc>
              <a:buNone/>
              <a:defRPr sz="1600" b="0" i="0">
                <a:solidFill>
                  <a:schemeClr val="bg2"/>
                </a:solidFill>
                <a:latin typeface="Arial" panose="020B0604020202020204" pitchFamily="34" charset="0"/>
                <a:ea typeface="Arial"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14" name="Picture 13">
            <a:extLst>
              <a:ext uri="{FF2B5EF4-FFF2-40B4-BE49-F238E27FC236}">
                <a16:creationId xmlns:a16="http://schemas.microsoft.com/office/drawing/2014/main" id="{D478ACD5-01D7-EA49-A1A8-0D5AC50A0B5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99681" y="305870"/>
            <a:ext cx="999731" cy="999459"/>
          </a:xfrm>
          <a:prstGeom prst="rect">
            <a:avLst/>
          </a:prstGeom>
        </p:spPr>
      </p:pic>
      <p:sp>
        <p:nvSpPr>
          <p:cNvPr id="18" name="Freeform 77">
            <a:extLst>
              <a:ext uri="{FF2B5EF4-FFF2-40B4-BE49-F238E27FC236}">
                <a16:creationId xmlns:a16="http://schemas.microsoft.com/office/drawing/2014/main" id="{09D6DA44-3D41-5E45-80B2-97B2B0E76C11}"/>
              </a:ext>
            </a:extLst>
          </p:cNvPr>
          <p:cNvSpPr>
            <a:spLocks/>
          </p:cNvSpPr>
          <p:nvPr userDrawn="1"/>
        </p:nvSpPr>
        <p:spPr bwMode="auto">
          <a:xfrm>
            <a:off x="8393113" y="4800601"/>
            <a:ext cx="481012" cy="231074"/>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sz="1800" b="0" i="0" dirty="0">
              <a:latin typeface="Arial" panose="020B0604020202020204" pitchFamily="34" charset="0"/>
              <a:ea typeface="Arial" panose="02000503000000020004" pitchFamily="2" charset="0"/>
              <a:cs typeface="Arial" panose="020B0604020202020204" pitchFamily="34" charset="0"/>
            </a:endParaRPr>
          </a:p>
        </p:txBody>
      </p:sp>
      <p:pic>
        <p:nvPicPr>
          <p:cNvPr id="2" name="Picture 1">
            <a:extLst>
              <a:ext uri="{FF2B5EF4-FFF2-40B4-BE49-F238E27FC236}">
                <a16:creationId xmlns:a16="http://schemas.microsoft.com/office/drawing/2014/main" id="{504723CD-1F5B-804C-A079-FE3D1017AF2B}"/>
              </a:ext>
            </a:extLst>
          </p:cNvPr>
          <p:cNvPicPr>
            <a:picLocks noChangeAspect="1"/>
          </p:cNvPicPr>
          <p:nvPr userDrawn="1"/>
        </p:nvPicPr>
        <p:blipFill rotWithShape="1">
          <a:blip r:embed="rId3" cstate="screen">
            <a:alphaModFix amt="45000"/>
            <a:extLst>
              <a:ext uri="{28A0092B-C50C-407E-A947-70E740481C1C}">
                <a14:useLocalDpi xmlns:a14="http://schemas.microsoft.com/office/drawing/2010/main"/>
              </a:ext>
            </a:extLst>
          </a:blip>
          <a:srcRect r="32084"/>
          <a:stretch/>
        </p:blipFill>
        <p:spPr>
          <a:xfrm>
            <a:off x="2244538" y="183586"/>
            <a:ext cx="6899462" cy="1686849"/>
          </a:xfrm>
          <a:prstGeom prst="rect">
            <a:avLst/>
          </a:prstGeom>
        </p:spPr>
      </p:pic>
    </p:spTree>
    <p:extLst>
      <p:ext uri="{BB962C8B-B14F-4D97-AF65-F5344CB8AC3E}">
        <p14:creationId xmlns:p14="http://schemas.microsoft.com/office/powerpoint/2010/main" val="251398422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extLst>
    <p:ext uri="{DCECCB84-F9BA-43D5-87BE-67443E8EF086}">
      <p15:sldGuideLst xmlns:p15="http://schemas.microsoft.com/office/powerpoint/2012/main">
        <p15:guide id="1" orient="horz" pos="1620" userDrawn="1">
          <p15:clr>
            <a:srgbClr val="FBAE40"/>
          </p15:clr>
        </p15:guide>
        <p15:guide id="2" pos="264"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ullet Slide-Navy">
    <p:bg>
      <p:bgRef idx="1001">
        <a:schemeClr val="bg2"/>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16" name="Title 15"/>
          <p:cNvSpPr>
            <a:spLocks noGrp="1"/>
          </p:cNvSpPr>
          <p:nvPr>
            <p:ph type="title" hasCustomPrompt="1"/>
          </p:nvPr>
        </p:nvSpPr>
        <p:spPr>
          <a:xfrm>
            <a:off x="453585" y="318751"/>
            <a:ext cx="8173580" cy="458587"/>
          </a:xfrm>
          <a:prstGeom prst="rect">
            <a:avLst/>
          </a:prstGeom>
        </p:spPr>
        <p:txBody>
          <a:bodyPr anchor="b">
            <a:noAutofit/>
          </a:bodyPr>
          <a:lstStyle>
            <a:lvl1pPr>
              <a:defRPr sz="3600" b="0" i="0">
                <a:latin typeface="Arial" panose="02020404030301010803" pitchFamily="18" charset="0"/>
                <a:ea typeface="Arial" panose="02000503000000020004" pitchFamily="2" charset="0"/>
                <a:cs typeface="Arial" panose="020B0604020202020204" pitchFamily="34" charset="0"/>
              </a:defRPr>
            </a:lvl1pPr>
          </a:lstStyle>
          <a:p>
            <a:r>
              <a:rPr lang="en-US" dirty="0"/>
              <a:t>Slide Title Here</a:t>
            </a:r>
          </a:p>
        </p:txBody>
      </p:sp>
      <p:sp>
        <p:nvSpPr>
          <p:cNvPr id="4" name="Text Placeholder 3"/>
          <p:cNvSpPr>
            <a:spLocks noGrp="1"/>
          </p:cNvSpPr>
          <p:nvPr>
            <p:ph type="body" sz="quarter" idx="15" hasCustomPrompt="1"/>
          </p:nvPr>
        </p:nvSpPr>
        <p:spPr>
          <a:xfrm>
            <a:off x="457202" y="695741"/>
            <a:ext cx="8169964" cy="357809"/>
          </a:xfrm>
          <a:prstGeom prst="rect">
            <a:avLst/>
          </a:prstGeom>
        </p:spPr>
        <p:txBody>
          <a:bodyPr>
            <a:noAutofit/>
          </a:bodyPr>
          <a:lstStyle>
            <a:lvl1pPr marL="0" indent="0">
              <a:lnSpc>
                <a:spcPct val="100000"/>
              </a:lnSpc>
              <a:buNone/>
              <a:defRPr sz="1800" b="0" i="0">
                <a:latin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7" name="Text Placeholder 3"/>
          <p:cNvSpPr>
            <a:spLocks noGrp="1"/>
          </p:cNvSpPr>
          <p:nvPr>
            <p:ph idx="1"/>
          </p:nvPr>
        </p:nvSpPr>
        <p:spPr>
          <a:xfrm>
            <a:off x="459685" y="1401417"/>
            <a:ext cx="8137665" cy="2932045"/>
          </a:xfrm>
          <a:prstGeom prst="rect">
            <a:avLst/>
          </a:prstGeom>
        </p:spPr>
        <p:txBody>
          <a:bodyPr vert="horz" lIns="91440" tIns="45720" rIns="91440" bIns="45720" rtlCol="0">
            <a:noAutofit/>
          </a:bodyPr>
          <a:lstStyle>
            <a:lvl1pPr>
              <a:buClr>
                <a:schemeClr val="accent1"/>
              </a:buClr>
              <a:defRPr b="0" i="0"/>
            </a:lvl1pPr>
            <a:lvl2pPr>
              <a:buClr>
                <a:schemeClr val="tx1"/>
              </a:buClr>
              <a:defRPr b="0" i="0"/>
            </a:lvl2pPr>
            <a:lvl3pPr>
              <a:buClr>
                <a:schemeClr val="accent1"/>
              </a:buClr>
              <a:defRPr b="0" i="0"/>
            </a:lvl3pPr>
            <a:lvl4pPr>
              <a:buClr>
                <a:schemeClr val="tx1"/>
              </a:buClr>
              <a:defRPr b="0" i="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2752162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nk Slide – Navy">
    <p:bg>
      <p:bgRef idx="1001">
        <a:schemeClr val="bg2"/>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Tree>
    <p:extLst>
      <p:ext uri="{BB962C8B-B14F-4D97-AF65-F5344CB8AC3E}">
        <p14:creationId xmlns:p14="http://schemas.microsoft.com/office/powerpoint/2010/main" val="13755746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hart Slide – Navy">
    <p:bg>
      <p:bgRef idx="1001">
        <a:schemeClr val="bg2"/>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5" name="Chart Placeholder 2"/>
          <p:cNvSpPr>
            <a:spLocks noGrp="1"/>
          </p:cNvSpPr>
          <p:nvPr>
            <p:ph type="chart" sz="quarter" idx="14"/>
          </p:nvPr>
        </p:nvSpPr>
        <p:spPr>
          <a:xfrm>
            <a:off x="268359" y="352446"/>
            <a:ext cx="8587407" cy="3972812"/>
          </a:xfrm>
          <a:prstGeom prst="rect">
            <a:avLst/>
          </a:prstGeom>
        </p:spPr>
        <p:txBody>
          <a:bodyPr>
            <a:normAutofit/>
          </a:bodyPr>
          <a:lstStyle>
            <a:lvl1pPr marL="0" indent="0">
              <a:buNone/>
              <a:defRPr b="0" i="0"/>
            </a:lvl1pPr>
          </a:lstStyle>
          <a:p>
            <a:r>
              <a:rPr lang="en-US" dirty="0"/>
              <a:t>Click icon to add chart</a:t>
            </a:r>
          </a:p>
        </p:txBody>
      </p:sp>
    </p:spTree>
    <p:extLst>
      <p:ext uri="{BB962C8B-B14F-4D97-AF65-F5344CB8AC3E}">
        <p14:creationId xmlns:p14="http://schemas.microsoft.com/office/powerpoint/2010/main" val="6289266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Column Slide – Navy">
    <p:bg>
      <p:bgRef idx="1001">
        <a:schemeClr val="bg2"/>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11" name="Title 15"/>
          <p:cNvSpPr>
            <a:spLocks noGrp="1"/>
          </p:cNvSpPr>
          <p:nvPr>
            <p:ph type="title" hasCustomPrompt="1"/>
          </p:nvPr>
        </p:nvSpPr>
        <p:spPr>
          <a:xfrm>
            <a:off x="453585" y="318751"/>
            <a:ext cx="8173580" cy="458587"/>
          </a:xfrm>
          <a:prstGeom prst="rect">
            <a:avLst/>
          </a:prstGeom>
        </p:spPr>
        <p:txBody>
          <a:bodyPr anchor="b">
            <a:noAutofit/>
          </a:bodyPr>
          <a:lstStyle>
            <a:lvl1pPr>
              <a:defRPr sz="3600" b="0" i="0">
                <a:latin typeface="Arial" panose="02020404030301010803" pitchFamily="18" charset="0"/>
                <a:ea typeface="Arial" panose="02000503000000020004" pitchFamily="2" charset="0"/>
                <a:cs typeface="Arial" panose="020B0604020202020204" pitchFamily="34" charset="0"/>
              </a:defRPr>
            </a:lvl1pPr>
          </a:lstStyle>
          <a:p>
            <a:r>
              <a:rPr lang="en-US" dirty="0"/>
              <a:t>Slide Title Here</a:t>
            </a:r>
          </a:p>
        </p:txBody>
      </p:sp>
      <p:sp>
        <p:nvSpPr>
          <p:cNvPr id="12" name="Text Placeholder 3"/>
          <p:cNvSpPr>
            <a:spLocks noGrp="1"/>
          </p:cNvSpPr>
          <p:nvPr>
            <p:ph type="body" sz="quarter" idx="15" hasCustomPrompt="1"/>
          </p:nvPr>
        </p:nvSpPr>
        <p:spPr>
          <a:xfrm>
            <a:off x="457202" y="695741"/>
            <a:ext cx="8169964" cy="334897"/>
          </a:xfrm>
          <a:prstGeom prst="rect">
            <a:avLst/>
          </a:prstGeom>
        </p:spPr>
        <p:txBody>
          <a:bodyPr>
            <a:noAutofit/>
          </a:bodyPr>
          <a:lstStyle>
            <a:lvl1pPr marL="0" indent="0">
              <a:lnSpc>
                <a:spcPct val="100000"/>
              </a:lnSpc>
              <a:buNone/>
              <a:defRPr sz="1800" b="0" i="0">
                <a:latin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8" name="Content Placeholder 3"/>
          <p:cNvSpPr>
            <a:spLocks noGrp="1"/>
          </p:cNvSpPr>
          <p:nvPr>
            <p:ph sz="quarter" idx="18" hasCustomPrompt="1"/>
          </p:nvPr>
        </p:nvSpPr>
        <p:spPr>
          <a:xfrm>
            <a:off x="456925" y="1420744"/>
            <a:ext cx="3826840" cy="2853083"/>
          </a:xfrm>
          <a:prstGeom prst="rect">
            <a:avLst/>
          </a:prstGeom>
        </p:spPr>
        <p:txBody>
          <a:bodyPr/>
          <a:lstStyle>
            <a:lvl1pPr>
              <a:defRPr b="0" i="0"/>
            </a:lvl1pPr>
            <a:lvl2pPr>
              <a:buClr>
                <a:schemeClr val="tx1"/>
              </a:buClr>
              <a:defRPr b="0" i="0"/>
            </a:lvl2pPr>
            <a:lvl3pPr>
              <a:defRPr b="0" i="0"/>
            </a:lvl3pPr>
            <a:lvl4pPr>
              <a:buClr>
                <a:schemeClr val="tx1"/>
              </a:buClr>
              <a:defRPr b="0" i="0"/>
            </a:lvl4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9" name="Content Placeholder 3"/>
          <p:cNvSpPr>
            <a:spLocks noGrp="1"/>
          </p:cNvSpPr>
          <p:nvPr>
            <p:ph sz="quarter" idx="19" hasCustomPrompt="1"/>
          </p:nvPr>
        </p:nvSpPr>
        <p:spPr>
          <a:xfrm>
            <a:off x="4790386" y="1420744"/>
            <a:ext cx="3826840" cy="2853083"/>
          </a:xfrm>
          <a:prstGeom prst="rect">
            <a:avLst/>
          </a:prstGeom>
        </p:spPr>
        <p:txBody>
          <a:bodyPr/>
          <a:lstStyle>
            <a:lvl1pPr>
              <a:defRPr b="0" i="0"/>
            </a:lvl1pPr>
            <a:lvl2pPr>
              <a:buClr>
                <a:schemeClr val="tx1"/>
              </a:buClr>
              <a:defRPr b="0" i="0"/>
            </a:lvl2pPr>
            <a:lvl3pPr>
              <a:defRPr b="0" i="0"/>
            </a:lvl3pPr>
            <a:lvl4pPr>
              <a:buClr>
                <a:schemeClr val="tx1"/>
              </a:buClr>
              <a:defRPr b="0" i="0"/>
            </a:lvl4pPr>
          </a:lstStyle>
          <a:p>
            <a:pPr lvl="0"/>
            <a:r>
              <a:rPr lang="en-US" dirty="0"/>
              <a:t>Click to add text</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9488187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ullet Slide-White">
    <p:bg>
      <p:bgRef idx="1001">
        <a:schemeClr val="bg1"/>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7" name="Title 15"/>
          <p:cNvSpPr>
            <a:spLocks noGrp="1"/>
          </p:cNvSpPr>
          <p:nvPr>
            <p:ph type="title" hasCustomPrompt="1"/>
          </p:nvPr>
        </p:nvSpPr>
        <p:spPr>
          <a:xfrm>
            <a:off x="453585" y="318751"/>
            <a:ext cx="8173580" cy="458587"/>
          </a:xfrm>
          <a:prstGeom prst="rect">
            <a:avLst/>
          </a:prstGeom>
        </p:spPr>
        <p:txBody>
          <a:bodyPr anchor="b">
            <a:noAutofit/>
          </a:bodyPr>
          <a:lstStyle>
            <a:lvl1pPr>
              <a:defRPr sz="3600" b="0" i="0">
                <a:latin typeface="Arial" panose="02020404030301010803" pitchFamily="18" charset="0"/>
                <a:ea typeface="Arial" panose="02000503000000020004" pitchFamily="2" charset="0"/>
                <a:cs typeface="Arial" panose="020B0604020202020204" pitchFamily="34" charset="0"/>
              </a:defRPr>
            </a:lvl1pPr>
          </a:lstStyle>
          <a:p>
            <a:r>
              <a:rPr lang="en-US" dirty="0"/>
              <a:t>Slide Title Here</a:t>
            </a:r>
          </a:p>
        </p:txBody>
      </p:sp>
      <p:sp>
        <p:nvSpPr>
          <p:cNvPr id="9" name="Text Placeholder 3"/>
          <p:cNvSpPr>
            <a:spLocks noGrp="1"/>
          </p:cNvSpPr>
          <p:nvPr>
            <p:ph type="body" sz="quarter" idx="15" hasCustomPrompt="1"/>
          </p:nvPr>
        </p:nvSpPr>
        <p:spPr>
          <a:xfrm>
            <a:off x="457202" y="695741"/>
            <a:ext cx="8169964" cy="334897"/>
          </a:xfrm>
          <a:prstGeom prst="rect">
            <a:avLst/>
          </a:prstGeom>
        </p:spPr>
        <p:txBody>
          <a:bodyPr>
            <a:noAutofit/>
          </a:bodyPr>
          <a:lstStyle>
            <a:lvl1pPr marL="0" indent="0">
              <a:lnSpc>
                <a:spcPct val="100000"/>
              </a:lnSpc>
              <a:buNone/>
              <a:defRPr sz="1800" b="0" i="0">
                <a:latin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11" name="Text Placeholder 3"/>
          <p:cNvSpPr>
            <a:spLocks noGrp="1"/>
          </p:cNvSpPr>
          <p:nvPr>
            <p:ph idx="1"/>
          </p:nvPr>
        </p:nvSpPr>
        <p:spPr>
          <a:xfrm>
            <a:off x="459685" y="1401417"/>
            <a:ext cx="8137665" cy="2932045"/>
          </a:xfrm>
          <a:prstGeom prst="rect">
            <a:avLst/>
          </a:prstGeom>
        </p:spPr>
        <p:txBody>
          <a:bodyPr vert="horz" lIns="91440" tIns="45720" rIns="91440" bIns="45720" rtlCol="0">
            <a:noAutofit/>
          </a:bodyPr>
          <a:lstStyle>
            <a:lvl1pPr>
              <a:defRPr b="0" i="0"/>
            </a:lvl1pPr>
            <a:lvl2pPr>
              <a:defRPr b="0" i="0"/>
            </a:lvl2pPr>
            <a:lvl3pPr>
              <a:defRPr b="0" i="0"/>
            </a:lvl3pPr>
            <a:lvl4pPr>
              <a:defRPr b="0" i="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1036582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hart Slide – Whit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6" name="Chart Placeholder 2"/>
          <p:cNvSpPr>
            <a:spLocks noGrp="1"/>
          </p:cNvSpPr>
          <p:nvPr>
            <p:ph type="chart" sz="quarter" idx="14"/>
          </p:nvPr>
        </p:nvSpPr>
        <p:spPr>
          <a:xfrm>
            <a:off x="268359" y="352446"/>
            <a:ext cx="8587407" cy="3972812"/>
          </a:xfrm>
          <a:prstGeom prst="rect">
            <a:avLst/>
          </a:prstGeom>
        </p:spPr>
        <p:txBody>
          <a:bodyPr>
            <a:normAutofit/>
          </a:bodyPr>
          <a:lstStyle>
            <a:lvl1pPr marL="0" indent="0">
              <a:buNone/>
              <a:defRPr b="0" i="0"/>
            </a:lvl1pPr>
          </a:lstStyle>
          <a:p>
            <a:r>
              <a:rPr lang="en-US" dirty="0"/>
              <a:t>Click icon to add chart</a:t>
            </a:r>
          </a:p>
        </p:txBody>
      </p:sp>
    </p:spTree>
    <p:extLst>
      <p:ext uri="{BB962C8B-B14F-4D97-AF65-F5344CB8AC3E}">
        <p14:creationId xmlns:p14="http://schemas.microsoft.com/office/powerpoint/2010/main" val="12209036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Column Slide – Whit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11" name="Title 15"/>
          <p:cNvSpPr>
            <a:spLocks noGrp="1"/>
          </p:cNvSpPr>
          <p:nvPr>
            <p:ph type="title" hasCustomPrompt="1"/>
          </p:nvPr>
        </p:nvSpPr>
        <p:spPr>
          <a:xfrm>
            <a:off x="453585" y="318751"/>
            <a:ext cx="8173580" cy="458587"/>
          </a:xfrm>
          <a:prstGeom prst="rect">
            <a:avLst/>
          </a:prstGeom>
        </p:spPr>
        <p:txBody>
          <a:bodyPr anchor="b">
            <a:noAutofit/>
          </a:bodyPr>
          <a:lstStyle>
            <a:lvl1pPr>
              <a:defRPr sz="3600" b="0" i="0">
                <a:latin typeface="Arial" panose="02020404030301010803" pitchFamily="18" charset="0"/>
                <a:ea typeface="Arial" panose="02000503000000020004" pitchFamily="2" charset="0"/>
                <a:cs typeface="Arial" panose="020B0604020202020204" pitchFamily="34" charset="0"/>
              </a:defRPr>
            </a:lvl1pPr>
          </a:lstStyle>
          <a:p>
            <a:r>
              <a:rPr lang="en-US" dirty="0"/>
              <a:t>Slide Title Here</a:t>
            </a:r>
          </a:p>
        </p:txBody>
      </p:sp>
      <p:sp>
        <p:nvSpPr>
          <p:cNvPr id="12" name="Text Placeholder 3"/>
          <p:cNvSpPr>
            <a:spLocks noGrp="1"/>
          </p:cNvSpPr>
          <p:nvPr>
            <p:ph type="body" sz="quarter" idx="15" hasCustomPrompt="1"/>
          </p:nvPr>
        </p:nvSpPr>
        <p:spPr>
          <a:xfrm>
            <a:off x="457202" y="695741"/>
            <a:ext cx="8169964" cy="334897"/>
          </a:xfrm>
          <a:prstGeom prst="rect">
            <a:avLst/>
          </a:prstGeom>
        </p:spPr>
        <p:txBody>
          <a:bodyPr>
            <a:noAutofit/>
          </a:bodyPr>
          <a:lstStyle>
            <a:lvl1pPr marL="0" indent="0">
              <a:lnSpc>
                <a:spcPct val="100000"/>
              </a:lnSpc>
              <a:buNone/>
              <a:defRPr sz="1800" b="0" i="0">
                <a:latin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8" name="Content Placeholder 3"/>
          <p:cNvSpPr>
            <a:spLocks noGrp="1"/>
          </p:cNvSpPr>
          <p:nvPr>
            <p:ph sz="quarter" idx="18" hasCustomPrompt="1"/>
          </p:nvPr>
        </p:nvSpPr>
        <p:spPr>
          <a:xfrm>
            <a:off x="456925" y="1420744"/>
            <a:ext cx="3826840" cy="2853083"/>
          </a:xfrm>
          <a:prstGeom prst="rect">
            <a:avLst/>
          </a:prstGeom>
        </p:spPr>
        <p:txBody>
          <a:bodyPr/>
          <a:lstStyle>
            <a:lvl1pPr>
              <a:buClr>
                <a:schemeClr val="accent1"/>
              </a:buClr>
              <a:defRPr b="0" i="0"/>
            </a:lvl1pPr>
            <a:lvl2pPr>
              <a:buClr>
                <a:schemeClr val="accent1"/>
              </a:buClr>
              <a:defRPr b="0" i="0"/>
            </a:lvl2pPr>
            <a:lvl3pPr>
              <a:buClr>
                <a:schemeClr val="accent1"/>
              </a:buClr>
              <a:defRPr b="0" i="0"/>
            </a:lvl3pPr>
            <a:lvl4pPr>
              <a:buClr>
                <a:schemeClr val="accent1"/>
              </a:buClr>
              <a:defRPr b="0" i="0"/>
            </a:lvl4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9" name="Content Placeholder 3"/>
          <p:cNvSpPr>
            <a:spLocks noGrp="1"/>
          </p:cNvSpPr>
          <p:nvPr>
            <p:ph sz="quarter" idx="19" hasCustomPrompt="1"/>
          </p:nvPr>
        </p:nvSpPr>
        <p:spPr>
          <a:xfrm>
            <a:off x="4790386" y="1420744"/>
            <a:ext cx="3826840" cy="2853083"/>
          </a:xfrm>
          <a:prstGeom prst="rect">
            <a:avLst/>
          </a:prstGeom>
        </p:spPr>
        <p:txBody>
          <a:bodyPr/>
          <a:lstStyle>
            <a:lvl1pPr>
              <a:buClr>
                <a:schemeClr val="accent1"/>
              </a:buClr>
              <a:defRPr b="0" i="0"/>
            </a:lvl1pPr>
            <a:lvl2pPr>
              <a:buClr>
                <a:schemeClr val="accent1"/>
              </a:buClr>
              <a:defRPr b="0" i="0"/>
            </a:lvl2pPr>
            <a:lvl3pPr>
              <a:buClr>
                <a:schemeClr val="accent1"/>
              </a:buClr>
              <a:defRPr b="0" i="0"/>
            </a:lvl3pPr>
            <a:lvl4pPr>
              <a:buClr>
                <a:schemeClr val="accent1"/>
              </a:buClr>
              <a:defRPr b="0" i="0"/>
            </a:lvl4pPr>
          </a:lstStyle>
          <a:p>
            <a:pPr lvl="0"/>
            <a:r>
              <a:rPr lang="en-US" dirty="0"/>
              <a:t>Click to add text</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8979278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ote Slide – Blue">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dirty="0"/>
          </a:p>
        </p:txBody>
      </p:sp>
      <p:sp>
        <p:nvSpPr>
          <p:cNvPr id="9" name="Text Placeholder 8"/>
          <p:cNvSpPr>
            <a:spLocks noGrp="1"/>
          </p:cNvSpPr>
          <p:nvPr>
            <p:ph type="body" sz="quarter" idx="13" hasCustomPrompt="1"/>
          </p:nvPr>
        </p:nvSpPr>
        <p:spPr>
          <a:xfrm>
            <a:off x="437601" y="1431236"/>
            <a:ext cx="8229323" cy="2107096"/>
          </a:xfrm>
          <a:prstGeom prst="rect">
            <a:avLst/>
          </a:prstGeom>
        </p:spPr>
        <p:txBody>
          <a:bodyPr anchor="ctr" anchorCtr="0">
            <a:normAutofit/>
          </a:bodyPr>
          <a:lstStyle>
            <a:lvl1pPr marL="0" indent="0">
              <a:lnSpc>
                <a:spcPct val="100000"/>
              </a:lnSpc>
              <a:buNone/>
              <a:defRPr sz="2800" b="0" i="0" baseline="0">
                <a:latin typeface="Arial" panose="020B0604020202020204" pitchFamily="34" charset="0"/>
                <a:ea typeface="Arial" panose="02000503000000020004" pitchFamily="2" charset="0"/>
                <a:cs typeface="Arial" panose="020B0604020202020204" pitchFamily="34" charset="0"/>
              </a:defRPr>
            </a:lvl1pPr>
            <a:lvl2pPr marL="230181" indent="0">
              <a:buNone/>
              <a:defRPr>
                <a:latin typeface="+mn-lt"/>
              </a:defRPr>
            </a:lvl2pPr>
            <a:lvl3pPr marL="515924" indent="0">
              <a:buNone/>
              <a:defRPr>
                <a:latin typeface="+mn-lt"/>
              </a:defRPr>
            </a:lvl3pPr>
            <a:lvl4pPr marL="800080" indent="0">
              <a:buNone/>
              <a:defRPr>
                <a:latin typeface="+mn-lt"/>
              </a:defRPr>
            </a:lvl4pPr>
            <a:lvl5pPr marL="1085823" indent="0">
              <a:buNone/>
              <a:defRPr>
                <a:latin typeface="+mn-lt"/>
              </a:defRPr>
            </a:lvl5pPr>
          </a:lstStyle>
          <a:p>
            <a:pPr lvl="0"/>
            <a:r>
              <a:rPr lang="en-US" dirty="0"/>
              <a:t>This page is an option should you wish to utilize a quote as a stand-alone slide within your presentation. The rest is </a:t>
            </a:r>
            <a:r>
              <a:rPr lang="en-US" dirty="0" err="1"/>
              <a:t>lorem</a:t>
            </a:r>
            <a:r>
              <a:rPr lang="en-US" dirty="0"/>
              <a:t> </a:t>
            </a:r>
            <a:r>
              <a:rPr lang="en-US" dirty="0" err="1"/>
              <a:t>ipsum</a:t>
            </a:r>
            <a:r>
              <a:rPr lang="en-US" dirty="0"/>
              <a:t>. </a:t>
            </a:r>
            <a:r>
              <a:rPr lang="en-US" dirty="0" err="1"/>
              <a:t>Ut</a:t>
            </a:r>
            <a:r>
              <a:rPr lang="en-US" dirty="0"/>
              <a:t> </a:t>
            </a:r>
            <a:r>
              <a:rPr lang="en-US" dirty="0" err="1"/>
              <a:t>enim</a:t>
            </a:r>
            <a:r>
              <a:rPr lang="en-US" dirty="0"/>
              <a:t> ad minim </a:t>
            </a:r>
            <a:r>
              <a:rPr lang="en-US" dirty="0" err="1"/>
              <a:t>quis</a:t>
            </a:r>
            <a:r>
              <a:rPr lang="en-US" dirty="0"/>
              <a:t> </a:t>
            </a:r>
            <a:r>
              <a:rPr lang="en-US" dirty="0" err="1"/>
              <a:t>nostrud</a:t>
            </a:r>
            <a:r>
              <a:rPr lang="en-US" dirty="0"/>
              <a:t>.</a:t>
            </a:r>
          </a:p>
        </p:txBody>
      </p:sp>
      <p:sp>
        <p:nvSpPr>
          <p:cNvPr id="10" name="Text Placeholder 13"/>
          <p:cNvSpPr>
            <a:spLocks noGrp="1"/>
          </p:cNvSpPr>
          <p:nvPr>
            <p:ph type="body" sz="quarter" idx="14" hasCustomPrompt="1"/>
          </p:nvPr>
        </p:nvSpPr>
        <p:spPr>
          <a:xfrm>
            <a:off x="447674" y="3696829"/>
            <a:ext cx="6513958" cy="430429"/>
          </a:xfrm>
          <a:prstGeom prst="rect">
            <a:avLst/>
          </a:prstGeom>
        </p:spPr>
        <p:txBody>
          <a:bodyPr>
            <a:normAutofit/>
          </a:bodyPr>
          <a:lstStyle>
            <a:lvl1pPr marL="0" indent="0">
              <a:lnSpc>
                <a:spcPct val="100000"/>
              </a:lnSpc>
              <a:buNone/>
              <a:defRPr sz="1800" b="0" i="0">
                <a:solidFill>
                  <a:schemeClr val="accent1"/>
                </a:solidFill>
                <a:latin typeface="Arial" panose="020B0604020202020204" pitchFamily="34" charset="0"/>
              </a:defRPr>
            </a:lvl1pPr>
          </a:lstStyle>
          <a:p>
            <a:pPr lvl="0"/>
            <a:r>
              <a:rPr lang="en-US" dirty="0"/>
              <a:t>Author’s Name</a:t>
            </a:r>
          </a:p>
        </p:txBody>
      </p:sp>
      <p:sp>
        <p:nvSpPr>
          <p:cNvPr id="13" name="Rectangle 12"/>
          <p:cNvSpPr/>
          <p:nvPr userDrawn="1"/>
        </p:nvSpPr>
        <p:spPr bwMode="auto">
          <a:xfrm>
            <a:off x="496956" y="2"/>
            <a:ext cx="1073426" cy="1182754"/>
          </a:xfrm>
          <a:prstGeom prst="rect">
            <a:avLst/>
          </a:prstGeom>
          <a:solidFill>
            <a:schemeClr val="accent1"/>
          </a:solidFill>
          <a:ln w="19050" algn="ctr">
            <a:noFill/>
            <a:miter lim="800000"/>
            <a:headEnd/>
            <a:tailEnd/>
          </a:ln>
        </p:spPr>
        <p:txBody>
          <a:bodyPr wrap="none" rtlCol="0" anchor="ctr"/>
          <a:lstStyle/>
          <a:p>
            <a:pPr algn="ctr">
              <a:lnSpc>
                <a:spcPct val="90000"/>
              </a:lnSpc>
            </a:pPr>
            <a:endParaRPr lang="en-US" sz="1600" b="0" i="0" dirty="0" err="1">
              <a:solidFill>
                <a:srgbClr val="90BD31"/>
              </a:solidFill>
              <a:latin typeface="Arial" panose="020B0604020202020204" pitchFamily="34" charset="0"/>
            </a:endParaRPr>
          </a:p>
        </p:txBody>
      </p:sp>
      <p:sp>
        <p:nvSpPr>
          <p:cNvPr id="12" name="TextBox 11"/>
          <p:cNvSpPr txBox="1"/>
          <p:nvPr userDrawn="1"/>
        </p:nvSpPr>
        <p:spPr bwMode="auto">
          <a:xfrm>
            <a:off x="434629" y="0"/>
            <a:ext cx="1192695" cy="2123658"/>
          </a:xfrm>
          <a:prstGeom prst="rect">
            <a:avLst/>
          </a:prstGeom>
          <a:noFill/>
          <a:ln w="19050" algn="ctr">
            <a:noFill/>
            <a:miter lim="800000"/>
            <a:headEnd/>
            <a:tailEnd/>
          </a:ln>
        </p:spPr>
        <p:txBody>
          <a:bodyPr wrap="square" lIns="0" tIns="0" rIns="0" bIns="0" rtlCol="0" anchor="ctr">
            <a:spAutoFit/>
          </a:bodyPr>
          <a:lstStyle/>
          <a:p>
            <a:pPr algn="ctr"/>
            <a:r>
              <a:rPr lang="en-US" sz="13800" b="0" i="0" dirty="0">
                <a:solidFill>
                  <a:schemeClr val="bg2"/>
                </a:solidFill>
                <a:latin typeface="Arial" panose="020B0604020202020204" pitchFamily="34" charset="0"/>
              </a:rPr>
              <a:t>“</a:t>
            </a:r>
          </a:p>
        </p:txBody>
      </p:sp>
      <p:sp>
        <p:nvSpPr>
          <p:cNvPr id="11" name="Text Placeholder 13"/>
          <p:cNvSpPr>
            <a:spLocks noGrp="1"/>
          </p:cNvSpPr>
          <p:nvPr>
            <p:ph type="body" sz="quarter" idx="15" hasCustomPrompt="1"/>
          </p:nvPr>
        </p:nvSpPr>
        <p:spPr>
          <a:xfrm>
            <a:off x="447674" y="3980953"/>
            <a:ext cx="6513958" cy="440937"/>
          </a:xfrm>
          <a:prstGeom prst="rect">
            <a:avLst/>
          </a:prstGeom>
        </p:spPr>
        <p:txBody>
          <a:bodyPr>
            <a:normAutofit/>
          </a:bodyPr>
          <a:lstStyle>
            <a:lvl1pPr marL="0" indent="0">
              <a:lnSpc>
                <a:spcPts val="2000"/>
              </a:lnSpc>
              <a:buNone/>
              <a:defRPr sz="1800" b="0" i="0" baseline="0">
                <a:solidFill>
                  <a:schemeClr val="accent1"/>
                </a:solidFill>
                <a:latin typeface="Arial" panose="020B0604020202020204" pitchFamily="34" charset="0"/>
              </a:defRPr>
            </a:lvl1pPr>
          </a:lstStyle>
          <a:p>
            <a:pPr lvl="0"/>
            <a:r>
              <a:rPr lang="en-US" dirty="0"/>
              <a:t>Position Title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Quote Slide – Teal">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dirty="0"/>
          </a:p>
        </p:txBody>
      </p:sp>
      <p:sp>
        <p:nvSpPr>
          <p:cNvPr id="9" name="Text Placeholder 8"/>
          <p:cNvSpPr>
            <a:spLocks noGrp="1"/>
          </p:cNvSpPr>
          <p:nvPr>
            <p:ph type="body" sz="quarter" idx="13" hasCustomPrompt="1"/>
          </p:nvPr>
        </p:nvSpPr>
        <p:spPr>
          <a:xfrm>
            <a:off x="437601" y="1431236"/>
            <a:ext cx="8229323" cy="2107096"/>
          </a:xfrm>
          <a:prstGeom prst="rect">
            <a:avLst/>
          </a:prstGeom>
        </p:spPr>
        <p:txBody>
          <a:bodyPr anchor="ctr" anchorCtr="0">
            <a:normAutofit/>
          </a:bodyPr>
          <a:lstStyle>
            <a:lvl1pPr marL="0" indent="0">
              <a:lnSpc>
                <a:spcPct val="100000"/>
              </a:lnSpc>
              <a:buNone/>
              <a:defRPr sz="2800" b="0" i="0" baseline="0">
                <a:latin typeface="Arial" panose="020B0604020202020204" pitchFamily="34" charset="0"/>
                <a:ea typeface="Arial" panose="02000503000000020004" pitchFamily="2" charset="0"/>
                <a:cs typeface="Arial" panose="020B0604020202020204" pitchFamily="34" charset="0"/>
              </a:defRPr>
            </a:lvl1pPr>
            <a:lvl2pPr marL="230181" indent="0">
              <a:buNone/>
              <a:defRPr>
                <a:latin typeface="+mn-lt"/>
              </a:defRPr>
            </a:lvl2pPr>
            <a:lvl3pPr marL="515924" indent="0">
              <a:buNone/>
              <a:defRPr>
                <a:latin typeface="+mn-lt"/>
              </a:defRPr>
            </a:lvl3pPr>
            <a:lvl4pPr marL="800080" indent="0">
              <a:buNone/>
              <a:defRPr>
                <a:latin typeface="+mn-lt"/>
              </a:defRPr>
            </a:lvl4pPr>
            <a:lvl5pPr marL="1085823" indent="0">
              <a:buNone/>
              <a:defRPr>
                <a:latin typeface="+mn-lt"/>
              </a:defRPr>
            </a:lvl5pPr>
          </a:lstStyle>
          <a:p>
            <a:pPr lvl="0"/>
            <a:r>
              <a:rPr lang="en-US" dirty="0"/>
              <a:t>This page is an option should you wish to utilize a quote as a stand-alone slide within your presentation. The rest is </a:t>
            </a:r>
            <a:r>
              <a:rPr lang="en-US" dirty="0" err="1"/>
              <a:t>lorem</a:t>
            </a:r>
            <a:r>
              <a:rPr lang="en-US" dirty="0"/>
              <a:t> </a:t>
            </a:r>
            <a:r>
              <a:rPr lang="en-US" dirty="0" err="1"/>
              <a:t>ipsum</a:t>
            </a:r>
            <a:r>
              <a:rPr lang="en-US" dirty="0"/>
              <a:t>. </a:t>
            </a:r>
            <a:r>
              <a:rPr lang="en-US" dirty="0" err="1"/>
              <a:t>Ut</a:t>
            </a:r>
            <a:r>
              <a:rPr lang="en-US" dirty="0"/>
              <a:t> </a:t>
            </a:r>
            <a:r>
              <a:rPr lang="en-US" dirty="0" err="1"/>
              <a:t>enim</a:t>
            </a:r>
            <a:r>
              <a:rPr lang="en-US" dirty="0"/>
              <a:t> ad minim </a:t>
            </a:r>
            <a:r>
              <a:rPr lang="en-US" dirty="0" err="1"/>
              <a:t>quis</a:t>
            </a:r>
            <a:r>
              <a:rPr lang="en-US" dirty="0"/>
              <a:t> </a:t>
            </a:r>
            <a:r>
              <a:rPr lang="en-US" dirty="0" err="1"/>
              <a:t>nostrud</a:t>
            </a:r>
            <a:r>
              <a:rPr lang="en-US" dirty="0"/>
              <a:t>.</a:t>
            </a:r>
          </a:p>
        </p:txBody>
      </p:sp>
      <p:sp>
        <p:nvSpPr>
          <p:cNvPr id="13" name="Rectangle 12"/>
          <p:cNvSpPr/>
          <p:nvPr userDrawn="1"/>
        </p:nvSpPr>
        <p:spPr bwMode="auto">
          <a:xfrm>
            <a:off x="496956" y="2"/>
            <a:ext cx="1073426" cy="1182754"/>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1600" b="0" i="0" dirty="0" err="1">
              <a:solidFill>
                <a:srgbClr val="90BD31"/>
              </a:solidFill>
              <a:latin typeface="Arial" panose="020B0604020202020204" pitchFamily="34" charset="0"/>
            </a:endParaRPr>
          </a:p>
        </p:txBody>
      </p:sp>
      <p:sp>
        <p:nvSpPr>
          <p:cNvPr id="12" name="TextBox 11"/>
          <p:cNvSpPr txBox="1"/>
          <p:nvPr userDrawn="1"/>
        </p:nvSpPr>
        <p:spPr bwMode="auto">
          <a:xfrm>
            <a:off x="434629" y="0"/>
            <a:ext cx="1192695" cy="2123658"/>
          </a:xfrm>
          <a:prstGeom prst="rect">
            <a:avLst/>
          </a:prstGeom>
          <a:noFill/>
          <a:ln w="19050" algn="ctr">
            <a:noFill/>
            <a:miter lim="800000"/>
            <a:headEnd/>
            <a:tailEnd/>
          </a:ln>
        </p:spPr>
        <p:txBody>
          <a:bodyPr wrap="square" lIns="0" tIns="0" rIns="0" bIns="0" rtlCol="0" anchor="ctr">
            <a:spAutoFit/>
          </a:bodyPr>
          <a:lstStyle/>
          <a:p>
            <a:pPr algn="ctr"/>
            <a:r>
              <a:rPr lang="en-US" sz="13800" b="0" i="0" dirty="0">
                <a:solidFill>
                  <a:schemeClr val="bg2"/>
                </a:solidFill>
                <a:latin typeface="Arial" panose="020B0604020202020204" pitchFamily="34" charset="0"/>
              </a:rPr>
              <a:t>“</a:t>
            </a:r>
          </a:p>
        </p:txBody>
      </p:sp>
      <p:sp>
        <p:nvSpPr>
          <p:cNvPr id="10" name="Text Placeholder 13"/>
          <p:cNvSpPr>
            <a:spLocks noGrp="1"/>
          </p:cNvSpPr>
          <p:nvPr>
            <p:ph type="body" sz="quarter" idx="14" hasCustomPrompt="1"/>
          </p:nvPr>
        </p:nvSpPr>
        <p:spPr>
          <a:xfrm>
            <a:off x="447674" y="3696829"/>
            <a:ext cx="6513958" cy="430429"/>
          </a:xfrm>
          <a:prstGeom prst="rect">
            <a:avLst/>
          </a:prstGeom>
        </p:spPr>
        <p:txBody>
          <a:bodyPr>
            <a:normAutofit/>
          </a:bodyPr>
          <a:lstStyle>
            <a:lvl1pPr marL="0" indent="0">
              <a:lnSpc>
                <a:spcPct val="100000"/>
              </a:lnSpc>
              <a:buNone/>
              <a:defRPr sz="1800" b="0" i="0">
                <a:solidFill>
                  <a:schemeClr val="accent2"/>
                </a:solidFill>
                <a:latin typeface="Arial" panose="020B0604020202020204" pitchFamily="34" charset="0"/>
              </a:defRPr>
            </a:lvl1pPr>
          </a:lstStyle>
          <a:p>
            <a:pPr lvl="0"/>
            <a:r>
              <a:rPr lang="en-US" dirty="0"/>
              <a:t>Author’s Name</a:t>
            </a:r>
          </a:p>
        </p:txBody>
      </p:sp>
      <p:sp>
        <p:nvSpPr>
          <p:cNvPr id="11" name="Text Placeholder 13"/>
          <p:cNvSpPr>
            <a:spLocks noGrp="1"/>
          </p:cNvSpPr>
          <p:nvPr>
            <p:ph type="body" sz="quarter" idx="15" hasCustomPrompt="1"/>
          </p:nvPr>
        </p:nvSpPr>
        <p:spPr>
          <a:xfrm>
            <a:off x="447674" y="3980953"/>
            <a:ext cx="6513958" cy="440937"/>
          </a:xfrm>
          <a:prstGeom prst="rect">
            <a:avLst/>
          </a:prstGeom>
        </p:spPr>
        <p:txBody>
          <a:bodyPr>
            <a:normAutofit/>
          </a:bodyPr>
          <a:lstStyle>
            <a:lvl1pPr marL="0" indent="0">
              <a:lnSpc>
                <a:spcPts val="2000"/>
              </a:lnSpc>
              <a:buNone/>
              <a:defRPr sz="1800" b="0" i="0" baseline="0">
                <a:solidFill>
                  <a:schemeClr val="accent2"/>
                </a:solidFill>
                <a:latin typeface="Arial" panose="020B0604020202020204" pitchFamily="34" charset="0"/>
              </a:defRPr>
            </a:lvl1pPr>
          </a:lstStyle>
          <a:p>
            <a:pPr lvl="0"/>
            <a:r>
              <a:rPr lang="en-US" dirty="0"/>
              <a:t>Position Title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Quote Slide – Green">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dirty="0"/>
          </a:p>
        </p:txBody>
      </p:sp>
      <p:sp>
        <p:nvSpPr>
          <p:cNvPr id="9" name="Text Placeholder 8"/>
          <p:cNvSpPr>
            <a:spLocks noGrp="1"/>
          </p:cNvSpPr>
          <p:nvPr>
            <p:ph type="body" sz="quarter" idx="13" hasCustomPrompt="1"/>
          </p:nvPr>
        </p:nvSpPr>
        <p:spPr>
          <a:xfrm>
            <a:off x="437601" y="1431236"/>
            <a:ext cx="8229323" cy="2107096"/>
          </a:xfrm>
          <a:prstGeom prst="rect">
            <a:avLst/>
          </a:prstGeom>
        </p:spPr>
        <p:txBody>
          <a:bodyPr anchor="ctr" anchorCtr="0">
            <a:normAutofit/>
          </a:bodyPr>
          <a:lstStyle>
            <a:lvl1pPr marL="0" indent="0">
              <a:lnSpc>
                <a:spcPct val="100000"/>
              </a:lnSpc>
              <a:buNone/>
              <a:defRPr sz="2800" b="0" i="0" baseline="0">
                <a:latin typeface="Arial" panose="020B0604020202020204" pitchFamily="34" charset="0"/>
                <a:ea typeface="Arial" panose="02000503000000020004" pitchFamily="2" charset="0"/>
                <a:cs typeface="Arial" panose="020B0604020202020204" pitchFamily="34" charset="0"/>
              </a:defRPr>
            </a:lvl1pPr>
            <a:lvl2pPr marL="230181" indent="0">
              <a:buNone/>
              <a:defRPr>
                <a:latin typeface="+mn-lt"/>
              </a:defRPr>
            </a:lvl2pPr>
            <a:lvl3pPr marL="515924" indent="0">
              <a:buNone/>
              <a:defRPr>
                <a:latin typeface="+mn-lt"/>
              </a:defRPr>
            </a:lvl3pPr>
            <a:lvl4pPr marL="800080" indent="0">
              <a:buNone/>
              <a:defRPr>
                <a:latin typeface="+mn-lt"/>
              </a:defRPr>
            </a:lvl4pPr>
            <a:lvl5pPr marL="1085823" indent="0">
              <a:buNone/>
              <a:defRPr>
                <a:latin typeface="+mn-lt"/>
              </a:defRPr>
            </a:lvl5pPr>
          </a:lstStyle>
          <a:p>
            <a:pPr lvl="0"/>
            <a:r>
              <a:rPr lang="en-US" dirty="0"/>
              <a:t>This page is an option should you wish to utilize a quote as a stand-alone slide within your presentation. The rest is </a:t>
            </a:r>
            <a:r>
              <a:rPr lang="en-US" dirty="0" err="1"/>
              <a:t>lorem</a:t>
            </a:r>
            <a:r>
              <a:rPr lang="en-US" dirty="0"/>
              <a:t> </a:t>
            </a:r>
            <a:r>
              <a:rPr lang="en-US" dirty="0" err="1"/>
              <a:t>ipsum</a:t>
            </a:r>
            <a:r>
              <a:rPr lang="en-US" dirty="0"/>
              <a:t>. </a:t>
            </a:r>
            <a:r>
              <a:rPr lang="en-US" dirty="0" err="1"/>
              <a:t>Ut</a:t>
            </a:r>
            <a:r>
              <a:rPr lang="en-US" dirty="0"/>
              <a:t> </a:t>
            </a:r>
            <a:r>
              <a:rPr lang="en-US" dirty="0" err="1"/>
              <a:t>enim</a:t>
            </a:r>
            <a:r>
              <a:rPr lang="en-US" dirty="0"/>
              <a:t> ad minim </a:t>
            </a:r>
            <a:r>
              <a:rPr lang="en-US" dirty="0" err="1"/>
              <a:t>quis</a:t>
            </a:r>
            <a:r>
              <a:rPr lang="en-US" dirty="0"/>
              <a:t> </a:t>
            </a:r>
            <a:r>
              <a:rPr lang="en-US" dirty="0" err="1"/>
              <a:t>nostrud</a:t>
            </a:r>
            <a:r>
              <a:rPr lang="en-US" dirty="0"/>
              <a:t>.</a:t>
            </a:r>
          </a:p>
        </p:txBody>
      </p:sp>
      <p:sp>
        <p:nvSpPr>
          <p:cNvPr id="13" name="Rectangle 12"/>
          <p:cNvSpPr/>
          <p:nvPr userDrawn="1"/>
        </p:nvSpPr>
        <p:spPr bwMode="auto">
          <a:xfrm>
            <a:off x="496956" y="2"/>
            <a:ext cx="1073426" cy="1182754"/>
          </a:xfrm>
          <a:prstGeom prst="rect">
            <a:avLst/>
          </a:prstGeom>
          <a:solidFill>
            <a:schemeClr val="accent3"/>
          </a:solidFill>
          <a:ln w="19050" algn="ctr">
            <a:noFill/>
            <a:miter lim="800000"/>
            <a:headEnd/>
            <a:tailEnd/>
          </a:ln>
        </p:spPr>
        <p:txBody>
          <a:bodyPr wrap="none" rtlCol="0" anchor="ctr"/>
          <a:lstStyle/>
          <a:p>
            <a:pPr algn="ctr">
              <a:lnSpc>
                <a:spcPct val="90000"/>
              </a:lnSpc>
            </a:pPr>
            <a:endParaRPr lang="en-US" sz="1600" b="0" i="0" dirty="0" err="1">
              <a:solidFill>
                <a:srgbClr val="90BD31"/>
              </a:solidFill>
              <a:latin typeface="Arial" panose="020B0604020202020204" pitchFamily="34" charset="0"/>
            </a:endParaRPr>
          </a:p>
        </p:txBody>
      </p:sp>
      <p:sp>
        <p:nvSpPr>
          <p:cNvPr id="12" name="TextBox 11"/>
          <p:cNvSpPr txBox="1"/>
          <p:nvPr userDrawn="1"/>
        </p:nvSpPr>
        <p:spPr bwMode="auto">
          <a:xfrm>
            <a:off x="434629" y="0"/>
            <a:ext cx="1192695" cy="2123658"/>
          </a:xfrm>
          <a:prstGeom prst="rect">
            <a:avLst/>
          </a:prstGeom>
          <a:noFill/>
          <a:ln w="19050" algn="ctr">
            <a:noFill/>
            <a:miter lim="800000"/>
            <a:headEnd/>
            <a:tailEnd/>
          </a:ln>
        </p:spPr>
        <p:txBody>
          <a:bodyPr wrap="square" lIns="0" tIns="0" rIns="0" bIns="0" rtlCol="0" anchor="ctr">
            <a:spAutoFit/>
          </a:bodyPr>
          <a:lstStyle/>
          <a:p>
            <a:pPr algn="ctr"/>
            <a:r>
              <a:rPr lang="en-US" sz="13800" b="0" i="0" dirty="0">
                <a:solidFill>
                  <a:schemeClr val="bg2"/>
                </a:solidFill>
                <a:latin typeface="Arial" panose="020B0604020202020204" pitchFamily="34" charset="0"/>
              </a:rPr>
              <a:t>“</a:t>
            </a:r>
          </a:p>
        </p:txBody>
      </p:sp>
      <p:sp>
        <p:nvSpPr>
          <p:cNvPr id="10" name="Text Placeholder 13"/>
          <p:cNvSpPr>
            <a:spLocks noGrp="1"/>
          </p:cNvSpPr>
          <p:nvPr>
            <p:ph type="body" sz="quarter" idx="14" hasCustomPrompt="1"/>
          </p:nvPr>
        </p:nvSpPr>
        <p:spPr>
          <a:xfrm>
            <a:off x="447674" y="3696829"/>
            <a:ext cx="6513958" cy="430429"/>
          </a:xfrm>
          <a:prstGeom prst="rect">
            <a:avLst/>
          </a:prstGeom>
        </p:spPr>
        <p:txBody>
          <a:bodyPr>
            <a:normAutofit/>
          </a:bodyPr>
          <a:lstStyle>
            <a:lvl1pPr marL="0" indent="0">
              <a:lnSpc>
                <a:spcPct val="100000"/>
              </a:lnSpc>
              <a:buNone/>
              <a:defRPr sz="1800" b="0" i="0">
                <a:solidFill>
                  <a:schemeClr val="accent3"/>
                </a:solidFill>
                <a:latin typeface="Arial" panose="020B0604020202020204" pitchFamily="34" charset="0"/>
              </a:defRPr>
            </a:lvl1pPr>
          </a:lstStyle>
          <a:p>
            <a:pPr lvl="0"/>
            <a:r>
              <a:rPr lang="en-US" dirty="0"/>
              <a:t>Author’s Name</a:t>
            </a:r>
          </a:p>
        </p:txBody>
      </p:sp>
      <p:sp>
        <p:nvSpPr>
          <p:cNvPr id="11" name="Text Placeholder 13"/>
          <p:cNvSpPr>
            <a:spLocks noGrp="1"/>
          </p:cNvSpPr>
          <p:nvPr>
            <p:ph type="body" sz="quarter" idx="15" hasCustomPrompt="1"/>
          </p:nvPr>
        </p:nvSpPr>
        <p:spPr>
          <a:xfrm>
            <a:off x="447674" y="3980953"/>
            <a:ext cx="6513958" cy="440937"/>
          </a:xfrm>
          <a:prstGeom prst="rect">
            <a:avLst/>
          </a:prstGeom>
        </p:spPr>
        <p:txBody>
          <a:bodyPr>
            <a:normAutofit/>
          </a:bodyPr>
          <a:lstStyle>
            <a:lvl1pPr marL="0" indent="0">
              <a:lnSpc>
                <a:spcPts val="2000"/>
              </a:lnSpc>
              <a:buNone/>
              <a:defRPr sz="1800" b="0" i="0" baseline="0">
                <a:solidFill>
                  <a:schemeClr val="accent3"/>
                </a:solidFill>
                <a:latin typeface="Arial" panose="020B0604020202020204" pitchFamily="34" charset="0"/>
              </a:defRPr>
            </a:lvl1pPr>
          </a:lstStyle>
          <a:p>
            <a:pPr lvl="0"/>
            <a:r>
              <a:rPr lang="en-US" dirty="0"/>
              <a:t>Position Title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ection Header – Blue">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D91175AD-5EC8-6C49-8218-F38BDE3E8622}"/>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68552" t="35459" r="2030" b="-21848"/>
          <a:stretch/>
        </p:blipFill>
        <p:spPr>
          <a:xfrm rot="5400000">
            <a:off x="2622550" y="-1377949"/>
            <a:ext cx="5143500" cy="7899400"/>
          </a:xfrm>
          <a:prstGeom prst="rect">
            <a:avLst/>
          </a:prstGeom>
        </p:spPr>
      </p:pic>
      <p:sp>
        <p:nvSpPr>
          <p:cNvPr id="14" name="Rectangle 13"/>
          <p:cNvSpPr/>
          <p:nvPr userDrawn="1"/>
        </p:nvSpPr>
        <p:spPr bwMode="auto">
          <a:xfrm>
            <a:off x="2" y="1772719"/>
            <a:ext cx="7051729" cy="1411357"/>
          </a:xfrm>
          <a:prstGeom prst="rect">
            <a:avLst/>
          </a:prstGeom>
          <a:solidFill>
            <a:schemeClr val="accent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4" name="Footer Placeholder 3"/>
          <p:cNvSpPr>
            <a:spLocks noGrp="1"/>
          </p:cNvSpPr>
          <p:nvPr>
            <p:ph type="ftr" sz="quarter" idx="11"/>
          </p:nvPr>
        </p:nvSpPr>
        <p:spPr/>
        <p:txBody>
          <a:bodyPr/>
          <a:lstStyle>
            <a:lvl1pPr>
              <a:defRPr b="0" i="0"/>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dirty="0"/>
          </a:p>
        </p:txBody>
      </p:sp>
      <p:sp>
        <p:nvSpPr>
          <p:cNvPr id="15" name="Title 15"/>
          <p:cNvSpPr>
            <a:spLocks noGrp="1"/>
          </p:cNvSpPr>
          <p:nvPr>
            <p:ph type="title" hasCustomPrompt="1"/>
          </p:nvPr>
        </p:nvSpPr>
        <p:spPr>
          <a:xfrm>
            <a:off x="453585" y="1919440"/>
            <a:ext cx="6435412" cy="1107896"/>
          </a:xfrm>
          <a:prstGeom prst="rect">
            <a:avLst/>
          </a:prstGeom>
        </p:spPr>
        <p:txBody>
          <a:bodyPr anchor="ctr">
            <a:noAutofit/>
          </a:bodyPr>
          <a:lstStyle>
            <a:lvl1pPr>
              <a:defRPr sz="3600" b="0" i="0" baseline="0">
                <a:solidFill>
                  <a:schemeClr val="bg1"/>
                </a:solidFill>
                <a:latin typeface="Arial" panose="02020404030301010803" pitchFamily="18" charset="0"/>
                <a:ea typeface="Arial" panose="02000503000000020004" pitchFamily="2" charset="0"/>
                <a:cs typeface="Arial" panose="020B0604020202020204" pitchFamily="34" charset="0"/>
              </a:defRPr>
            </a:lvl1pPr>
          </a:lstStyle>
          <a:p>
            <a:r>
              <a:rPr lang="en-US" dirty="0"/>
              <a:t>Section Header Here</a:t>
            </a:r>
          </a:p>
        </p:txBody>
      </p:sp>
      <p:cxnSp>
        <p:nvCxnSpPr>
          <p:cNvPr id="7" name="Straight Connector 6">
            <a:extLst>
              <a:ext uri="{FF2B5EF4-FFF2-40B4-BE49-F238E27FC236}">
                <a16:creationId xmlns:a16="http://schemas.microsoft.com/office/drawing/2014/main" id="{62CCB472-92BE-5E48-80A6-FC260AA96B83}"/>
              </a:ext>
            </a:extLst>
          </p:cNvPr>
          <p:cNvCxnSpPr/>
          <p:nvPr userDrawn="1"/>
        </p:nvCxnSpPr>
        <p:spPr>
          <a:xfrm>
            <a:off x="277813" y="4687560"/>
            <a:ext cx="8595360" cy="0"/>
          </a:xfrm>
          <a:prstGeom prst="line">
            <a:avLst/>
          </a:prstGeom>
          <a:noFill/>
          <a:ln w="3175" cap="flat">
            <a:solidFill>
              <a:schemeClr val="tx1"/>
            </a:solidFill>
            <a:prstDash val="solid"/>
            <a:miter lim="800000"/>
            <a:headEnd/>
            <a:tailEnd/>
          </a:ln>
          <a:extLst>
            <a:ext uri="{909E8E84-426E-40DD-AFC4-6F175D3DCCD1}">
              <a14:hiddenFill xmlns:a14="http://schemas.microsoft.com/office/drawing/2010/main">
                <a:noFill/>
              </a14:hiddenFill>
            </a:ext>
          </a:extLst>
        </p:spPr>
      </p:cxnSp>
      <p:sp>
        <p:nvSpPr>
          <p:cNvPr id="8" name="Freeform 77">
            <a:extLst>
              <a:ext uri="{FF2B5EF4-FFF2-40B4-BE49-F238E27FC236}">
                <a16:creationId xmlns:a16="http://schemas.microsoft.com/office/drawing/2014/main" id="{4ABB29B8-DCAF-7B40-9E52-219D904D83D6}"/>
              </a:ext>
            </a:extLst>
          </p:cNvPr>
          <p:cNvSpPr>
            <a:spLocks/>
          </p:cNvSpPr>
          <p:nvPr userDrawn="1"/>
        </p:nvSpPr>
        <p:spPr bwMode="auto">
          <a:xfrm>
            <a:off x="8393113" y="4800601"/>
            <a:ext cx="481012" cy="231074"/>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b="0" i="0" dirty="0">
              <a:latin typeface="Arial" panose="020B0604020202020204" pitchFamily="34" charset="0"/>
              <a:ea typeface="Arial" panose="02000503000000020004" pitchFamily="2" charset="0"/>
              <a:cs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ection Header – Teal">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452C1D42-AAA3-B04E-A034-F13587860331}"/>
              </a:ext>
            </a:extLst>
          </p:cNvPr>
          <p:cNvPicPr>
            <a:picLocks noChangeAspect="1"/>
          </p:cNvPicPr>
          <p:nvPr userDrawn="1"/>
        </p:nvPicPr>
        <p:blipFill rotWithShape="1">
          <a:blip cstate="screen">
            <a:alphaModFix/>
            <a:extLst>
              <a:ext uri="{28A0092B-C50C-407E-A947-70E740481C1C}">
                <a14:useLocalDpi xmlns:a14="http://schemas.microsoft.com/office/drawing/2010/main"/>
              </a:ext>
              <a:ext uri="{96DAC541-7B7A-43D3-8B79-37D633B846F1}">
                <asvg:svgBlip xmlns:asvg="http://schemas.microsoft.com/office/drawing/2016/SVG/main" r:embed="rId2"/>
              </a:ext>
            </a:extLst>
          </a:blip>
          <a:srcRect l="-11183" t="13402" r="10781" b="28503"/>
          <a:stretch/>
        </p:blipFill>
        <p:spPr>
          <a:xfrm>
            <a:off x="-317500" y="-245162"/>
            <a:ext cx="9461500" cy="5388661"/>
          </a:xfrm>
          <a:prstGeom prst="rect">
            <a:avLst/>
          </a:prstGeom>
        </p:spPr>
      </p:pic>
      <p:sp>
        <p:nvSpPr>
          <p:cNvPr id="6" name="Rectangle 5"/>
          <p:cNvSpPr/>
          <p:nvPr userDrawn="1"/>
        </p:nvSpPr>
        <p:spPr bwMode="auto">
          <a:xfrm>
            <a:off x="2" y="1772719"/>
            <a:ext cx="7051729" cy="1411357"/>
          </a:xfrm>
          <a:prstGeom prst="rect">
            <a:avLst/>
          </a:prstGeom>
          <a:solidFill>
            <a:srgbClr val="18A3AC"/>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4" name="Footer Placeholder 3"/>
          <p:cNvSpPr>
            <a:spLocks noGrp="1"/>
          </p:cNvSpPr>
          <p:nvPr>
            <p:ph type="ftr" sz="quarter" idx="11"/>
          </p:nvPr>
        </p:nvSpPr>
        <p:spPr/>
        <p:txBody>
          <a:bodyPr/>
          <a:lstStyle>
            <a:lvl1pPr>
              <a:defRPr b="0" i="0"/>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dirty="0"/>
          </a:p>
        </p:txBody>
      </p:sp>
      <p:cxnSp>
        <p:nvCxnSpPr>
          <p:cNvPr id="9" name="Straight Connector 8">
            <a:extLst>
              <a:ext uri="{FF2B5EF4-FFF2-40B4-BE49-F238E27FC236}">
                <a16:creationId xmlns:a16="http://schemas.microsoft.com/office/drawing/2014/main" id="{E01C639F-F884-C946-B140-A9518C6FB9A8}"/>
              </a:ext>
            </a:extLst>
          </p:cNvPr>
          <p:cNvCxnSpPr/>
          <p:nvPr userDrawn="1"/>
        </p:nvCxnSpPr>
        <p:spPr>
          <a:xfrm>
            <a:off x="277813" y="4687560"/>
            <a:ext cx="8595360" cy="0"/>
          </a:xfrm>
          <a:prstGeom prst="line">
            <a:avLst/>
          </a:prstGeom>
          <a:noFill/>
          <a:ln w="3175" cap="flat">
            <a:solidFill>
              <a:schemeClr val="tx1"/>
            </a:solidFill>
            <a:prstDash val="solid"/>
            <a:miter lim="800000"/>
            <a:headEnd/>
            <a:tailEnd/>
          </a:ln>
          <a:extLst>
            <a:ext uri="{909E8E84-426E-40DD-AFC4-6F175D3DCCD1}">
              <a14:hiddenFill xmlns:a14="http://schemas.microsoft.com/office/drawing/2010/main">
                <a:noFill/>
              </a14:hiddenFill>
            </a:ext>
          </a:extLst>
        </p:spPr>
      </p:cxnSp>
      <p:sp>
        <p:nvSpPr>
          <p:cNvPr id="10" name="Freeform 77">
            <a:extLst>
              <a:ext uri="{FF2B5EF4-FFF2-40B4-BE49-F238E27FC236}">
                <a16:creationId xmlns:a16="http://schemas.microsoft.com/office/drawing/2014/main" id="{08B3EA4E-B6EE-2549-8EB7-C25BC2142E7C}"/>
              </a:ext>
            </a:extLst>
          </p:cNvPr>
          <p:cNvSpPr>
            <a:spLocks/>
          </p:cNvSpPr>
          <p:nvPr userDrawn="1"/>
        </p:nvSpPr>
        <p:spPr bwMode="auto">
          <a:xfrm>
            <a:off x="8393113" y="4800601"/>
            <a:ext cx="481012" cy="231074"/>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b="0" i="0" dirty="0">
              <a:latin typeface="Arial" panose="020B0604020202020204" pitchFamily="34" charset="0"/>
              <a:ea typeface="Arial" panose="02000503000000020004" pitchFamily="2" charset="0"/>
              <a:cs typeface="Arial" panose="020B0604020202020204" pitchFamily="34" charset="0"/>
            </a:endParaRPr>
          </a:p>
        </p:txBody>
      </p:sp>
      <p:sp>
        <p:nvSpPr>
          <p:cNvPr id="12" name="Title 15">
            <a:extLst>
              <a:ext uri="{FF2B5EF4-FFF2-40B4-BE49-F238E27FC236}">
                <a16:creationId xmlns:a16="http://schemas.microsoft.com/office/drawing/2014/main" id="{013E3FCC-D96C-D344-BBA3-51BB23D2A0F4}"/>
              </a:ext>
            </a:extLst>
          </p:cNvPr>
          <p:cNvSpPr>
            <a:spLocks noGrp="1"/>
          </p:cNvSpPr>
          <p:nvPr>
            <p:ph type="title" hasCustomPrompt="1"/>
          </p:nvPr>
        </p:nvSpPr>
        <p:spPr>
          <a:xfrm>
            <a:off x="453585" y="1919440"/>
            <a:ext cx="6435412" cy="1107896"/>
          </a:xfrm>
          <a:prstGeom prst="rect">
            <a:avLst/>
          </a:prstGeom>
        </p:spPr>
        <p:txBody>
          <a:bodyPr anchor="ctr">
            <a:noAutofit/>
          </a:bodyPr>
          <a:lstStyle>
            <a:lvl1pPr>
              <a:defRPr sz="3600" b="0" i="0" baseline="0">
                <a:solidFill>
                  <a:schemeClr val="bg1"/>
                </a:solidFill>
                <a:latin typeface="Arial" panose="02020404030301010803" pitchFamily="18" charset="0"/>
                <a:ea typeface="Arial" panose="02000503000000020004" pitchFamily="2" charset="0"/>
                <a:cs typeface="Arial" panose="020B0604020202020204" pitchFamily="34" charset="0"/>
              </a:defRPr>
            </a:lvl1pPr>
          </a:lstStyle>
          <a:p>
            <a:r>
              <a:rPr lang="en-US" dirty="0"/>
              <a:t>Section Header Here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Header – Green">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788447-026C-8740-AB11-4D9C4007C669}"/>
              </a:ext>
            </a:extLst>
          </p:cNvPr>
          <p:cNvPicPr>
            <a:picLocks noChangeAspect="1"/>
          </p:cNvPicPr>
          <p:nvPr userDrawn="1"/>
        </p:nvPicPr>
        <p:blipFill rotWithShape="1">
          <a:blip r:embed="rId2" cstate="screen">
            <a:alphaModFix amt="40000"/>
            <a:extLst>
              <a:ext uri="{28A0092B-C50C-407E-A947-70E740481C1C}">
                <a14:useLocalDpi xmlns:a14="http://schemas.microsoft.com/office/drawing/2010/main"/>
              </a:ext>
            </a:extLst>
          </a:blip>
          <a:srcRect l="14414"/>
          <a:stretch/>
        </p:blipFill>
        <p:spPr>
          <a:xfrm>
            <a:off x="0" y="401119"/>
            <a:ext cx="9144000" cy="1774069"/>
          </a:xfrm>
          <a:prstGeom prst="rect">
            <a:avLst/>
          </a:prstGeom>
        </p:spPr>
      </p:pic>
      <p:sp>
        <p:nvSpPr>
          <p:cNvPr id="6" name="Rectangle 5"/>
          <p:cNvSpPr/>
          <p:nvPr userDrawn="1"/>
        </p:nvSpPr>
        <p:spPr bwMode="auto">
          <a:xfrm>
            <a:off x="2" y="1772719"/>
            <a:ext cx="7051729" cy="1411357"/>
          </a:xfrm>
          <a:prstGeom prst="rect">
            <a:avLst/>
          </a:prstGeom>
          <a:solidFill>
            <a:schemeClr val="accent3"/>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4" name="Footer Placeholder 3"/>
          <p:cNvSpPr>
            <a:spLocks noGrp="1"/>
          </p:cNvSpPr>
          <p:nvPr>
            <p:ph type="ftr" sz="quarter" idx="11"/>
          </p:nvPr>
        </p:nvSpPr>
        <p:spPr/>
        <p:txBody>
          <a:bodyPr/>
          <a:lstStyle>
            <a:lvl1pPr>
              <a:defRPr b="0" i="0"/>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dirty="0"/>
          </a:p>
        </p:txBody>
      </p:sp>
      <p:cxnSp>
        <p:nvCxnSpPr>
          <p:cNvPr id="9" name="Straight Connector 8">
            <a:extLst>
              <a:ext uri="{FF2B5EF4-FFF2-40B4-BE49-F238E27FC236}">
                <a16:creationId xmlns:a16="http://schemas.microsoft.com/office/drawing/2014/main" id="{7AB58095-3588-1A4E-B981-253E9F1A1AEC}"/>
              </a:ext>
            </a:extLst>
          </p:cNvPr>
          <p:cNvCxnSpPr/>
          <p:nvPr userDrawn="1"/>
        </p:nvCxnSpPr>
        <p:spPr>
          <a:xfrm>
            <a:off x="277813" y="4687560"/>
            <a:ext cx="8595360" cy="0"/>
          </a:xfrm>
          <a:prstGeom prst="line">
            <a:avLst/>
          </a:prstGeom>
          <a:noFill/>
          <a:ln w="3175" cap="flat">
            <a:solidFill>
              <a:schemeClr val="tx1"/>
            </a:solidFill>
            <a:prstDash val="solid"/>
            <a:miter lim="800000"/>
            <a:headEnd/>
            <a:tailEnd/>
          </a:ln>
          <a:extLst>
            <a:ext uri="{909E8E84-426E-40DD-AFC4-6F175D3DCCD1}">
              <a14:hiddenFill xmlns:a14="http://schemas.microsoft.com/office/drawing/2010/main">
                <a:noFill/>
              </a14:hiddenFill>
            </a:ext>
          </a:extLst>
        </p:spPr>
      </p:cxnSp>
      <p:sp>
        <p:nvSpPr>
          <p:cNvPr id="10" name="Freeform 77">
            <a:extLst>
              <a:ext uri="{FF2B5EF4-FFF2-40B4-BE49-F238E27FC236}">
                <a16:creationId xmlns:a16="http://schemas.microsoft.com/office/drawing/2014/main" id="{81C2D974-A2EE-E349-AD5D-00B5C62A8CB7}"/>
              </a:ext>
            </a:extLst>
          </p:cNvPr>
          <p:cNvSpPr>
            <a:spLocks/>
          </p:cNvSpPr>
          <p:nvPr userDrawn="1"/>
        </p:nvSpPr>
        <p:spPr bwMode="auto">
          <a:xfrm>
            <a:off x="8393113" y="4800601"/>
            <a:ext cx="481012" cy="231074"/>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b="0" i="0" dirty="0">
              <a:latin typeface="Arial" panose="020B0604020202020204" pitchFamily="34" charset="0"/>
              <a:ea typeface="Arial" panose="02000503000000020004" pitchFamily="2" charset="0"/>
              <a:cs typeface="Arial" panose="020B0604020202020204" pitchFamily="34" charset="0"/>
            </a:endParaRPr>
          </a:p>
        </p:txBody>
      </p:sp>
      <p:sp>
        <p:nvSpPr>
          <p:cNvPr id="11" name="Title 15">
            <a:extLst>
              <a:ext uri="{FF2B5EF4-FFF2-40B4-BE49-F238E27FC236}">
                <a16:creationId xmlns:a16="http://schemas.microsoft.com/office/drawing/2014/main" id="{18DED201-C78F-0E4A-B63C-520004DA73BE}"/>
              </a:ext>
            </a:extLst>
          </p:cNvPr>
          <p:cNvSpPr>
            <a:spLocks noGrp="1"/>
          </p:cNvSpPr>
          <p:nvPr>
            <p:ph type="title" hasCustomPrompt="1"/>
          </p:nvPr>
        </p:nvSpPr>
        <p:spPr>
          <a:xfrm>
            <a:off x="453585" y="1919440"/>
            <a:ext cx="6435412" cy="1107896"/>
          </a:xfrm>
          <a:prstGeom prst="rect">
            <a:avLst/>
          </a:prstGeom>
        </p:spPr>
        <p:txBody>
          <a:bodyPr anchor="ctr">
            <a:noAutofit/>
          </a:bodyPr>
          <a:lstStyle>
            <a:lvl1pPr>
              <a:defRPr sz="3600" b="0" i="0" baseline="0">
                <a:solidFill>
                  <a:schemeClr val="bg1"/>
                </a:solidFill>
                <a:latin typeface="Arial" panose="02020404030301010803" pitchFamily="18" charset="0"/>
                <a:ea typeface="Arial" panose="02000503000000020004" pitchFamily="2" charset="0"/>
                <a:cs typeface="Arial" panose="020B0604020202020204" pitchFamily="34" charset="0"/>
              </a:defRPr>
            </a:lvl1pPr>
          </a:lstStyle>
          <a:p>
            <a:r>
              <a:rPr lang="en-US" dirty="0"/>
              <a:t>Section Header Here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Blank">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11320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Closing with logo_1">
    <p:bg>
      <p:bgRef idx="1001">
        <a:schemeClr val="bg2"/>
      </p:bgRef>
    </p:bg>
    <p:spTree>
      <p:nvGrpSpPr>
        <p:cNvPr id="1" name=""/>
        <p:cNvGrpSpPr/>
        <p:nvPr/>
      </p:nvGrpSpPr>
      <p:grpSpPr>
        <a:xfrm>
          <a:off x="0" y="0"/>
          <a:ext cx="0" cy="0"/>
          <a:chOff x="0" y="0"/>
          <a:chExt cx="0" cy="0"/>
        </a:xfrm>
      </p:grpSpPr>
      <p:pic>
        <p:nvPicPr>
          <p:cNvPr id="4" name="Picture 41"/>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p:blipFill>
        <p:spPr bwMode="invGray">
          <a:xfrm>
            <a:off x="3865186" y="2036429"/>
            <a:ext cx="1571041" cy="1018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24282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losing with logo_2">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79400" y="1884801"/>
            <a:ext cx="1373900" cy="1373900"/>
          </a:xfrm>
          <a:prstGeom prst="rect">
            <a:avLst/>
          </a:prstGeom>
        </p:spPr>
      </p:pic>
    </p:spTree>
    <p:extLst>
      <p:ext uri="{BB962C8B-B14F-4D97-AF65-F5344CB8AC3E}">
        <p14:creationId xmlns:p14="http://schemas.microsoft.com/office/powerpoint/2010/main" val="13676384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Closing – Research">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C66F05B-DFA4-6F48-B676-F50E7C038154}"/>
              </a:ext>
            </a:extLst>
          </p:cNvPr>
          <p:cNvSpPr/>
          <p:nvPr userDrawn="1"/>
        </p:nvSpPr>
        <p:spPr bwMode="auto">
          <a:xfrm>
            <a:off x="6149581" y="1645920"/>
            <a:ext cx="2994421" cy="3497580"/>
          </a:xfrm>
          <a:prstGeom prst="rect">
            <a:avLst/>
          </a:prstGeom>
          <a:solidFill>
            <a:schemeClr val="tx1"/>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sp>
        <p:nvSpPr>
          <p:cNvPr id="7" name="Rectangle 6">
            <a:extLst>
              <a:ext uri="{FF2B5EF4-FFF2-40B4-BE49-F238E27FC236}">
                <a16:creationId xmlns:a16="http://schemas.microsoft.com/office/drawing/2014/main" id="{94494DF8-84C9-4641-9876-C01FAA2F1677}"/>
              </a:ext>
            </a:extLst>
          </p:cNvPr>
          <p:cNvSpPr/>
          <p:nvPr userDrawn="1"/>
        </p:nvSpPr>
        <p:spPr bwMode="auto">
          <a:xfrm>
            <a:off x="2" y="0"/>
            <a:ext cx="6149579" cy="1645920"/>
          </a:xfrm>
          <a:prstGeom prst="rect">
            <a:avLst/>
          </a:prstGeom>
          <a:solidFill>
            <a:schemeClr val="bg1">
              <a:lumMod val="95000"/>
            </a:schemeClr>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pic>
        <p:nvPicPr>
          <p:cNvPr id="13" name="Picture 12">
            <a:extLst>
              <a:ext uri="{FF2B5EF4-FFF2-40B4-BE49-F238E27FC236}">
                <a16:creationId xmlns:a16="http://schemas.microsoft.com/office/drawing/2014/main" id="{EB73C1E6-BC68-894B-BFA0-E9C181FA15C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149580" y="1"/>
            <a:ext cx="2994420" cy="2015504"/>
          </a:xfrm>
          <a:prstGeom prst="rect">
            <a:avLst/>
          </a:prstGeom>
        </p:spPr>
      </p:pic>
      <p:pic>
        <p:nvPicPr>
          <p:cNvPr id="14" name="Picture 13">
            <a:extLst>
              <a:ext uri="{FF2B5EF4-FFF2-40B4-BE49-F238E27FC236}">
                <a16:creationId xmlns:a16="http://schemas.microsoft.com/office/drawing/2014/main" id="{4AD4098B-43D5-4B4E-A524-530B7E386F9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388949"/>
            <a:ext cx="6149580" cy="3754552"/>
          </a:xfrm>
          <a:prstGeom prst="rect">
            <a:avLst/>
          </a:prstGeom>
        </p:spPr>
      </p:pic>
      <p:pic>
        <p:nvPicPr>
          <p:cNvPr id="2" name="Picture 1">
            <a:extLst>
              <a:ext uri="{FF2B5EF4-FFF2-40B4-BE49-F238E27FC236}">
                <a16:creationId xmlns:a16="http://schemas.microsoft.com/office/drawing/2014/main" id="{9A1E061F-A72A-5142-8A32-D6BACF33C6DA}"/>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 y="144895"/>
            <a:ext cx="6149579" cy="1021134"/>
          </a:xfrm>
          <a:prstGeom prst="rect">
            <a:avLst/>
          </a:prstGeom>
        </p:spPr>
      </p:pic>
      <p:pic>
        <p:nvPicPr>
          <p:cNvPr id="8" name="Picture 7">
            <a:extLst>
              <a:ext uri="{FF2B5EF4-FFF2-40B4-BE49-F238E27FC236}">
                <a16:creationId xmlns:a16="http://schemas.microsoft.com/office/drawing/2014/main" id="{B6B44D79-B0F4-1A43-9BD5-09FD9E662AC0}"/>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6149578" y="2015505"/>
            <a:ext cx="1615438" cy="1615438"/>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Closing – Mt. Zion">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C66F05B-DFA4-6F48-B676-F50E7C038154}"/>
              </a:ext>
            </a:extLst>
          </p:cNvPr>
          <p:cNvSpPr/>
          <p:nvPr userDrawn="1"/>
        </p:nvSpPr>
        <p:spPr bwMode="auto">
          <a:xfrm>
            <a:off x="6149581" y="1645920"/>
            <a:ext cx="2994421" cy="3497580"/>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sp>
        <p:nvSpPr>
          <p:cNvPr id="7" name="Rectangle 6">
            <a:extLst>
              <a:ext uri="{FF2B5EF4-FFF2-40B4-BE49-F238E27FC236}">
                <a16:creationId xmlns:a16="http://schemas.microsoft.com/office/drawing/2014/main" id="{94494DF8-84C9-4641-9876-C01FAA2F1677}"/>
              </a:ext>
            </a:extLst>
          </p:cNvPr>
          <p:cNvSpPr/>
          <p:nvPr userDrawn="1"/>
        </p:nvSpPr>
        <p:spPr bwMode="auto">
          <a:xfrm>
            <a:off x="2" y="0"/>
            <a:ext cx="6149579" cy="1645920"/>
          </a:xfrm>
          <a:prstGeom prst="rect">
            <a:avLst/>
          </a:prstGeom>
          <a:solidFill>
            <a:schemeClr val="bg1">
              <a:lumMod val="95000"/>
            </a:schemeClr>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pic>
        <p:nvPicPr>
          <p:cNvPr id="13" name="Picture 12">
            <a:extLst>
              <a:ext uri="{FF2B5EF4-FFF2-40B4-BE49-F238E27FC236}">
                <a16:creationId xmlns:a16="http://schemas.microsoft.com/office/drawing/2014/main" id="{EB73C1E6-BC68-894B-BFA0-E9C181FA15C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149580" y="9411"/>
            <a:ext cx="2994420" cy="1996683"/>
          </a:xfrm>
          <a:prstGeom prst="rect">
            <a:avLst/>
          </a:prstGeom>
        </p:spPr>
      </p:pic>
      <p:pic>
        <p:nvPicPr>
          <p:cNvPr id="14" name="Picture 13">
            <a:extLst>
              <a:ext uri="{FF2B5EF4-FFF2-40B4-BE49-F238E27FC236}">
                <a16:creationId xmlns:a16="http://schemas.microsoft.com/office/drawing/2014/main" id="{4AD4098B-43D5-4B4E-A524-530B7E386F9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388949"/>
            <a:ext cx="6149577" cy="3754552"/>
          </a:xfrm>
          <a:prstGeom prst="rect">
            <a:avLst/>
          </a:prstGeom>
        </p:spPr>
      </p:pic>
      <p:pic>
        <p:nvPicPr>
          <p:cNvPr id="10" name="Picture 9">
            <a:extLst>
              <a:ext uri="{FF2B5EF4-FFF2-40B4-BE49-F238E27FC236}">
                <a16:creationId xmlns:a16="http://schemas.microsoft.com/office/drawing/2014/main" id="{EA44FD6C-4722-4647-8824-7BD62CB49912}"/>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6149577" y="1994818"/>
            <a:ext cx="1615440" cy="1615440"/>
          </a:xfrm>
          <a:prstGeom prst="rect">
            <a:avLst/>
          </a:prstGeom>
          <a:solidFill>
            <a:schemeClr val="accent1"/>
          </a:solidFill>
        </p:spPr>
      </p:pic>
      <p:pic>
        <p:nvPicPr>
          <p:cNvPr id="15" name="Graphic 14">
            <a:extLst>
              <a:ext uri="{FF2B5EF4-FFF2-40B4-BE49-F238E27FC236}">
                <a16:creationId xmlns:a16="http://schemas.microsoft.com/office/drawing/2014/main" id="{A81F62F8-022A-8040-9203-343FE92FDB09}"/>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35407" b="39964"/>
          <a:stretch/>
        </p:blipFill>
        <p:spPr>
          <a:xfrm>
            <a:off x="-993817" y="0"/>
            <a:ext cx="7143396" cy="1388949"/>
          </a:xfrm>
          <a:prstGeom prst="rect">
            <a:avLst/>
          </a:prstGeom>
        </p:spPr>
      </p:pic>
    </p:spTree>
    <p:extLst>
      <p:ext uri="{BB962C8B-B14F-4D97-AF65-F5344CB8AC3E}">
        <p14:creationId xmlns:p14="http://schemas.microsoft.com/office/powerpoint/2010/main" val="28116350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Closing – Patient Care">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44FBE2C-79B3-0741-8C4F-E79579E3B5C3}"/>
              </a:ext>
            </a:extLst>
          </p:cNvPr>
          <p:cNvSpPr/>
          <p:nvPr userDrawn="1"/>
        </p:nvSpPr>
        <p:spPr bwMode="auto">
          <a:xfrm>
            <a:off x="0" y="1645921"/>
            <a:ext cx="2994421" cy="3497580"/>
          </a:xfrm>
          <a:prstGeom prst="rect">
            <a:avLst/>
          </a:prstGeom>
          <a:solidFill>
            <a:schemeClr val="accent1"/>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sp>
        <p:nvSpPr>
          <p:cNvPr id="6" name="Rectangle 5">
            <a:extLst>
              <a:ext uri="{FF2B5EF4-FFF2-40B4-BE49-F238E27FC236}">
                <a16:creationId xmlns:a16="http://schemas.microsoft.com/office/drawing/2014/main" id="{7CBA96EE-AE7F-9D47-80E0-948746F73CBD}"/>
              </a:ext>
            </a:extLst>
          </p:cNvPr>
          <p:cNvSpPr/>
          <p:nvPr userDrawn="1"/>
        </p:nvSpPr>
        <p:spPr bwMode="auto">
          <a:xfrm>
            <a:off x="2756757" y="0"/>
            <a:ext cx="6387245" cy="1645920"/>
          </a:xfrm>
          <a:prstGeom prst="rect">
            <a:avLst/>
          </a:prstGeom>
          <a:solidFill>
            <a:schemeClr val="bg1">
              <a:lumMod val="95000"/>
            </a:schemeClr>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pic>
        <p:nvPicPr>
          <p:cNvPr id="11" name="Picture 10">
            <a:extLst>
              <a:ext uri="{FF2B5EF4-FFF2-40B4-BE49-F238E27FC236}">
                <a16:creationId xmlns:a16="http://schemas.microsoft.com/office/drawing/2014/main" id="{4508378B-0C89-E14E-8069-2034FF2D0F2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
          <a:stretch/>
        </p:blipFill>
        <p:spPr>
          <a:xfrm>
            <a:off x="2" y="1"/>
            <a:ext cx="2760609" cy="2015504"/>
          </a:xfrm>
          <a:prstGeom prst="rect">
            <a:avLst/>
          </a:prstGeom>
        </p:spPr>
      </p:pic>
      <p:pic>
        <p:nvPicPr>
          <p:cNvPr id="13" name="Picture 12">
            <a:extLst>
              <a:ext uri="{FF2B5EF4-FFF2-40B4-BE49-F238E27FC236}">
                <a16:creationId xmlns:a16="http://schemas.microsoft.com/office/drawing/2014/main" id="{A98C622B-BC71-0F4D-ACEB-367F089BDF4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756754" y="1257301"/>
            <a:ext cx="6387246" cy="3886199"/>
          </a:xfrm>
          <a:prstGeom prst="rect">
            <a:avLst/>
          </a:prstGeom>
        </p:spPr>
      </p:pic>
      <p:pic>
        <p:nvPicPr>
          <p:cNvPr id="14" name="Picture 13">
            <a:extLst>
              <a:ext uri="{FF2B5EF4-FFF2-40B4-BE49-F238E27FC236}">
                <a16:creationId xmlns:a16="http://schemas.microsoft.com/office/drawing/2014/main" id="{FC4AB437-D405-6C43-9FA5-FD5F04163FCD}"/>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1140700" y="2015504"/>
            <a:ext cx="1615440" cy="1615440"/>
          </a:xfrm>
          <a:prstGeom prst="rect">
            <a:avLst/>
          </a:prstGeom>
          <a:solidFill>
            <a:schemeClr val="accent1"/>
          </a:solidFill>
        </p:spPr>
      </p:pic>
      <p:pic>
        <p:nvPicPr>
          <p:cNvPr id="2" name="Picture 1">
            <a:extLst>
              <a:ext uri="{FF2B5EF4-FFF2-40B4-BE49-F238E27FC236}">
                <a16:creationId xmlns:a16="http://schemas.microsoft.com/office/drawing/2014/main" id="{2A46CC52-4A32-374A-BF1E-0FA06087FD5A}"/>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2454" t="5935" r="2464" b="11182"/>
          <a:stretch/>
        </p:blipFill>
        <p:spPr>
          <a:xfrm>
            <a:off x="2756141" y="30482"/>
            <a:ext cx="6387861" cy="1226817"/>
          </a:xfrm>
          <a:prstGeom prst="rect">
            <a:avLst/>
          </a:prstGeom>
        </p:spPr>
      </p:pic>
    </p:spTree>
    <p:extLst>
      <p:ext uri="{BB962C8B-B14F-4D97-AF65-F5344CB8AC3E}">
        <p14:creationId xmlns:p14="http://schemas.microsoft.com/office/powerpoint/2010/main" val="29792871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Closing – Education">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A4FBBD5-5854-194C-9766-1823F3F5452C}"/>
              </a:ext>
            </a:extLst>
          </p:cNvPr>
          <p:cNvSpPr/>
          <p:nvPr userDrawn="1"/>
        </p:nvSpPr>
        <p:spPr bwMode="auto">
          <a:xfrm>
            <a:off x="0" y="1645921"/>
            <a:ext cx="2994421" cy="3497580"/>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sp>
        <p:nvSpPr>
          <p:cNvPr id="6" name="Rectangle 5">
            <a:extLst>
              <a:ext uri="{FF2B5EF4-FFF2-40B4-BE49-F238E27FC236}">
                <a16:creationId xmlns:a16="http://schemas.microsoft.com/office/drawing/2014/main" id="{FEB282E7-F7BC-5A48-9E5F-4ECBFDF952A0}"/>
              </a:ext>
            </a:extLst>
          </p:cNvPr>
          <p:cNvSpPr/>
          <p:nvPr userDrawn="1"/>
        </p:nvSpPr>
        <p:spPr bwMode="auto">
          <a:xfrm>
            <a:off x="2756757" y="0"/>
            <a:ext cx="6387245" cy="1645920"/>
          </a:xfrm>
          <a:prstGeom prst="rect">
            <a:avLst/>
          </a:prstGeom>
          <a:solidFill>
            <a:schemeClr val="bg1">
              <a:lumMod val="95000"/>
            </a:schemeClr>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pic>
        <p:nvPicPr>
          <p:cNvPr id="10" name="Picture 9">
            <a:extLst>
              <a:ext uri="{FF2B5EF4-FFF2-40B4-BE49-F238E27FC236}">
                <a16:creationId xmlns:a16="http://schemas.microsoft.com/office/drawing/2014/main" id="{21C94893-0820-A743-86A6-BDEB411A723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2756753" cy="2015504"/>
          </a:xfrm>
          <a:prstGeom prst="rect">
            <a:avLst/>
          </a:prstGeom>
        </p:spPr>
      </p:pic>
      <p:pic>
        <p:nvPicPr>
          <p:cNvPr id="11" name="Picture 10">
            <a:extLst>
              <a:ext uri="{FF2B5EF4-FFF2-40B4-BE49-F238E27FC236}">
                <a16:creationId xmlns:a16="http://schemas.microsoft.com/office/drawing/2014/main" id="{1412EA7E-47D5-4248-9461-6049F4FA2F3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756754" y="1257301"/>
            <a:ext cx="6387246" cy="3886199"/>
          </a:xfrm>
          <a:prstGeom prst="rect">
            <a:avLst/>
          </a:prstGeom>
        </p:spPr>
      </p:pic>
      <p:pic>
        <p:nvPicPr>
          <p:cNvPr id="9" name="Graphic 8">
            <a:extLst>
              <a:ext uri="{FF2B5EF4-FFF2-40B4-BE49-F238E27FC236}">
                <a16:creationId xmlns:a16="http://schemas.microsoft.com/office/drawing/2014/main" id="{21F1DBF9-E6D2-EC49-80D7-6EE1B776A50D}"/>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t="37974" b="37397"/>
          <a:stretch/>
        </p:blipFill>
        <p:spPr>
          <a:xfrm>
            <a:off x="2756140" y="15255"/>
            <a:ext cx="6387860" cy="1242044"/>
          </a:xfrm>
          <a:prstGeom prst="rect">
            <a:avLst/>
          </a:prstGeom>
        </p:spPr>
      </p:pic>
      <p:pic>
        <p:nvPicPr>
          <p:cNvPr id="13" name="Picture 12">
            <a:extLst>
              <a:ext uri="{FF2B5EF4-FFF2-40B4-BE49-F238E27FC236}">
                <a16:creationId xmlns:a16="http://schemas.microsoft.com/office/drawing/2014/main" id="{5656DF26-9AA1-AC46-9695-22DFD8CE98E3}"/>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1140700" y="2015504"/>
            <a:ext cx="1615440" cy="1615440"/>
          </a:xfrm>
          <a:prstGeom prst="rect">
            <a:avLst/>
          </a:prstGeom>
          <a:solidFill>
            <a:schemeClr val="accent1"/>
          </a:solidFill>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slideLayout" Target="../slideLayouts/slideLayout24.xml"/><Relationship Id="rId8" Type="http://schemas.openxmlformats.org/officeDocument/2006/relationships/slideLayout" Target="../slideLayouts/slideLayout25.xml"/><Relationship Id="rId9" Type="http://schemas.openxmlformats.org/officeDocument/2006/relationships/slideLayout" Target="../slideLayouts/slideLayout26.xml"/><Relationship Id="rId10" Type="http://schemas.openxmlformats.org/officeDocument/2006/relationships/slideLayout" Target="../slideLayouts/slideLayout27.xml"/><Relationship Id="rId11" Type="http://schemas.openxmlformats.org/officeDocument/2006/relationships/slideLayout" Target="../slideLayouts/slideLayout28.xml"/><Relationship Id="rId12" Type="http://schemas.openxmlformats.org/officeDocument/2006/relationships/slideLayout" Target="../slideLayouts/slideLayout29.xml"/><Relationship Id="rId13" Type="http://schemas.openxmlformats.org/officeDocument/2006/relationships/slideLayout" Target="../slideLayouts/slideLayout30.xml"/><Relationship Id="rId14" Type="http://schemas.openxmlformats.org/officeDocument/2006/relationships/slideLayout" Target="../slideLayouts/slideLayout31.xml"/><Relationship Id="rId15" Type="http://schemas.openxmlformats.org/officeDocument/2006/relationships/slideLayout" Target="../slideLayouts/slideLayout32.xml"/><Relationship Id="rId16" Type="http://schemas.openxmlformats.org/officeDocument/2006/relationships/slideLayout" Target="../slideLayouts/slideLayout33.xml"/><Relationship Id="rId17" Type="http://schemas.openxmlformats.org/officeDocument/2006/relationships/slideLayout" Target="../slideLayouts/slideLayout34.xml"/><Relationship Id="rId18" Type="http://schemas.openxmlformats.org/officeDocument/2006/relationships/slideLayout" Target="../slideLayouts/slideLayout35.xml"/><Relationship Id="rId19" Type="http://schemas.openxmlformats.org/officeDocument/2006/relationships/slideLayout" Target="../slideLayouts/slideLayout36.xml"/><Relationship Id="rId20" Type="http://schemas.openxmlformats.org/officeDocument/2006/relationships/slideLayout" Target="../slideLayouts/slideLayout37.xml"/><Relationship Id="rId21" Type="http://schemas.openxmlformats.org/officeDocument/2006/relationships/slideLayout" Target="../slideLayouts/slideLayout38.xml"/><Relationship Id="rId22" Type="http://schemas.openxmlformats.org/officeDocument/2006/relationships/slideLayout" Target="../slideLayouts/slideLayout39.xml"/><Relationship Id="rId23" Type="http://schemas.openxmlformats.org/officeDocument/2006/relationships/slideLayout" Target="../slideLayouts/slideLayout40.xml"/><Relationship Id="rId24" Type="http://schemas.openxmlformats.org/officeDocument/2006/relationships/slideLayout" Target="../slideLayouts/slideLayout41.xml"/><Relationship Id="rId25" Type="http://schemas.openxmlformats.org/officeDocument/2006/relationships/slideLayout" Target="../slideLayouts/slideLayout42.xml"/><Relationship Id="rId26" Type="http://schemas.openxmlformats.org/officeDocument/2006/relationships/slideLayout" Target="../slideLayouts/slideLayout43.xml"/><Relationship Id="rId27" Type="http://schemas.openxmlformats.org/officeDocument/2006/relationships/slideLayout" Target="../slideLayouts/slideLayout44.xml"/><Relationship Id="rId28" Type="http://schemas.openxmlformats.org/officeDocument/2006/relationships/slideLayout" Target="../slideLayouts/slideLayout45.xml"/><Relationship Id="rId29" Type="http://schemas.openxmlformats.org/officeDocument/2006/relationships/slideLayout" Target="../slideLayouts/slideLayout46.xml"/><Relationship Id="rId30" Type="http://schemas.openxmlformats.org/officeDocument/2006/relationships/slideLayout" Target="../slideLayouts/slideLayout47.xml"/><Relationship Id="rId31" Type="http://schemas.openxmlformats.org/officeDocument/2006/relationships/slideLayout" Target="../slideLayouts/slideLayout48.xml"/><Relationship Id="rId3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459685" y="1401417"/>
            <a:ext cx="8137665" cy="2932045"/>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Placeholder 1"/>
          <p:cNvSpPr>
            <a:spLocks noGrp="1"/>
          </p:cNvSpPr>
          <p:nvPr>
            <p:ph type="title"/>
          </p:nvPr>
        </p:nvSpPr>
        <p:spPr>
          <a:xfrm>
            <a:off x="453585" y="318751"/>
            <a:ext cx="8173580" cy="458587"/>
          </a:xfrm>
          <a:prstGeom prst="rect">
            <a:avLst/>
          </a:prstGeom>
        </p:spPr>
        <p:txBody>
          <a:bodyPr vert="horz" wrap="square" lIns="91440" tIns="45720" rIns="91440" bIns="45720" rtlCol="0" anchor="t" anchorCtr="0">
            <a:noAutofit/>
          </a:bodyPr>
          <a:lstStyle/>
          <a:p>
            <a:r>
              <a:rPr lang="en-US" dirty="0"/>
              <a:t>Slide Title Here</a:t>
            </a:r>
          </a:p>
        </p:txBody>
      </p:sp>
      <p:sp>
        <p:nvSpPr>
          <p:cNvPr id="11" name="Footer Placeholder 5"/>
          <p:cNvSpPr>
            <a:spLocks noGrp="1"/>
          </p:cNvSpPr>
          <p:nvPr>
            <p:ph type="ftr" sz="quarter" idx="3"/>
          </p:nvPr>
        </p:nvSpPr>
        <p:spPr>
          <a:xfrm>
            <a:off x="548152" y="4852597"/>
            <a:ext cx="4310907" cy="103485"/>
          </a:xfrm>
          <a:prstGeom prst="rect">
            <a:avLst/>
          </a:prstGeom>
        </p:spPr>
        <p:txBody>
          <a:bodyPr vert="horz" wrap="square" lIns="0" tIns="0" rIns="0" bIns="0" rtlCol="0" anchor="b" anchorCtr="0"/>
          <a:lstStyle>
            <a:lvl1pPr algn="l">
              <a:defRPr sz="700" b="0" i="0">
                <a:solidFill>
                  <a:schemeClr val="tx1"/>
                </a:solidFill>
                <a:latin typeface="Arial" panose="020B0604020202020204" pitchFamily="34" charset="0"/>
                <a:cs typeface="Arial" panose="020B0604020202020204" pitchFamily="34" charset="0"/>
              </a:defRPr>
            </a:lvl1pPr>
          </a:lstStyle>
          <a:p>
            <a:r>
              <a:rPr lang="en-US"/>
              <a:t>Presentation Title</a:t>
            </a:r>
            <a:endParaRPr lang="en-US" dirty="0"/>
          </a:p>
        </p:txBody>
      </p:sp>
      <p:sp>
        <p:nvSpPr>
          <p:cNvPr id="12" name="Slide Number Placeholder 6"/>
          <p:cNvSpPr>
            <a:spLocks noGrp="1"/>
          </p:cNvSpPr>
          <p:nvPr>
            <p:ph type="sldNum" sz="quarter" idx="4"/>
          </p:nvPr>
        </p:nvSpPr>
        <p:spPr>
          <a:xfrm>
            <a:off x="272107" y="4840129"/>
            <a:ext cx="246061" cy="116425"/>
          </a:xfrm>
          <a:prstGeom prst="rect">
            <a:avLst/>
          </a:prstGeom>
        </p:spPr>
        <p:txBody>
          <a:bodyPr vert="horz" wrap="square" lIns="0" tIns="0" rIns="0" bIns="0" rtlCol="0" anchor="b" anchorCtr="0"/>
          <a:lstStyle>
            <a:lvl1pPr algn="l">
              <a:defRPr sz="700" b="0" i="0">
                <a:solidFill>
                  <a:schemeClr val="tx1"/>
                </a:solidFill>
                <a:latin typeface="Arial" panose="020B0604020202020204" pitchFamily="34" charset="0"/>
                <a:cs typeface="Arial" panose="020B0604020202020204" pitchFamily="34" charset="0"/>
              </a:defRPr>
            </a:lvl1pPr>
          </a:lstStyle>
          <a:p>
            <a:fld id="{7BCC8D0D-EAEC-449D-9161-023DFF90F2E2}" type="slidenum">
              <a:rPr lang="en-US" smtClean="0"/>
              <a:pPr/>
              <a:t>‹#›</a:t>
            </a:fld>
            <a:endParaRPr lang="en-US" dirty="0"/>
          </a:p>
        </p:txBody>
      </p:sp>
      <p:cxnSp>
        <p:nvCxnSpPr>
          <p:cNvPr id="36" name="Straight Connector 35"/>
          <p:cNvCxnSpPr/>
          <p:nvPr userDrawn="1"/>
        </p:nvCxnSpPr>
        <p:spPr>
          <a:xfrm>
            <a:off x="365125" y="4687560"/>
            <a:ext cx="8413750" cy="0"/>
          </a:xfrm>
          <a:prstGeom prst="line">
            <a:avLst/>
          </a:prstGeom>
          <a:noFill/>
          <a:ln w="3175" cap="flat">
            <a:solidFill>
              <a:srgbClr val="052049"/>
            </a:solidFill>
            <a:prstDash val="solid"/>
            <a:miter lim="800000"/>
            <a:headEnd/>
            <a:tailEnd/>
          </a:ln>
          <a:extLst>
            <a:ext uri="{909E8E84-426E-40DD-AFC4-6F175D3DCCD1}">
              <a14:hiddenFill xmlns:a14="http://schemas.microsoft.com/office/drawing/2010/main">
                <a:noFill/>
              </a14:hiddenFill>
            </a:ext>
          </a:extLst>
        </p:spPr>
      </p:cxnSp>
      <p:cxnSp>
        <p:nvCxnSpPr>
          <p:cNvPr id="9" name="Straight Connector 8"/>
          <p:cNvCxnSpPr/>
          <p:nvPr userDrawn="1"/>
        </p:nvCxnSpPr>
        <p:spPr>
          <a:xfrm>
            <a:off x="277813" y="4687560"/>
            <a:ext cx="8595360" cy="0"/>
          </a:xfrm>
          <a:prstGeom prst="line">
            <a:avLst/>
          </a:prstGeom>
          <a:noFill/>
          <a:ln w="3175" cap="flat">
            <a:solidFill>
              <a:srgbClr val="052049"/>
            </a:solidFill>
            <a:prstDash val="solid"/>
            <a:miter lim="800000"/>
            <a:headEnd/>
            <a:tailEnd/>
          </a:ln>
          <a:extLst>
            <a:ext uri="{909E8E84-426E-40DD-AFC4-6F175D3DCCD1}">
              <a14:hiddenFill xmlns:a14="http://schemas.microsoft.com/office/drawing/2010/main">
                <a:noFill/>
              </a14:hiddenFill>
            </a:ext>
          </a:extLst>
        </p:spPr>
      </p:cxnSp>
      <p:sp>
        <p:nvSpPr>
          <p:cNvPr id="13" name="Freeform 77"/>
          <p:cNvSpPr>
            <a:spLocks/>
          </p:cNvSpPr>
          <p:nvPr userDrawn="1"/>
        </p:nvSpPr>
        <p:spPr bwMode="auto">
          <a:xfrm>
            <a:off x="8393113" y="4800601"/>
            <a:ext cx="481012" cy="231074"/>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b="0" i="0" dirty="0">
              <a:latin typeface="Arial" panose="020B0604020202020204" pitchFamily="34" charset="0"/>
            </a:endParaRPr>
          </a:p>
        </p:txBody>
      </p:sp>
    </p:spTree>
    <p:extLst>
      <p:ext uri="{BB962C8B-B14F-4D97-AF65-F5344CB8AC3E}">
        <p14:creationId xmlns:p14="http://schemas.microsoft.com/office/powerpoint/2010/main" val="1203051825"/>
      </p:ext>
    </p:extLst>
  </p:cSld>
  <p:clrMap bg1="lt1" tx1="dk1" bg2="lt2" tx2="dk2" accent1="accent1" accent2="accent2" accent3="accent3" accent4="accent4" accent5="accent5" accent6="accent6" hlink="hlink" folHlink="folHlink"/>
  <p:sldLayoutIdLst>
    <p:sldLayoutId id="2147483979" r:id="rId1"/>
    <p:sldLayoutId id="2147483980" r:id="rId2"/>
    <p:sldLayoutId id="2147483981" r:id="rId3"/>
    <p:sldLayoutId id="2147483984" r:id="rId4"/>
    <p:sldLayoutId id="2147483982" r:id="rId5"/>
    <p:sldLayoutId id="2147483986" r:id="rId6"/>
    <p:sldLayoutId id="2147483987" r:id="rId7"/>
    <p:sldLayoutId id="2147483988" r:id="rId8"/>
    <p:sldLayoutId id="2147483989" r:id="rId9"/>
    <p:sldLayoutId id="2147483990" r:id="rId10"/>
    <p:sldLayoutId id="2147483991" r:id="rId11"/>
    <p:sldLayoutId id="2147483992" r:id="rId12"/>
    <p:sldLayoutId id="2147483993" r:id="rId13"/>
    <p:sldLayoutId id="2147484016" r:id="rId14"/>
    <p:sldLayoutId id="2147483994" r:id="rId15"/>
    <p:sldLayoutId id="2147483995" r:id="rId16"/>
    <p:sldLayoutId id="2147484017" r:id="rId17"/>
  </p:sldLayoutIdLst>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hf hdr="0"/>
  <p:txStyles>
    <p:titleStyle>
      <a:lvl1pPr algn="l" defTabSz="914378" rtl="0" eaLnBrk="1" latinLnBrk="0" hangingPunct="1">
        <a:lnSpc>
          <a:spcPct val="85000"/>
        </a:lnSpc>
        <a:spcBef>
          <a:spcPct val="0"/>
        </a:spcBef>
        <a:buNone/>
        <a:defRPr lang="en-US" sz="3600" b="0" i="0" kern="1200" cap="none" spc="0" baseline="0" dirty="0" smtClean="0">
          <a:solidFill>
            <a:schemeClr val="tx1"/>
          </a:solidFill>
          <a:latin typeface="Arial" panose="02020404030301010803" pitchFamily="18" charset="0"/>
          <a:ea typeface="Arial" panose="02000503000000020004" pitchFamily="2" charset="0"/>
          <a:cs typeface="Arial" panose="020B0604020202020204" pitchFamily="34" charset="0"/>
        </a:defRPr>
      </a:lvl1pPr>
    </p:titleStyle>
    <p:bodyStyle>
      <a:lvl1pPr marL="233357" indent="-233357" algn="l" defTabSz="640064" rtl="0" eaLnBrk="1" latinLnBrk="0" hangingPunct="1">
        <a:lnSpc>
          <a:spcPct val="100000"/>
        </a:lnSpc>
        <a:spcBef>
          <a:spcPts val="0"/>
        </a:spcBef>
        <a:spcAft>
          <a:spcPts val="600"/>
        </a:spcAft>
        <a:buClr>
          <a:schemeClr val="accent1"/>
        </a:buClr>
        <a:buSzPct val="80000"/>
        <a:buFont typeface="Wingdings" charset="2"/>
        <a:buChar char="§"/>
        <a:tabLst/>
        <a:defRPr lang="en-US" sz="2200" b="0" i="0" kern="1200" dirty="0" smtClean="0">
          <a:solidFill>
            <a:schemeClr val="tx1"/>
          </a:solidFill>
          <a:latin typeface="Arial" panose="020B0604020202020204" pitchFamily="34" charset="0"/>
          <a:ea typeface="Arial" panose="02000503000000020004" pitchFamily="2" charset="0"/>
          <a:cs typeface="Arial" panose="020B0604020202020204" pitchFamily="34" charset="0"/>
        </a:defRPr>
      </a:lvl1pPr>
      <a:lvl2pPr marL="522275" indent="-227007" algn="l" defTabSz="640064" rtl="0" eaLnBrk="1" latinLnBrk="0" hangingPunct="1">
        <a:lnSpc>
          <a:spcPct val="100000"/>
        </a:lnSpc>
        <a:spcBef>
          <a:spcPts val="0"/>
        </a:spcBef>
        <a:spcAft>
          <a:spcPts val="600"/>
        </a:spcAft>
        <a:buClr>
          <a:schemeClr val="tx1"/>
        </a:buClr>
        <a:buSzPct val="100000"/>
        <a:buFont typeface="Arial" charset="0"/>
        <a:buChar char="-"/>
        <a:tabLst/>
        <a:defRPr lang="en-US" sz="2000" b="0" i="0" kern="1200" dirty="0" smtClean="0">
          <a:solidFill>
            <a:schemeClr val="tx1"/>
          </a:solidFill>
          <a:latin typeface="Arial" panose="020B0604020202020204" pitchFamily="34" charset="0"/>
          <a:ea typeface="Arial" panose="02000503000000020004" pitchFamily="2" charset="0"/>
          <a:cs typeface="Arial" panose="020B0604020202020204" pitchFamily="34" charset="0"/>
        </a:defRPr>
      </a:lvl2pPr>
      <a:lvl3pPr marL="746106" indent="-166684" algn="l" defTabSz="640064" rtl="0" eaLnBrk="1" latinLnBrk="0" hangingPunct="1">
        <a:lnSpc>
          <a:spcPct val="100000"/>
        </a:lnSpc>
        <a:spcBef>
          <a:spcPts val="0"/>
        </a:spcBef>
        <a:spcAft>
          <a:spcPts val="600"/>
        </a:spcAft>
        <a:buClr>
          <a:schemeClr val="accent1"/>
        </a:buClr>
        <a:buSzPct val="80000"/>
        <a:buFont typeface="Wingdings" charset="2"/>
        <a:buChar char="§"/>
        <a:tabLst/>
        <a:defRPr lang="en-US" sz="1800" b="0" i="0" kern="1200" dirty="0" smtClean="0">
          <a:solidFill>
            <a:schemeClr val="tx1"/>
          </a:solidFill>
          <a:latin typeface="Arial" panose="020B0604020202020204" pitchFamily="34" charset="0"/>
          <a:ea typeface="Arial" panose="02000503000000020004" pitchFamily="2" charset="0"/>
          <a:cs typeface="Arial" panose="020B0604020202020204" pitchFamily="34" charset="0"/>
        </a:defRPr>
      </a:lvl3pPr>
      <a:lvl4pPr marL="979463" indent="-173034" algn="l" defTabSz="640064" rtl="0" eaLnBrk="1" latinLnBrk="0" hangingPunct="1">
        <a:lnSpc>
          <a:spcPct val="100000"/>
        </a:lnSpc>
        <a:spcBef>
          <a:spcPts val="0"/>
        </a:spcBef>
        <a:spcAft>
          <a:spcPts val="600"/>
        </a:spcAft>
        <a:buClr>
          <a:schemeClr val="tx1"/>
        </a:buClr>
        <a:buSzPct val="100000"/>
        <a:buFont typeface="Arial" charset="0"/>
        <a:buChar char="-"/>
        <a:tabLst/>
        <a:defRPr lang="en-US" sz="1600" b="0" i="0" kern="1200" dirty="0" smtClean="0">
          <a:solidFill>
            <a:schemeClr val="tx1"/>
          </a:solidFill>
          <a:latin typeface="Arial" panose="020B0604020202020204" pitchFamily="34" charset="0"/>
          <a:ea typeface="Arial" panose="02000503000000020004" pitchFamily="2" charset="0"/>
          <a:cs typeface="Arial" panose="020B0604020202020204" pitchFamily="34" charset="0"/>
        </a:defRPr>
      </a:lvl4pPr>
      <a:lvl5pPr marL="1312830" indent="-227007" algn="l" defTabSz="640064" rtl="0" eaLnBrk="1" latinLnBrk="0" hangingPunct="1">
        <a:lnSpc>
          <a:spcPct val="100000"/>
        </a:lnSpc>
        <a:spcBef>
          <a:spcPts val="0"/>
        </a:spcBef>
        <a:spcAft>
          <a:spcPts val="1000"/>
        </a:spcAft>
        <a:buClr>
          <a:schemeClr val="accent1"/>
        </a:buClr>
        <a:buSzPct val="80000"/>
        <a:buFont typeface="Wingdings" charset="2"/>
        <a:buChar char="§"/>
        <a:defRPr lang="en-US" sz="1400" b="0" kern="1200" dirty="0">
          <a:solidFill>
            <a:schemeClr val="tx1"/>
          </a:solidFill>
          <a:latin typeface="+mn-lt"/>
          <a:ea typeface="+mn-ea"/>
          <a:cs typeface="+mn-cs"/>
        </a:defRPr>
      </a:lvl5pPr>
      <a:lvl6pPr marL="2514537"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5"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Footer Placeholder 5"/>
          <p:cNvSpPr>
            <a:spLocks noGrp="1"/>
          </p:cNvSpPr>
          <p:nvPr>
            <p:ph type="ftr" sz="quarter" idx="3"/>
          </p:nvPr>
        </p:nvSpPr>
        <p:spPr>
          <a:xfrm>
            <a:off x="548152" y="4852597"/>
            <a:ext cx="4310907" cy="103485"/>
          </a:xfrm>
          <a:prstGeom prst="rect">
            <a:avLst/>
          </a:prstGeom>
        </p:spPr>
        <p:txBody>
          <a:bodyPr vert="horz" wrap="square" lIns="0" tIns="0" rIns="0" bIns="0" rtlCol="0" anchor="b" anchorCtr="0"/>
          <a:lstStyle>
            <a:lvl1pPr algn="l">
              <a:defRPr sz="700" b="0" i="0">
                <a:solidFill>
                  <a:schemeClr val="tx1"/>
                </a:solidFill>
                <a:latin typeface="Arial" panose="020B0604020202020204" pitchFamily="34" charset="0"/>
                <a:ea typeface="Arial" panose="02000503000000020004" pitchFamily="2" charset="0"/>
                <a:cs typeface="Arial" panose="020B0604020202020204" pitchFamily="34" charset="0"/>
              </a:defRPr>
            </a:lvl1pPr>
          </a:lstStyle>
          <a:p>
            <a:r>
              <a:rPr lang="en-US"/>
              <a:t>Presentation Title</a:t>
            </a:r>
            <a:endParaRPr lang="en-US" dirty="0"/>
          </a:p>
        </p:txBody>
      </p:sp>
      <p:sp>
        <p:nvSpPr>
          <p:cNvPr id="12" name="Slide Number Placeholder 6"/>
          <p:cNvSpPr>
            <a:spLocks noGrp="1"/>
          </p:cNvSpPr>
          <p:nvPr>
            <p:ph type="sldNum" sz="quarter" idx="4"/>
          </p:nvPr>
        </p:nvSpPr>
        <p:spPr>
          <a:xfrm>
            <a:off x="272107" y="4840129"/>
            <a:ext cx="246061" cy="116425"/>
          </a:xfrm>
          <a:prstGeom prst="rect">
            <a:avLst/>
          </a:prstGeom>
        </p:spPr>
        <p:txBody>
          <a:bodyPr vert="horz" wrap="square" lIns="0" tIns="0" rIns="0" bIns="0" rtlCol="0" anchor="b" anchorCtr="0"/>
          <a:lstStyle>
            <a:lvl1pPr algn="l">
              <a:defRPr sz="700" b="0" i="0">
                <a:solidFill>
                  <a:schemeClr val="tx1"/>
                </a:solidFill>
                <a:latin typeface="Arial" panose="020B0604020202020204" pitchFamily="34" charset="0"/>
                <a:ea typeface="Arial"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cxnSp>
        <p:nvCxnSpPr>
          <p:cNvPr id="36" name="Straight Connector 35"/>
          <p:cNvCxnSpPr/>
          <p:nvPr/>
        </p:nvCxnSpPr>
        <p:spPr>
          <a:xfrm>
            <a:off x="365125" y="4687560"/>
            <a:ext cx="8413750" cy="0"/>
          </a:xfrm>
          <a:prstGeom prst="line">
            <a:avLst/>
          </a:prstGeom>
          <a:noFill/>
          <a:ln w="3175" cap="flat">
            <a:solidFill>
              <a:srgbClr val="052049"/>
            </a:solidFill>
            <a:prstDash val="solid"/>
            <a:miter lim="800000"/>
            <a:headEnd/>
            <a:tailEnd/>
          </a:ln>
          <a:extLst>
            <a:ext uri="{909E8E84-426E-40DD-AFC4-6F175D3DCCD1}">
              <a14:hiddenFill xmlns:a14="http://schemas.microsoft.com/office/drawing/2010/main">
                <a:noFill/>
              </a14:hiddenFill>
            </a:ext>
          </a:extLst>
        </p:spPr>
      </p:cxnSp>
      <p:cxnSp>
        <p:nvCxnSpPr>
          <p:cNvPr id="9" name="Straight Connector 8"/>
          <p:cNvCxnSpPr/>
          <p:nvPr userDrawn="1"/>
        </p:nvCxnSpPr>
        <p:spPr>
          <a:xfrm>
            <a:off x="277813" y="4687560"/>
            <a:ext cx="8595360" cy="0"/>
          </a:xfrm>
          <a:prstGeom prst="line">
            <a:avLst/>
          </a:prstGeom>
          <a:noFill/>
          <a:ln w="3175" cap="flat">
            <a:solidFill>
              <a:schemeClr val="tx1"/>
            </a:solidFill>
            <a:prstDash val="solid"/>
            <a:miter lim="800000"/>
            <a:headEnd/>
            <a:tailEnd/>
          </a:ln>
          <a:extLst>
            <a:ext uri="{909E8E84-426E-40DD-AFC4-6F175D3DCCD1}">
              <a14:hiddenFill xmlns:a14="http://schemas.microsoft.com/office/drawing/2010/main">
                <a:noFill/>
              </a14:hiddenFill>
            </a:ext>
          </a:extLst>
        </p:spPr>
      </p:cxnSp>
      <p:sp>
        <p:nvSpPr>
          <p:cNvPr id="13" name="Freeform 77"/>
          <p:cNvSpPr>
            <a:spLocks/>
          </p:cNvSpPr>
          <p:nvPr userDrawn="1"/>
        </p:nvSpPr>
        <p:spPr bwMode="auto">
          <a:xfrm>
            <a:off x="8393113" y="4800601"/>
            <a:ext cx="481012" cy="231074"/>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b="0" i="0" dirty="0">
              <a:latin typeface="Arial" panose="020B0604020202020204" pitchFamily="34" charset="0"/>
              <a:ea typeface="Arial" panose="02000503000000020004" pitchFamily="2" charset="0"/>
              <a:cs typeface="Arial" panose="020B0604020202020204" pitchFamily="34" charset="0"/>
            </a:endParaRPr>
          </a:p>
        </p:txBody>
      </p:sp>
      <p:sp>
        <p:nvSpPr>
          <p:cNvPr id="10" name="Text Placeholder 3">
            <a:extLst>
              <a:ext uri="{FF2B5EF4-FFF2-40B4-BE49-F238E27FC236}">
                <a16:creationId xmlns:a16="http://schemas.microsoft.com/office/drawing/2014/main" id="{77A11AC4-0317-9648-9B11-2E4A9F79415E}"/>
              </a:ext>
            </a:extLst>
          </p:cNvPr>
          <p:cNvSpPr>
            <a:spLocks noGrp="1"/>
          </p:cNvSpPr>
          <p:nvPr>
            <p:ph type="body" idx="1"/>
          </p:nvPr>
        </p:nvSpPr>
        <p:spPr>
          <a:xfrm>
            <a:off x="459685" y="1401417"/>
            <a:ext cx="8137665" cy="2932045"/>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4" name="Title Placeholder 1">
            <a:extLst>
              <a:ext uri="{FF2B5EF4-FFF2-40B4-BE49-F238E27FC236}">
                <a16:creationId xmlns:a16="http://schemas.microsoft.com/office/drawing/2014/main" id="{EEA57C94-8CEE-E147-BA04-64415375E2D2}"/>
              </a:ext>
            </a:extLst>
          </p:cNvPr>
          <p:cNvSpPr>
            <a:spLocks noGrp="1"/>
          </p:cNvSpPr>
          <p:nvPr>
            <p:ph type="title"/>
          </p:nvPr>
        </p:nvSpPr>
        <p:spPr>
          <a:xfrm>
            <a:off x="453585" y="318751"/>
            <a:ext cx="8173580" cy="458587"/>
          </a:xfrm>
          <a:prstGeom prst="rect">
            <a:avLst/>
          </a:prstGeom>
        </p:spPr>
        <p:txBody>
          <a:bodyPr vert="horz" wrap="square" lIns="91440" tIns="45720" rIns="91440" bIns="45720" rtlCol="0" anchor="t" anchorCtr="0">
            <a:noAutofit/>
          </a:bodyPr>
          <a:lstStyle/>
          <a:p>
            <a:r>
              <a:rPr lang="en-US" dirty="0"/>
              <a:t>Slide Title Here</a:t>
            </a:r>
          </a:p>
        </p:txBody>
      </p:sp>
    </p:spTree>
    <p:extLst>
      <p:ext uri="{BB962C8B-B14F-4D97-AF65-F5344CB8AC3E}">
        <p14:creationId xmlns:p14="http://schemas.microsoft.com/office/powerpoint/2010/main" val="1239549721"/>
      </p:ext>
    </p:extLst>
  </p:cSld>
  <p:clrMap bg1="lt1" tx1="dk1" bg2="lt2" tx2="dk2" accent1="accent1" accent2="accent2" accent3="accent3" accent4="accent4" accent5="accent5" accent6="accent6" hlink="hlink" folHlink="folHlink"/>
  <p:sldLayoutIdLst>
    <p:sldLayoutId id="2147483955" r:id="rId1"/>
    <p:sldLayoutId id="2147483972" r:id="rId2"/>
    <p:sldLayoutId id="2147483975" r:id="rId3"/>
    <p:sldLayoutId id="2147483976" r:id="rId4"/>
    <p:sldLayoutId id="2147484011" r:id="rId5"/>
    <p:sldLayoutId id="2147484012" r:id="rId6"/>
    <p:sldLayoutId id="2147484013" r:id="rId7"/>
    <p:sldLayoutId id="2147484001" r:id="rId8"/>
    <p:sldLayoutId id="2147484007" r:id="rId9"/>
    <p:sldLayoutId id="2147484009" r:id="rId10"/>
    <p:sldLayoutId id="2147484008" r:id="rId11"/>
    <p:sldLayoutId id="2147483944" r:id="rId12"/>
    <p:sldLayoutId id="2147483951" r:id="rId13"/>
    <p:sldLayoutId id="2147483953" r:id="rId14"/>
    <p:sldLayoutId id="2147484000" r:id="rId15"/>
    <p:sldLayoutId id="2147483950" r:id="rId16"/>
    <p:sldLayoutId id="2147483960" r:id="rId17"/>
    <p:sldLayoutId id="2147483961" r:id="rId18"/>
    <p:sldLayoutId id="2147483966" r:id="rId19"/>
    <p:sldLayoutId id="2147483967" r:id="rId20"/>
    <p:sldLayoutId id="2147483968" r:id="rId21"/>
    <p:sldLayoutId id="2147483969" r:id="rId22"/>
    <p:sldLayoutId id="2147483970" r:id="rId23"/>
    <p:sldLayoutId id="2147483971" r:id="rId24"/>
    <p:sldLayoutId id="2147484015" r:id="rId25"/>
    <p:sldLayoutId id="2147483954" r:id="rId26"/>
    <p:sldLayoutId id="2147483959" r:id="rId27"/>
    <p:sldLayoutId id="2147484002" r:id="rId28"/>
    <p:sldLayoutId id="2147484014" r:id="rId29"/>
    <p:sldLayoutId id="2147484010" r:id="rId30"/>
    <p:sldLayoutId id="2147484003" r:id="rId31"/>
  </p:sldLayoutIdLst>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hf hdr="0"/>
  <p:txStyles>
    <p:titleStyle>
      <a:lvl1pPr algn="l" defTabSz="914378" rtl="0" eaLnBrk="1" latinLnBrk="0" hangingPunct="1">
        <a:lnSpc>
          <a:spcPct val="85000"/>
        </a:lnSpc>
        <a:spcBef>
          <a:spcPct val="0"/>
        </a:spcBef>
        <a:buNone/>
        <a:defRPr lang="en-US" sz="3600" b="0" i="0" kern="1200" cap="none" spc="0" baseline="0" dirty="0" smtClean="0">
          <a:solidFill>
            <a:schemeClr val="tx1"/>
          </a:solidFill>
          <a:latin typeface="Arial" panose="02020404030301010803" pitchFamily="18" charset="0"/>
          <a:ea typeface="Arial" panose="02000503000000020004" pitchFamily="2" charset="0"/>
          <a:cs typeface="Arial" panose="020B0604020202020204" pitchFamily="34" charset="0"/>
        </a:defRPr>
      </a:lvl1pPr>
    </p:titleStyle>
    <p:bodyStyle>
      <a:lvl1pPr marL="233357" indent="-233357" algn="l" defTabSz="640064" rtl="0" eaLnBrk="1" latinLnBrk="0" hangingPunct="1">
        <a:lnSpc>
          <a:spcPct val="100000"/>
        </a:lnSpc>
        <a:spcBef>
          <a:spcPts val="0"/>
        </a:spcBef>
        <a:spcAft>
          <a:spcPts val="600"/>
        </a:spcAft>
        <a:buClr>
          <a:schemeClr val="accent1"/>
        </a:buClr>
        <a:buSzPct val="80000"/>
        <a:buFont typeface="Wingdings" charset="2"/>
        <a:buChar char="§"/>
        <a:tabLst/>
        <a:defRPr lang="en-US" sz="2200" b="0" i="0" kern="1200" dirty="0" smtClean="0">
          <a:solidFill>
            <a:schemeClr val="tx1"/>
          </a:solidFill>
          <a:latin typeface="Arial" panose="020B0604020202020204" pitchFamily="34" charset="0"/>
          <a:ea typeface="Arial" panose="02000503000000020004" pitchFamily="2" charset="0"/>
          <a:cs typeface="Arial" panose="020B0604020202020204" pitchFamily="34" charset="0"/>
        </a:defRPr>
      </a:lvl1pPr>
      <a:lvl2pPr marL="522275" indent="-227007" algn="l" defTabSz="640064" rtl="0" eaLnBrk="1" latinLnBrk="0" hangingPunct="1">
        <a:lnSpc>
          <a:spcPct val="100000"/>
        </a:lnSpc>
        <a:spcBef>
          <a:spcPts val="0"/>
        </a:spcBef>
        <a:spcAft>
          <a:spcPts val="600"/>
        </a:spcAft>
        <a:buClr>
          <a:schemeClr val="tx2"/>
        </a:buClr>
        <a:buSzPct val="100000"/>
        <a:buFont typeface="Arial" charset="0"/>
        <a:buChar char="-"/>
        <a:tabLst/>
        <a:defRPr lang="en-US" sz="2000" b="0" i="0" kern="1200" dirty="0" smtClean="0">
          <a:solidFill>
            <a:schemeClr val="tx1"/>
          </a:solidFill>
          <a:latin typeface="Arial" panose="020B0604020202020204" pitchFamily="34" charset="0"/>
          <a:ea typeface="Arial" panose="02000503000000020004" pitchFamily="2" charset="0"/>
          <a:cs typeface="Arial" panose="020B0604020202020204" pitchFamily="34" charset="0"/>
        </a:defRPr>
      </a:lvl2pPr>
      <a:lvl3pPr marL="746106" indent="-166684" algn="l" defTabSz="640064" rtl="0" eaLnBrk="1" latinLnBrk="0" hangingPunct="1">
        <a:lnSpc>
          <a:spcPct val="100000"/>
        </a:lnSpc>
        <a:spcBef>
          <a:spcPts val="0"/>
        </a:spcBef>
        <a:spcAft>
          <a:spcPts val="600"/>
        </a:spcAft>
        <a:buClr>
          <a:schemeClr val="accent1"/>
        </a:buClr>
        <a:buSzPct val="80000"/>
        <a:buFont typeface="Wingdings" charset="2"/>
        <a:buChar char="§"/>
        <a:tabLst/>
        <a:defRPr lang="en-US" sz="1800" b="0" i="0" kern="1200" dirty="0" smtClean="0">
          <a:solidFill>
            <a:schemeClr val="tx1"/>
          </a:solidFill>
          <a:latin typeface="Arial" panose="020B0604020202020204" pitchFamily="34" charset="0"/>
          <a:ea typeface="Arial" panose="02000503000000020004" pitchFamily="2" charset="0"/>
          <a:cs typeface="Arial" panose="020B0604020202020204" pitchFamily="34" charset="0"/>
        </a:defRPr>
      </a:lvl3pPr>
      <a:lvl4pPr marL="979463" indent="-173034" algn="l" defTabSz="640064" rtl="0" eaLnBrk="1" latinLnBrk="0" hangingPunct="1">
        <a:lnSpc>
          <a:spcPct val="100000"/>
        </a:lnSpc>
        <a:spcBef>
          <a:spcPts val="0"/>
        </a:spcBef>
        <a:spcAft>
          <a:spcPts val="600"/>
        </a:spcAft>
        <a:buClr>
          <a:schemeClr val="tx2"/>
        </a:buClr>
        <a:buSzPct val="100000"/>
        <a:buFont typeface="Arial" charset="0"/>
        <a:buChar char="-"/>
        <a:tabLst/>
        <a:defRPr lang="en-US" sz="1600" b="0" i="0" kern="1200" dirty="0" smtClean="0">
          <a:solidFill>
            <a:schemeClr val="tx1"/>
          </a:solidFill>
          <a:latin typeface="Arial" panose="020B0604020202020204" pitchFamily="34" charset="0"/>
          <a:ea typeface="Arial" panose="02000503000000020004" pitchFamily="2" charset="0"/>
          <a:cs typeface="Arial" panose="020B0604020202020204" pitchFamily="34" charset="0"/>
        </a:defRPr>
      </a:lvl4pPr>
      <a:lvl5pPr marL="1312830" indent="-227007" algn="l" defTabSz="640064" rtl="0" eaLnBrk="1" latinLnBrk="0" hangingPunct="1">
        <a:lnSpc>
          <a:spcPct val="200000"/>
        </a:lnSpc>
        <a:spcBef>
          <a:spcPts val="0"/>
        </a:spcBef>
        <a:buClr>
          <a:srgbClr val="18A3AC"/>
        </a:buClr>
        <a:buSzPct val="80000"/>
        <a:buFont typeface="Wingdings" charset="2"/>
        <a:buChar char="§"/>
        <a:defRPr lang="en-US" sz="2000" b="0" kern="1200" dirty="0">
          <a:solidFill>
            <a:schemeClr val="tx1"/>
          </a:solidFill>
          <a:latin typeface="+mj-lt"/>
          <a:ea typeface="+mn-ea"/>
          <a:cs typeface="+mn-cs"/>
        </a:defRPr>
      </a:lvl5pPr>
      <a:lvl6pPr marL="2514537"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5"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 Id="rId3" Type="http://schemas.openxmlformats.org/officeDocument/2006/relationships/image" Target="../media/image38.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39.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1.png"/><Relationship Id="rId7" Type="http://schemas.openxmlformats.org/officeDocument/2006/relationships/image" Target="../media/image6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45.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46.png"/><Relationship Id="rId4" Type="http://schemas.openxmlformats.org/officeDocument/2006/relationships/image" Target="../media/image1.png"/><Relationship Id="rId5" Type="http://schemas.openxmlformats.org/officeDocument/2006/relationships/image" Target="../media/image6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47.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48.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61.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lnSpc>
                <a:spcPct val="102000"/>
              </a:lnSpc>
              <a:spcBef>
                <a:spcPts val="0"/>
              </a:spcBef>
              <a:spcAft>
                <a:spcPts val="0"/>
              </a:spcAft>
            </a:pPr>
            <a:r>
              <a:rPr sz="2100" b="1" i="0">
                <a:solidFill>
                  <a:srgbClr val="052049"/>
                </a:solidFill>
                <a:latin typeface="Arial"/>
                <a:ea typeface="Arial"/>
                <a:cs typeface="Arial"/>
              </a:rPr>
              <a:t>Baseline metabolomic profile as a biomarker for weight change after Roux-en-Y gastric bypass</a:t>
            </a:r>
          </a:p>
        </p:txBody>
      </p:sp>
      <p:sp>
        <p:nvSpPr>
          <p:cNvPr id="4" name="Text Placeholder 3"/>
          <p:cNvSpPr>
            <a:spLocks noGrp="1"/>
          </p:cNvSpPr>
          <p:nvPr>
            <p:ph type="body" sz="quarter" idx="15"/>
          </p:nvPr>
        </p:nvSpPr>
        <p:spPr>
          <a:xfrm>
            <a:off x="301752" y="3310128"/>
            <a:ext cx="6144768" cy="411480"/>
          </a:xfrm>
        </p:spPr>
        <p:txBody>
          <a:bodyPr wrap="square"/>
          <a:lstStyle/>
          <a:p>
            <a:pPr algn="l">
              <a:lnSpc>
                <a:spcPct val="102000"/>
              </a:lnSpc>
              <a:spcBef>
                <a:spcPts val="0"/>
              </a:spcBef>
              <a:spcAft>
                <a:spcPts val="0"/>
              </a:spcAft>
            </a:pPr>
            <a:r>
              <a:rPr sz="1300" b="0" i="0">
                <a:solidFill>
                  <a:srgbClr val="178CCB"/>
                </a:solidFill>
                <a:latin typeface="Arial"/>
                <a:ea typeface="Arial"/>
                <a:cs typeface="Arial"/>
              </a:rPr>
              <a:t>A 13-metabolite risk score predicts five-year weight regain</a:t>
            </a:r>
          </a:p>
        </p:txBody>
      </p:sp>
      <p:sp>
        <p:nvSpPr>
          <p:cNvPr id="5" name="TextBox 4"/>
          <p:cNvSpPr txBox="1"/>
          <p:nvPr/>
        </p:nvSpPr>
        <p:spPr>
          <a:xfrm>
            <a:off x="320040" y="4023360"/>
            <a:ext cx="5669280" cy="731520"/>
          </a:xfrm>
          <a:prstGeom prst="rect">
            <a:avLst/>
          </a:prstGeom>
          <a:noFill/>
        </p:spPr>
        <p:txBody>
          <a:bodyPr wrap="square" lIns="0" tIns="0" rIns="0" bIns="0">
            <a:spAutoFit/>
          </a:bodyPr>
          <a:lstStyle/>
          <a:p>
            <a:pPr algn="l">
              <a:lnSpc>
                <a:spcPct val="118000"/>
              </a:lnSpc>
              <a:spcBef>
                <a:spcPts val="0"/>
              </a:spcBef>
              <a:spcAft>
                <a:spcPts val="0"/>
              </a:spcAft>
            </a:pPr>
            <a:r>
              <a:rPr sz="1300" b="1" i="0">
                <a:solidFill>
                  <a:srgbClr val="052049"/>
                </a:solidFill>
                <a:latin typeface="Arial"/>
                <a:ea typeface="Arial"/>
                <a:cs typeface="Arial"/>
              </a:rPr>
              <a:t>Wanjun Gu</a:t>
            </a:r>
          </a:p>
          <a:p>
            <a:pPr algn="l">
              <a:lnSpc>
                <a:spcPct val="118000"/>
              </a:lnSpc>
              <a:spcBef>
                <a:spcPts val="500"/>
              </a:spcBef>
              <a:spcAft>
                <a:spcPts val="0"/>
              </a:spcAft>
            </a:pPr>
            <a:r>
              <a:rPr sz="850" b="0" i="0">
                <a:solidFill>
                  <a:srgbClr val="6B7684"/>
                </a:solidFill>
                <a:latin typeface="Arial"/>
                <a:ea typeface="Arial"/>
                <a:cs typeface="Arial"/>
              </a:rPr>
              <a:t>Baranzini Lab</a:t>
            </a:r>
          </a:p>
          <a:p>
            <a:pPr algn="l">
              <a:lnSpc>
                <a:spcPct val="118000"/>
              </a:lnSpc>
              <a:spcBef>
                <a:spcPts val="0"/>
              </a:spcBef>
              <a:spcAft>
                <a:spcPts val="0"/>
              </a:spcAft>
            </a:pPr>
            <a:r>
              <a:rPr sz="850" b="0" i="0">
                <a:solidFill>
                  <a:srgbClr val="6B7684"/>
                </a:solidFill>
                <a:latin typeface="Arial"/>
                <a:ea typeface="Arial"/>
                <a:cs typeface="Arial"/>
              </a:rPr>
              <a:t>Department of Neurology, Weill Institute for Neurosciences, UC San Francisco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lnSpc>
                <a:spcPct val="100000"/>
              </a:lnSpc>
              <a:spcBef>
                <a:spcPts val="0"/>
              </a:spcBef>
              <a:spcAft>
                <a:spcPts val="0"/>
              </a:spcAft>
            </a:pPr>
            <a:r>
              <a:rPr sz="3000" b="1" i="0">
                <a:solidFill>
                  <a:srgbClr val="052049"/>
                </a:solidFill>
                <a:latin typeface="Arial"/>
                <a:ea typeface="Arial"/>
                <a:cs typeface="Arial"/>
              </a:rPr>
              <a:t>Background</a:t>
            </a:r>
          </a:p>
        </p:txBody>
      </p:sp>
      <p:sp>
        <p:nvSpPr>
          <p:cNvPr id="3" name="TextBox 2"/>
          <p:cNvSpPr txBox="1"/>
          <p:nvPr/>
        </p:nvSpPr>
        <p:spPr>
          <a:xfrm>
            <a:off x="457200" y="3035808"/>
            <a:ext cx="6949440" cy="384048"/>
          </a:xfrm>
          <a:prstGeom prst="rect">
            <a:avLst/>
          </a:prstGeom>
          <a:noFill/>
        </p:spPr>
        <p:txBody>
          <a:bodyPr wrap="square" lIns="0" tIns="0" rIns="0" bIns="0">
            <a:spAutoFit/>
          </a:bodyPr>
          <a:lstStyle/>
          <a:p>
            <a:pPr algn="l">
              <a:lnSpc>
                <a:spcPct val="110000"/>
              </a:lnSpc>
              <a:spcBef>
                <a:spcPts val="0"/>
              </a:spcBef>
              <a:spcAft>
                <a:spcPts val="0"/>
              </a:spcAft>
            </a:pPr>
            <a:r>
              <a:rPr sz="1300" b="0" i="0">
                <a:solidFill>
                  <a:srgbClr val="178CCB"/>
                </a:solidFill>
                <a:latin typeface="Arial"/>
                <a:ea typeface="Arial"/>
                <a:cs typeface="Arial"/>
              </a:rPr>
              <a:t>Two patients, the same operation, different outcomes</a:t>
            </a:r>
          </a:p>
        </p:txBody>
      </p:sp>
      <p:pic>
        <p:nvPicPr>
          <p:cNvPr id="4" name="Picture 3" descr="image.png"/>
          <p:cNvPicPr>
            <a:picLocks noChangeAspect="1"/>
          </p:cNvPicPr>
          <p:nvPr/>
        </p:nvPicPr>
        <p:blipFill>
          <a:blip r:embed="rId2"/>
          <a:stretch>
            <a:fillRect/>
          </a:stretch>
        </p:blipFill>
        <p:spPr>
          <a:xfrm>
            <a:off x="8247888" y="4530852"/>
            <a:ext cx="694944" cy="448970"/>
          </a:xfrm>
          <a:prstGeom prst="rect">
            <a:avLst/>
          </a:prstGeom>
        </p:spPr>
      </p:pic>
      <p:sp>
        <p:nvSpPr>
          <p:cNvPr id="5" name="TextBox 4"/>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000" b="1" i="0">
                <a:solidFill>
                  <a:srgbClr val="052049"/>
                </a:solidFill>
                <a:latin typeface="Arial"/>
                <a:ea typeface="Arial"/>
                <a:cs typeface="Arial"/>
              </a:rPr>
              <a:t>Roux-en-Y gastric bypass</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Background</a:t>
            </a:r>
          </a:p>
        </p:txBody>
      </p:sp>
      <p:sp>
        <p:nvSpPr>
          <p:cNvPr id="5" name="TextBox 4"/>
          <p:cNvSpPr txBox="1"/>
          <p:nvPr/>
        </p:nvSpPr>
        <p:spPr>
          <a:xfrm>
            <a:off x="457200" y="905256"/>
            <a:ext cx="5486400" cy="201168"/>
          </a:xfrm>
          <a:prstGeom prst="rect">
            <a:avLst/>
          </a:prstGeom>
          <a:noFill/>
        </p:spPr>
        <p:txBody>
          <a:bodyPr wrap="square" lIns="0" tIns="0" rIns="0" bIns="0">
            <a:spAutoFit/>
          </a:bodyPr>
          <a:lstStyle/>
          <a:p>
            <a:pPr algn="l">
              <a:spcBef>
                <a:spcPts val="0"/>
              </a:spcBef>
              <a:spcAft>
                <a:spcPts val="0"/>
              </a:spcAft>
            </a:pPr>
            <a:r>
              <a:rPr sz="1150" b="0" i="0">
                <a:solidFill>
                  <a:srgbClr val="178CCB"/>
                </a:solidFill>
                <a:latin typeface="Arial"/>
                <a:ea typeface="Arial"/>
                <a:cs typeface="Arial"/>
              </a:rPr>
              <a:t>The most effective durable therapy for severe obesity</a:t>
            </a:r>
          </a:p>
        </p:txBody>
      </p:sp>
      <p:pic>
        <p:nvPicPr>
          <p:cNvPr id="6" name="Picture 5" descr="rygb_illustration_424x266.png"/>
          <p:cNvPicPr>
            <a:picLocks noChangeAspect="1"/>
          </p:cNvPicPr>
          <p:nvPr/>
        </p:nvPicPr>
        <p:blipFill>
          <a:blip r:embed="rId3"/>
          <a:stretch>
            <a:fillRect/>
          </a:stretch>
        </p:blipFill>
        <p:spPr>
          <a:xfrm>
            <a:off x="4882896" y="1475354"/>
            <a:ext cx="3877056" cy="2435106"/>
          </a:xfrm>
          <a:prstGeom prst="rect">
            <a:avLst/>
          </a:prstGeom>
          <a:effectLst/>
        </p:spPr>
      </p:pic>
      <p:sp>
        <p:nvSpPr>
          <p:cNvPr id="7" name="TextBox 6"/>
          <p:cNvSpPr txBox="1"/>
          <p:nvPr/>
        </p:nvSpPr>
        <p:spPr>
          <a:xfrm>
            <a:off x="4745736" y="4001901"/>
            <a:ext cx="4151376"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A 30 mL pouch, a Roux limb, and a biliopancreatic limb</a:t>
            </a:r>
          </a:p>
        </p:txBody>
      </p:sp>
      <p:sp>
        <p:nvSpPr>
          <p:cNvPr id="8" name="TextBox 7"/>
          <p:cNvSpPr txBox="1"/>
          <p:nvPr/>
        </p:nvSpPr>
        <p:spPr>
          <a:xfrm>
            <a:off x="457200" y="1207008"/>
            <a:ext cx="4160520" cy="3108960"/>
          </a:xfrm>
          <a:prstGeom prst="rect">
            <a:avLst/>
          </a:prstGeom>
          <a:noFill/>
        </p:spPr>
        <p:txBody>
          <a:bodyPr wrap="square" lIns="0" tIns="0" rIns="0" bIns="0">
            <a:spAutoFit/>
          </a:bodyPr>
          <a:lstStyle/>
          <a:p>
            <a:pPr marL="146304" indent="-146304" algn="l">
              <a:lnSpc>
                <a:spcPct val="106000"/>
              </a:lnSpc>
              <a:spcBef>
                <a:spcPts val="0"/>
              </a:spcBef>
              <a:spcAft>
                <a:spcPts val="1000"/>
              </a:spcAft>
              <a:buClr>
                <a:srgbClr val="178CCB"/>
              </a:buClr>
              <a:buSzPct val="95000"/>
              <a:buFont typeface="Arial"/>
              <a:buChar char="•"/>
            </a:pPr>
            <a:r>
              <a:rPr sz="1250" b="0" i="0" dirty="0">
                <a:solidFill>
                  <a:srgbClr val="2B3544"/>
                </a:solidFill>
                <a:latin typeface="Arial"/>
                <a:ea typeface="Arial"/>
                <a:cs typeface="Arial"/>
              </a:rPr>
              <a:t>The stomach is reduced to a pouch of about </a:t>
            </a:r>
            <a:r>
              <a:rPr sz="1250" b="1" i="0" dirty="0">
                <a:solidFill>
                  <a:srgbClr val="2B3544"/>
                </a:solidFill>
                <a:latin typeface="Arial"/>
                <a:ea typeface="Arial"/>
                <a:cs typeface="Arial"/>
              </a:rPr>
              <a:t>30 mL</a:t>
            </a:r>
          </a:p>
          <a:p>
            <a:pPr marL="146304" indent="-146304" algn="l">
              <a:lnSpc>
                <a:spcPct val="106000"/>
              </a:lnSpc>
              <a:spcBef>
                <a:spcPts val="0"/>
              </a:spcBef>
              <a:spcAft>
                <a:spcPts val="1000"/>
              </a:spcAft>
              <a:buClr>
                <a:srgbClr val="178CCB"/>
              </a:buClr>
              <a:buSzPct val="95000"/>
              <a:buFont typeface="Arial"/>
              <a:buChar char="•"/>
            </a:pPr>
            <a:r>
              <a:rPr sz="1250" b="0" i="0" dirty="0">
                <a:solidFill>
                  <a:srgbClr val="2B3544"/>
                </a:solidFill>
                <a:latin typeface="Arial"/>
                <a:ea typeface="Arial"/>
                <a:cs typeface="Arial"/>
              </a:rPr>
              <a:t>The pouch is joined directly to the jejunum</a:t>
            </a:r>
          </a:p>
          <a:p>
            <a:pPr marL="146304" indent="-146304" algn="l">
              <a:lnSpc>
                <a:spcPct val="106000"/>
              </a:lnSpc>
              <a:spcBef>
                <a:spcPts val="0"/>
              </a:spcBef>
              <a:spcAft>
                <a:spcPts val="1000"/>
              </a:spcAft>
              <a:buClr>
                <a:srgbClr val="178CCB"/>
              </a:buClr>
              <a:buSzPct val="95000"/>
              <a:buFont typeface="Arial"/>
              <a:buChar char="•"/>
            </a:pPr>
            <a:r>
              <a:rPr sz="1250" b="0" i="0" dirty="0">
                <a:solidFill>
                  <a:srgbClr val="2B3544"/>
                </a:solidFill>
                <a:latin typeface="Arial"/>
                <a:ea typeface="Arial"/>
                <a:cs typeface="Arial"/>
              </a:rPr>
              <a:t>Distal stomach, duodenum and proximal jejunum are bypassed</a:t>
            </a:r>
          </a:p>
          <a:p>
            <a:pPr marL="146304" indent="-146304" algn="l">
              <a:lnSpc>
                <a:spcPct val="106000"/>
              </a:lnSpc>
              <a:spcBef>
                <a:spcPts val="0"/>
              </a:spcBef>
              <a:spcAft>
                <a:spcPts val="1000"/>
              </a:spcAft>
              <a:buClr>
                <a:srgbClr val="178CCB"/>
              </a:buClr>
              <a:buSzPct val="95000"/>
              <a:buFont typeface="Arial"/>
              <a:buChar char="•"/>
            </a:pPr>
            <a:r>
              <a:rPr sz="1250" b="0" i="0" dirty="0">
                <a:solidFill>
                  <a:srgbClr val="2B3544"/>
                </a:solidFill>
                <a:latin typeface="Arial"/>
                <a:ea typeface="Arial"/>
                <a:cs typeface="Arial"/>
              </a:rPr>
              <a:t>Most of the benefit is hormonal, not mechanical</a:t>
            </a:r>
          </a:p>
          <a:p>
            <a:pPr marL="146304" indent="0" algn="l">
              <a:lnSpc>
                <a:spcPct val="106000"/>
              </a:lnSpc>
              <a:spcBef>
                <a:spcPts val="0"/>
              </a:spcBef>
              <a:spcAft>
                <a:spcPts val="1000"/>
              </a:spcAft>
              <a:buNone/>
            </a:pPr>
            <a:r>
              <a:rPr sz="1200" b="0" i="0" dirty="0">
                <a:solidFill>
                  <a:srgbClr val="6B7684"/>
                </a:solidFill>
                <a:latin typeface="Arial"/>
                <a:ea typeface="Arial"/>
                <a:cs typeface="Arial"/>
              </a:rPr>
              <a:t>Bile acid flow, GLP-1 secretion and gut microbes all change</a:t>
            </a:r>
          </a:p>
          <a:p>
            <a:pPr marL="146304" indent="-146304" algn="l">
              <a:lnSpc>
                <a:spcPct val="106000"/>
              </a:lnSpc>
              <a:spcBef>
                <a:spcPts val="0"/>
              </a:spcBef>
              <a:spcAft>
                <a:spcPts val="1000"/>
              </a:spcAft>
              <a:buClr>
                <a:srgbClr val="178CCB"/>
              </a:buClr>
              <a:buSzPct val="95000"/>
              <a:buFont typeface="Arial"/>
              <a:buChar char="•"/>
            </a:pPr>
            <a:r>
              <a:rPr sz="1250" b="0" i="0" dirty="0">
                <a:solidFill>
                  <a:srgbClr val="2B3544"/>
                </a:solidFill>
                <a:latin typeface="Arial"/>
                <a:ea typeface="Arial"/>
                <a:cs typeface="Arial"/>
              </a:rPr>
              <a:t>About </a:t>
            </a:r>
            <a:r>
              <a:rPr sz="1250" b="1" i="0" dirty="0">
                <a:solidFill>
                  <a:srgbClr val="2B3544"/>
                </a:solidFill>
                <a:latin typeface="Arial"/>
                <a:ea typeface="Arial"/>
                <a:cs typeface="Arial"/>
              </a:rPr>
              <a:t>280,000</a:t>
            </a:r>
            <a:r>
              <a:rPr sz="1250" b="0" i="0" dirty="0">
                <a:solidFill>
                  <a:srgbClr val="2B3544"/>
                </a:solidFill>
                <a:latin typeface="Arial"/>
                <a:ea typeface="Arial"/>
                <a:cs typeface="Arial"/>
              </a:rPr>
              <a:t> procedures were done in the US in 2022</a:t>
            </a:r>
          </a:p>
          <a:p>
            <a:pPr marL="146304" indent="-146304" algn="l">
              <a:lnSpc>
                <a:spcPct val="106000"/>
              </a:lnSpc>
              <a:spcBef>
                <a:spcPts val="0"/>
              </a:spcBef>
              <a:spcAft>
                <a:spcPts val="1000"/>
              </a:spcAft>
              <a:buClr>
                <a:srgbClr val="178CCB"/>
              </a:buClr>
              <a:buSzPct val="95000"/>
              <a:buFont typeface="Arial"/>
              <a:buChar char="•"/>
            </a:pPr>
            <a:r>
              <a:rPr sz="1250" b="0" i="0" dirty="0">
                <a:solidFill>
                  <a:srgbClr val="2B3544"/>
                </a:solidFill>
                <a:latin typeface="Arial"/>
                <a:ea typeface="Arial"/>
                <a:cs typeface="Arial"/>
              </a:rPr>
              <a:t>Typical result: </a:t>
            </a:r>
            <a:r>
              <a:rPr sz="1250" b="1" i="0" dirty="0">
                <a:solidFill>
                  <a:srgbClr val="2B3544"/>
                </a:solidFill>
                <a:latin typeface="Arial"/>
                <a:ea typeface="Arial"/>
                <a:cs typeface="Arial"/>
              </a:rPr>
              <a:t>35 to 40%</a:t>
            </a:r>
            <a:r>
              <a:rPr sz="1250" b="0" i="0" dirty="0">
                <a:solidFill>
                  <a:srgbClr val="2B3544"/>
                </a:solidFill>
                <a:latin typeface="Arial"/>
                <a:ea typeface="Arial"/>
                <a:cs typeface="Arial"/>
              </a:rPr>
              <a:t> total weight loss</a:t>
            </a:r>
          </a:p>
        </p:txBody>
      </p:sp>
      <p:sp>
        <p:nvSpPr>
          <p:cNvPr id="9" name="TextBox 8"/>
          <p:cNvSpPr txBox="1"/>
          <p:nvPr/>
        </p:nvSpPr>
        <p:spPr>
          <a:xfrm>
            <a:off x="457200" y="4727448"/>
            <a:ext cx="6949440" cy="274320"/>
          </a:xfrm>
          <a:prstGeom prst="rect">
            <a:avLst/>
          </a:prstGeom>
          <a:noFill/>
        </p:spPr>
        <p:txBody>
          <a:bodyPr wrap="square" lIns="0" tIns="0" rIns="0" bIns="0">
            <a:spAutoFit/>
          </a:bodyPr>
          <a:lstStyle/>
          <a:p>
            <a:pPr algn="l">
              <a:lnSpc>
                <a:spcPct val="105000"/>
              </a:lnSpc>
              <a:spcBef>
                <a:spcPts val="0"/>
              </a:spcBef>
              <a:spcAft>
                <a:spcPts val="0"/>
              </a:spcAft>
            </a:pPr>
            <a:r>
              <a:rPr sz="750" b="0" i="1">
                <a:solidFill>
                  <a:srgbClr val="9AA5B1"/>
                </a:solidFill>
                <a:latin typeface="Arial"/>
                <a:ea typeface="Arial"/>
                <a:cs typeface="Arial"/>
              </a:rPr>
              <a:t>Clapp et al., Surg Obes Relat Dis 2024; Sharples &amp; Mahawar, Obes Surg 2020; Courcoulas et al., JAMA Surg 2018. Illustration: angelcabanmd.com.</a:t>
            </a:r>
          </a:p>
        </p:txBody>
      </p:sp>
      <p:pic>
        <p:nvPicPr>
          <p:cNvPr id="10" name="Picture 9" descr="image.png"/>
          <p:cNvPicPr>
            <a:picLocks noChangeAspect="1"/>
          </p:cNvPicPr>
          <p:nvPr/>
        </p:nvPicPr>
        <p:blipFill>
          <a:blip r:embed="rId4"/>
          <a:stretch>
            <a:fillRect/>
          </a:stretch>
        </p:blipFill>
        <p:spPr>
          <a:xfrm>
            <a:off x="8247888" y="4530852"/>
            <a:ext cx="694944" cy="448970"/>
          </a:xfrm>
          <a:prstGeom prst="rect">
            <a:avLst/>
          </a:prstGeom>
        </p:spPr>
      </p:pic>
      <p:sp>
        <p:nvSpPr>
          <p:cNvPr id="11" name="TextBox 10"/>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000" b="1" i="0">
                <a:solidFill>
                  <a:srgbClr val="052049"/>
                </a:solidFill>
                <a:latin typeface="Arial"/>
                <a:ea typeface="Arial"/>
                <a:cs typeface="Arial"/>
              </a:rPr>
              <a:t>Long-term outcomes diverge sharply</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Background</a:t>
            </a:r>
          </a:p>
        </p:txBody>
      </p:sp>
      <p:pic>
        <p:nvPicPr>
          <p:cNvPr id="5" name="Picture 4" descr="trim_fig1a_545x309.png"/>
          <p:cNvPicPr>
            <a:picLocks noChangeAspect="1"/>
          </p:cNvPicPr>
          <p:nvPr/>
        </p:nvPicPr>
        <p:blipFill>
          <a:blip r:embed="rId3"/>
          <a:stretch>
            <a:fillRect/>
          </a:stretch>
        </p:blipFill>
        <p:spPr>
          <a:xfrm>
            <a:off x="384048" y="1163366"/>
            <a:ext cx="4983480" cy="2830483"/>
          </a:xfrm>
          <a:prstGeom prst="rect">
            <a:avLst/>
          </a:prstGeom>
          <a:effectLst/>
        </p:spPr>
      </p:pic>
      <p:sp>
        <p:nvSpPr>
          <p:cNvPr id="6" name="TextBox 5"/>
          <p:cNvSpPr txBox="1"/>
          <p:nvPr/>
        </p:nvSpPr>
        <p:spPr>
          <a:xfrm>
            <a:off x="201167" y="4085289"/>
            <a:ext cx="5349240"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Fig. 1a  ·  mean excess body weight over 7 years, by latent trajectory class</a:t>
            </a:r>
          </a:p>
        </p:txBody>
      </p:sp>
      <p:sp>
        <p:nvSpPr>
          <p:cNvPr id="7" name="TextBox 6"/>
          <p:cNvSpPr txBox="1"/>
          <p:nvPr/>
        </p:nvSpPr>
        <p:spPr>
          <a:xfrm>
            <a:off x="5532120" y="1115568"/>
            <a:ext cx="3200400" cy="3017520"/>
          </a:xfrm>
          <a:prstGeom prst="rect">
            <a:avLst/>
          </a:prstGeom>
          <a:noFill/>
        </p:spPr>
        <p:txBody>
          <a:bodyPr wrap="square" lIns="0" tIns="0" rIns="0" bIns="0">
            <a:spAutoFit/>
          </a:bodyPr>
          <a:lstStyle/>
          <a:p>
            <a:pPr marL="146304" indent="-146304" algn="l">
              <a:lnSpc>
                <a:spcPct val="106000"/>
              </a:lnSpc>
              <a:spcBef>
                <a:spcPts val="0"/>
              </a:spcBef>
              <a:spcAft>
                <a:spcPts val="1000"/>
              </a:spcAft>
              <a:buClr>
                <a:srgbClr val="178CCB"/>
              </a:buClr>
              <a:buSzPct val="95000"/>
              <a:buFont typeface="Arial"/>
              <a:buChar char="•"/>
            </a:pPr>
            <a:r>
              <a:rPr sz="1100" b="0" i="0">
                <a:solidFill>
                  <a:srgbClr val="2B3544"/>
                </a:solidFill>
                <a:latin typeface="Arial"/>
                <a:ea typeface="Arial"/>
                <a:cs typeface="Arial"/>
              </a:rPr>
              <a:t>Latent class modelling of 7-year weight data in </a:t>
            </a:r>
            <a:r>
              <a:rPr sz="1100" b="1" i="0">
                <a:solidFill>
                  <a:srgbClr val="2B3544"/>
                </a:solidFill>
                <a:latin typeface="Arial"/>
                <a:ea typeface="Arial"/>
                <a:cs typeface="Arial"/>
              </a:rPr>
              <a:t>1,590</a:t>
            </a:r>
            <a:r>
              <a:rPr sz="1100" b="0" i="0">
                <a:solidFill>
                  <a:srgbClr val="2B3544"/>
                </a:solidFill>
                <a:latin typeface="Arial"/>
                <a:ea typeface="Arial"/>
                <a:cs typeface="Arial"/>
              </a:rPr>
              <a:t> LABS-2 patients</a:t>
            </a:r>
          </a:p>
          <a:p>
            <a:pPr marL="146304" indent="-146304" algn="l">
              <a:lnSpc>
                <a:spcPct val="106000"/>
              </a:lnSpc>
              <a:spcBef>
                <a:spcPts val="0"/>
              </a:spcBef>
              <a:spcAft>
                <a:spcPts val="1000"/>
              </a:spcAft>
              <a:buClr>
                <a:srgbClr val="178CCB"/>
              </a:buClr>
              <a:buSzPct val="95000"/>
              <a:buFont typeface="Arial"/>
              <a:buChar char="•"/>
            </a:pPr>
            <a:r>
              <a:rPr sz="1100" b="1" i="0">
                <a:solidFill>
                  <a:srgbClr val="2B3544"/>
                </a:solidFill>
                <a:latin typeface="Arial"/>
                <a:ea typeface="Arial"/>
                <a:cs typeface="Arial"/>
              </a:rPr>
              <a:t>Three</a:t>
            </a:r>
            <a:r>
              <a:rPr sz="1100" b="0" i="0">
                <a:solidFill>
                  <a:srgbClr val="2B3544"/>
                </a:solidFill>
                <a:latin typeface="Arial"/>
                <a:ea typeface="Arial"/>
                <a:cs typeface="Arial"/>
              </a:rPr>
              <a:t> trajectory classes emerged</a:t>
            </a:r>
          </a:p>
          <a:p>
            <a:pPr marL="146304" indent="-146304" algn="l">
              <a:lnSpc>
                <a:spcPct val="106000"/>
              </a:lnSpc>
              <a:spcBef>
                <a:spcPts val="0"/>
              </a:spcBef>
              <a:spcAft>
                <a:spcPts val="1000"/>
              </a:spcAft>
              <a:buClr>
                <a:srgbClr val="E69F00"/>
              </a:buClr>
              <a:buSzPct val="95000"/>
              <a:buFont typeface="Arial"/>
              <a:buChar char="•"/>
            </a:pPr>
            <a:r>
              <a:rPr sz="1100" b="0" i="0">
                <a:solidFill>
                  <a:srgbClr val="2B3544"/>
                </a:solidFill>
                <a:latin typeface="Arial"/>
                <a:ea typeface="Arial"/>
                <a:cs typeface="Arial"/>
              </a:rPr>
              <a:t>Class 1 (</a:t>
            </a:r>
            <a:r>
              <a:rPr sz="1100" b="1" i="0">
                <a:solidFill>
                  <a:srgbClr val="2B3544"/>
                </a:solidFill>
                <a:latin typeface="Arial"/>
                <a:ea typeface="Arial"/>
                <a:cs typeface="Arial"/>
              </a:rPr>
              <a:t>n = 100</a:t>
            </a:r>
            <a:r>
              <a:rPr sz="1100" b="0" i="0">
                <a:solidFill>
                  <a:srgbClr val="2B3544"/>
                </a:solidFill>
                <a:latin typeface="Arial"/>
                <a:ea typeface="Arial"/>
                <a:cs typeface="Arial"/>
              </a:rPr>
              <a:t>): lost weight, then regained </a:t>
            </a:r>
            <a:r>
              <a:rPr sz="1100" b="1" i="0">
                <a:solidFill>
                  <a:srgbClr val="2B3544"/>
                </a:solidFill>
                <a:latin typeface="Arial"/>
                <a:ea typeface="Arial"/>
                <a:cs typeface="Arial"/>
              </a:rPr>
              <a:t>16.1 kg</a:t>
            </a:r>
            <a:r>
              <a:rPr sz="1100" b="0" i="0">
                <a:solidFill>
                  <a:srgbClr val="2B3544"/>
                </a:solidFill>
                <a:latin typeface="Arial"/>
                <a:ea typeface="Arial"/>
                <a:cs typeface="Arial"/>
              </a:rPr>
              <a:t> by year 5</a:t>
            </a:r>
          </a:p>
          <a:p>
            <a:pPr marL="146304" indent="-146304" algn="l">
              <a:lnSpc>
                <a:spcPct val="106000"/>
              </a:lnSpc>
              <a:spcBef>
                <a:spcPts val="0"/>
              </a:spcBef>
              <a:spcAft>
                <a:spcPts val="1000"/>
              </a:spcAft>
              <a:buClr>
                <a:srgbClr val="178CCB"/>
              </a:buClr>
              <a:buSzPct val="95000"/>
              <a:buFont typeface="Arial"/>
              <a:buChar char="•"/>
            </a:pPr>
            <a:r>
              <a:rPr sz="1100" b="0" i="0">
                <a:solidFill>
                  <a:srgbClr val="2B3544"/>
                </a:solidFill>
                <a:latin typeface="Arial"/>
                <a:ea typeface="Arial"/>
                <a:cs typeface="Arial"/>
              </a:rPr>
              <a:t>Class 2 (</a:t>
            </a:r>
            <a:r>
              <a:rPr sz="1100" b="1" i="0">
                <a:solidFill>
                  <a:srgbClr val="2B3544"/>
                </a:solidFill>
                <a:latin typeface="Arial"/>
                <a:ea typeface="Arial"/>
                <a:cs typeface="Arial"/>
              </a:rPr>
              <a:t>n = 108</a:t>
            </a:r>
            <a:r>
              <a:rPr sz="1100" b="0" i="0">
                <a:solidFill>
                  <a:srgbClr val="2B3544"/>
                </a:solidFill>
                <a:latin typeface="Arial"/>
                <a:ea typeface="Arial"/>
                <a:cs typeface="Arial"/>
              </a:rPr>
              <a:t>): kept losing, a further </a:t>
            </a:r>
            <a:r>
              <a:rPr sz="1100" b="1" i="0">
                <a:solidFill>
                  <a:srgbClr val="2B3544"/>
                </a:solidFill>
                <a:latin typeface="Arial"/>
                <a:ea typeface="Arial"/>
                <a:cs typeface="Arial"/>
              </a:rPr>
              <a:t>14.0 kg</a:t>
            </a:r>
          </a:p>
          <a:p>
            <a:pPr marL="146304" indent="-146304" algn="l">
              <a:lnSpc>
                <a:spcPct val="106000"/>
              </a:lnSpc>
              <a:spcBef>
                <a:spcPts val="0"/>
              </a:spcBef>
              <a:spcAft>
                <a:spcPts val="1000"/>
              </a:spcAft>
              <a:buClr>
                <a:srgbClr val="178CCB"/>
              </a:buClr>
              <a:buSzPct val="95000"/>
              <a:buFont typeface="Arial"/>
              <a:buChar char="•"/>
            </a:pPr>
            <a:r>
              <a:rPr sz="1100" b="0" i="0">
                <a:solidFill>
                  <a:srgbClr val="2B3544"/>
                </a:solidFill>
                <a:latin typeface="Arial"/>
                <a:ea typeface="Arial"/>
                <a:cs typeface="Arial"/>
              </a:rPr>
              <a:t>Baseline weight was the same in both (</a:t>
            </a:r>
            <a:r>
              <a:rPr sz="1100" b="1" i="0">
                <a:solidFill>
                  <a:srgbClr val="2B3544"/>
                </a:solidFill>
                <a:latin typeface="Arial"/>
                <a:ea typeface="Arial"/>
                <a:cs typeface="Arial"/>
              </a:rPr>
              <a:t>101.0 vs 105.5 kg</a:t>
            </a:r>
            <a:r>
              <a:rPr sz="1100" b="0" i="0">
                <a:solidFill>
                  <a:srgbClr val="2B3544"/>
                </a:solidFill>
                <a:latin typeface="Arial"/>
                <a:ea typeface="Arial"/>
                <a:cs typeface="Arial"/>
              </a:rPr>
              <a:t>, p = 0.09)</a:t>
            </a:r>
          </a:p>
          <a:p>
            <a:pPr marL="146304" indent="-146304" algn="l">
              <a:lnSpc>
                <a:spcPct val="106000"/>
              </a:lnSpc>
              <a:spcBef>
                <a:spcPts val="0"/>
              </a:spcBef>
              <a:spcAft>
                <a:spcPts val="1000"/>
              </a:spcAft>
              <a:buClr>
                <a:srgbClr val="178CCB"/>
              </a:buClr>
              <a:buSzPct val="95000"/>
              <a:buFont typeface="Arial"/>
              <a:buChar char="•"/>
            </a:pPr>
            <a:r>
              <a:rPr sz="1100" b="0" i="0">
                <a:solidFill>
                  <a:srgbClr val="2B3544"/>
                </a:solidFill>
                <a:latin typeface="Arial"/>
                <a:ea typeface="Arial"/>
                <a:cs typeface="Arial"/>
              </a:rPr>
              <a:t>Class 3 (</a:t>
            </a:r>
            <a:r>
              <a:rPr sz="1100" b="1" i="0">
                <a:solidFill>
                  <a:srgbClr val="2B3544"/>
                </a:solidFill>
                <a:latin typeface="Arial"/>
                <a:ea typeface="Arial"/>
                <a:cs typeface="Arial"/>
              </a:rPr>
              <a:t>n = 1,382</a:t>
            </a:r>
            <a:r>
              <a:rPr sz="1100" b="0" i="0">
                <a:solidFill>
                  <a:srgbClr val="2B3544"/>
                </a:solidFill>
                <a:latin typeface="Arial"/>
                <a:ea typeface="Arial"/>
                <a:cs typeface="Arial"/>
              </a:rPr>
              <a:t>) started much lighter and was set aside</a:t>
            </a:r>
          </a:p>
        </p:txBody>
      </p:sp>
      <p:sp>
        <p:nvSpPr>
          <p:cNvPr id="8" name="TextBox 7"/>
          <p:cNvSpPr txBox="1"/>
          <p:nvPr/>
        </p:nvSpPr>
        <p:spPr>
          <a:xfrm>
            <a:off x="384048" y="4279392"/>
            <a:ext cx="8321040" cy="329184"/>
          </a:xfrm>
          <a:prstGeom prst="rect">
            <a:avLst/>
          </a:prstGeom>
          <a:noFill/>
        </p:spPr>
        <p:txBody>
          <a:bodyPr wrap="square" lIns="0" tIns="0" rIns="0" bIns="0">
            <a:spAutoFit/>
          </a:bodyPr>
          <a:lstStyle/>
          <a:p>
            <a:pPr algn="l">
              <a:lnSpc>
                <a:spcPct val="105000"/>
              </a:lnSpc>
              <a:spcBef>
                <a:spcPts val="0"/>
              </a:spcBef>
              <a:spcAft>
                <a:spcPts val="0"/>
              </a:spcAft>
            </a:pPr>
            <a:r>
              <a:rPr sz="1250" b="1" i="0">
                <a:solidFill>
                  <a:srgbClr val="178CCB"/>
                </a:solidFill>
                <a:latin typeface="Arial"/>
                <a:ea typeface="Arial"/>
                <a:cs typeface="Arial"/>
              </a:rPr>
              <a:t>Can preoperative metabolites tell these two groups apart?</a:t>
            </a:r>
          </a:p>
        </p:txBody>
      </p:sp>
      <p:sp>
        <p:nvSpPr>
          <p:cNvPr id="9" name="TextBox 8"/>
          <p:cNvSpPr txBox="1"/>
          <p:nvPr/>
        </p:nvSpPr>
        <p:spPr>
          <a:xfrm>
            <a:off x="457200" y="4727448"/>
            <a:ext cx="6949440" cy="274320"/>
          </a:xfrm>
          <a:prstGeom prst="rect">
            <a:avLst/>
          </a:prstGeom>
          <a:noFill/>
        </p:spPr>
        <p:txBody>
          <a:bodyPr wrap="square" lIns="0" tIns="0" rIns="0" bIns="0">
            <a:spAutoFit/>
          </a:bodyPr>
          <a:lstStyle/>
          <a:p>
            <a:pPr algn="l">
              <a:lnSpc>
                <a:spcPct val="105000"/>
              </a:lnSpc>
              <a:spcBef>
                <a:spcPts val="0"/>
              </a:spcBef>
              <a:spcAft>
                <a:spcPts val="0"/>
              </a:spcAft>
            </a:pPr>
            <a:r>
              <a:rPr sz="750" b="0" i="1">
                <a:solidFill>
                  <a:srgbClr val="9AA5B1"/>
                </a:solidFill>
                <a:latin typeface="Arial"/>
                <a:ea typeface="Arial"/>
                <a:cs typeface="Arial"/>
              </a:rPr>
              <a:t>Courcoulas et al., JAMA Surg 2018 (LABS-2 seven-year weight trajectories).</a:t>
            </a:r>
          </a:p>
        </p:txBody>
      </p:sp>
      <p:pic>
        <p:nvPicPr>
          <p:cNvPr id="10" name="Picture 9" descr="image.png"/>
          <p:cNvPicPr>
            <a:picLocks noChangeAspect="1"/>
          </p:cNvPicPr>
          <p:nvPr/>
        </p:nvPicPr>
        <p:blipFill>
          <a:blip r:embed="rId4"/>
          <a:stretch>
            <a:fillRect/>
          </a:stretch>
        </p:blipFill>
        <p:spPr>
          <a:xfrm>
            <a:off x="8247888" y="4530852"/>
            <a:ext cx="694944" cy="448970"/>
          </a:xfrm>
          <a:prstGeom prst="rect">
            <a:avLst/>
          </a:prstGeom>
        </p:spPr>
      </p:pic>
      <p:sp>
        <p:nvSpPr>
          <p:cNvPr id="11" name="TextBox 10"/>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lnSpc>
                <a:spcPct val="100000"/>
              </a:lnSpc>
              <a:spcBef>
                <a:spcPts val="0"/>
              </a:spcBef>
              <a:spcAft>
                <a:spcPts val="0"/>
              </a:spcAft>
            </a:pPr>
            <a:r>
              <a:rPr sz="3000" b="1" i="0">
                <a:solidFill>
                  <a:srgbClr val="052049"/>
                </a:solidFill>
                <a:latin typeface="Arial"/>
                <a:ea typeface="Arial"/>
                <a:cs typeface="Arial"/>
              </a:rPr>
              <a:t>Study design and methods</a:t>
            </a:r>
          </a:p>
        </p:txBody>
      </p:sp>
      <p:sp>
        <p:nvSpPr>
          <p:cNvPr id="3" name="TextBox 2"/>
          <p:cNvSpPr txBox="1"/>
          <p:nvPr/>
        </p:nvSpPr>
        <p:spPr>
          <a:xfrm>
            <a:off x="457200" y="3035808"/>
            <a:ext cx="6949440" cy="384048"/>
          </a:xfrm>
          <a:prstGeom prst="rect">
            <a:avLst/>
          </a:prstGeom>
          <a:noFill/>
        </p:spPr>
        <p:txBody>
          <a:bodyPr wrap="square" lIns="0" tIns="0" rIns="0" bIns="0">
            <a:spAutoFit/>
          </a:bodyPr>
          <a:lstStyle/>
          <a:p>
            <a:pPr algn="l">
              <a:lnSpc>
                <a:spcPct val="110000"/>
              </a:lnSpc>
              <a:spcBef>
                <a:spcPts val="0"/>
              </a:spcBef>
              <a:spcAft>
                <a:spcPts val="0"/>
              </a:spcAft>
            </a:pPr>
            <a:r>
              <a:rPr sz="1300" b="0" i="0">
                <a:solidFill>
                  <a:srgbClr val="178CCB"/>
                </a:solidFill>
                <a:latin typeface="Arial"/>
                <a:ea typeface="Arial"/>
                <a:cs typeface="Arial"/>
              </a:rPr>
              <a:t>Extreme phenotypes, untargeted LC-MS, four independent cohorts</a:t>
            </a:r>
          </a:p>
        </p:txBody>
      </p:sp>
      <p:pic>
        <p:nvPicPr>
          <p:cNvPr id="4" name="Picture 3" descr="image.png"/>
          <p:cNvPicPr>
            <a:picLocks noChangeAspect="1"/>
          </p:cNvPicPr>
          <p:nvPr/>
        </p:nvPicPr>
        <p:blipFill>
          <a:blip r:embed="rId2"/>
          <a:stretch>
            <a:fillRect/>
          </a:stretch>
        </p:blipFill>
        <p:spPr>
          <a:xfrm>
            <a:off x="8247888" y="4530852"/>
            <a:ext cx="694944" cy="448970"/>
          </a:xfrm>
          <a:prstGeom prst="rect">
            <a:avLst/>
          </a:prstGeom>
        </p:spPr>
      </p:pic>
      <p:sp>
        <p:nvSpPr>
          <p:cNvPr id="5" name="TextBox 4"/>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000" b="1" i="0">
                <a:solidFill>
                  <a:srgbClr val="052049"/>
                </a:solidFill>
                <a:latin typeface="Arial"/>
                <a:ea typeface="Arial"/>
                <a:cs typeface="Arial"/>
              </a:rPr>
              <a:t>An extreme-phenotype design across four cohorts</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Methods</a:t>
            </a:r>
          </a:p>
        </p:txBody>
      </p:sp>
      <p:pic>
        <p:nvPicPr>
          <p:cNvPr id="5" name="Picture 4" descr="trim_study_design_910x154.png"/>
          <p:cNvPicPr>
            <a:picLocks noChangeAspect="1"/>
          </p:cNvPicPr>
          <p:nvPr/>
        </p:nvPicPr>
        <p:blipFill>
          <a:blip r:embed="rId3"/>
          <a:stretch>
            <a:fillRect/>
          </a:stretch>
        </p:blipFill>
        <p:spPr>
          <a:xfrm>
            <a:off x="411480" y="1046988"/>
            <a:ext cx="8321040" cy="1417319"/>
          </a:xfrm>
          <a:prstGeom prst="rect">
            <a:avLst/>
          </a:prstGeom>
          <a:effectLst/>
        </p:spPr>
      </p:pic>
      <p:sp>
        <p:nvSpPr>
          <p:cNvPr id="6" name="TextBox 5"/>
          <p:cNvSpPr txBox="1"/>
          <p:nvPr/>
        </p:nvSpPr>
        <p:spPr>
          <a:xfrm>
            <a:off x="411480" y="2510028"/>
            <a:ext cx="8321040" cy="201168"/>
          </a:xfrm>
          <a:prstGeom prst="rect">
            <a:avLst/>
          </a:prstGeom>
          <a:noFill/>
        </p:spPr>
        <p:txBody>
          <a:bodyPr wrap="square" lIns="0" tIns="0" rIns="0" bIns="0">
            <a:spAutoFit/>
          </a:bodyPr>
          <a:lstStyle/>
          <a:p>
            <a:pPr algn="r">
              <a:spcBef>
                <a:spcPts val="0"/>
              </a:spcBef>
              <a:spcAft>
                <a:spcPts val="0"/>
              </a:spcAft>
            </a:pPr>
            <a:r>
              <a:rPr sz="800" b="0" i="0">
                <a:solidFill>
                  <a:srgbClr val="6B7684"/>
                </a:solidFill>
                <a:latin typeface="Arial"/>
                <a:ea typeface="Arial"/>
                <a:cs typeface="Arial"/>
              </a:rPr>
              <a:t>Fig. 1f  ·  study workflow</a:t>
            </a:r>
          </a:p>
        </p:txBody>
      </p:sp>
      <p:pic>
        <p:nvPicPr>
          <p:cNvPr id="7" name="Picture 6" descr="trim_fig1b_revised_425x141.png"/>
          <p:cNvPicPr>
            <a:picLocks noChangeAspect="1"/>
          </p:cNvPicPr>
          <p:nvPr/>
        </p:nvPicPr>
        <p:blipFill>
          <a:blip r:embed="rId4"/>
          <a:stretch>
            <a:fillRect/>
          </a:stretch>
        </p:blipFill>
        <p:spPr>
          <a:xfrm>
            <a:off x="4892040" y="2890335"/>
            <a:ext cx="3886200" cy="1296785"/>
          </a:xfrm>
          <a:prstGeom prst="rect">
            <a:avLst/>
          </a:prstGeom>
          <a:effectLst/>
        </p:spPr>
      </p:pic>
      <p:sp>
        <p:nvSpPr>
          <p:cNvPr id="8" name="TextBox 7"/>
          <p:cNvSpPr txBox="1"/>
          <p:nvPr/>
        </p:nvSpPr>
        <p:spPr>
          <a:xfrm>
            <a:off x="4892040" y="4241984"/>
            <a:ext cx="3886200"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Fig. 1b  ·  participant selection</a:t>
            </a:r>
          </a:p>
        </p:txBody>
      </p:sp>
      <p:sp>
        <p:nvSpPr>
          <p:cNvPr id="9" name="TextBox 8"/>
          <p:cNvSpPr txBox="1"/>
          <p:nvPr/>
        </p:nvSpPr>
        <p:spPr>
          <a:xfrm>
            <a:off x="411480" y="2761488"/>
            <a:ext cx="4251960" cy="1874519"/>
          </a:xfrm>
          <a:prstGeom prst="rect">
            <a:avLst/>
          </a:prstGeom>
          <a:noFill/>
        </p:spPr>
        <p:txBody>
          <a:bodyPr wrap="square" lIns="0" tIns="0" rIns="0" bIns="0">
            <a:spAutoFit/>
          </a:bodyPr>
          <a:lstStyle/>
          <a:p>
            <a:pPr marL="146304" indent="-146304" algn="l">
              <a:lnSpc>
                <a:spcPct val="106000"/>
              </a:lnSpc>
              <a:spcBef>
                <a:spcPts val="0"/>
              </a:spcBef>
              <a:spcAft>
                <a:spcPts val="500"/>
              </a:spcAft>
              <a:buClr>
                <a:srgbClr val="178CCB"/>
              </a:buClr>
              <a:buSzPct val="95000"/>
              <a:buFont typeface="Arial"/>
              <a:buChar char="•"/>
            </a:pPr>
            <a:r>
              <a:rPr sz="980" b="0" i="0">
                <a:solidFill>
                  <a:srgbClr val="2B3544"/>
                </a:solidFill>
                <a:latin typeface="Arial"/>
                <a:ea typeface="Arial"/>
                <a:cs typeface="Arial"/>
              </a:rPr>
              <a:t>Discovery: </a:t>
            </a:r>
            <a:r>
              <a:rPr sz="980" b="1" i="0">
                <a:solidFill>
                  <a:srgbClr val="2B3544"/>
                </a:solidFill>
                <a:latin typeface="Arial"/>
                <a:ea typeface="Arial"/>
                <a:cs typeface="Arial"/>
              </a:rPr>
              <a:t>80</a:t>
            </a:r>
            <a:r>
              <a:rPr sz="980" b="0" i="0">
                <a:solidFill>
                  <a:srgbClr val="2B3544"/>
                </a:solidFill>
                <a:latin typeface="Arial"/>
                <a:ea typeface="Arial"/>
                <a:cs typeface="Arial"/>
              </a:rPr>
              <a:t> sustained weight loss (SWL) participants matched </a:t>
            </a:r>
            <a:r>
              <a:rPr sz="980" b="1" i="0">
                <a:solidFill>
                  <a:srgbClr val="2B3544"/>
                </a:solidFill>
                <a:latin typeface="Arial"/>
                <a:ea typeface="Arial"/>
                <a:cs typeface="Arial"/>
              </a:rPr>
              <a:t>1:1</a:t>
            </a:r>
            <a:r>
              <a:rPr sz="980" b="0" i="0">
                <a:solidFill>
                  <a:srgbClr val="2B3544"/>
                </a:solidFill>
                <a:latin typeface="Arial"/>
                <a:ea typeface="Arial"/>
                <a:cs typeface="Arial"/>
              </a:rPr>
              <a:t> to </a:t>
            </a:r>
            <a:r>
              <a:rPr sz="980" b="1" i="0">
                <a:solidFill>
                  <a:srgbClr val="2B3544"/>
                </a:solidFill>
                <a:latin typeface="Arial"/>
                <a:ea typeface="Arial"/>
                <a:cs typeface="Arial"/>
              </a:rPr>
              <a:t>80</a:t>
            </a:r>
            <a:r>
              <a:rPr sz="980" b="0" i="0">
                <a:solidFill>
                  <a:srgbClr val="2B3544"/>
                </a:solidFill>
                <a:latin typeface="Arial"/>
                <a:ea typeface="Arial"/>
                <a:cs typeface="Arial"/>
              </a:rPr>
              <a:t> weight regain (RGN) participants</a:t>
            </a:r>
          </a:p>
          <a:p>
            <a:pPr marL="146304" indent="0" algn="l">
              <a:lnSpc>
                <a:spcPct val="106000"/>
              </a:lnSpc>
              <a:spcBef>
                <a:spcPts val="0"/>
              </a:spcBef>
              <a:spcAft>
                <a:spcPts val="500"/>
              </a:spcAft>
              <a:buNone/>
            </a:pPr>
            <a:r>
              <a:rPr sz="930" b="0" i="0">
                <a:solidFill>
                  <a:srgbClr val="6B7684"/>
                </a:solidFill>
                <a:latin typeface="Arial"/>
                <a:ea typeface="Arial"/>
                <a:cs typeface="Arial"/>
              </a:rPr>
              <a:t>Matched on baseline BMI, age, sex, race and renal function</a:t>
            </a:r>
          </a:p>
          <a:p>
            <a:pPr marL="146304" indent="-146304" algn="l">
              <a:lnSpc>
                <a:spcPct val="106000"/>
              </a:lnSpc>
              <a:spcBef>
                <a:spcPts val="0"/>
              </a:spcBef>
              <a:spcAft>
                <a:spcPts val="500"/>
              </a:spcAft>
              <a:buClr>
                <a:srgbClr val="178CCB"/>
              </a:buClr>
              <a:buSzPct val="95000"/>
              <a:buFont typeface="Arial"/>
              <a:buChar char="•"/>
            </a:pPr>
            <a:r>
              <a:rPr sz="980" b="0" i="0">
                <a:solidFill>
                  <a:srgbClr val="2B3544"/>
                </a:solidFill>
                <a:latin typeface="Arial"/>
                <a:ea typeface="Arial"/>
                <a:cs typeface="Arial"/>
              </a:rPr>
              <a:t>Untargeted LC-MS on preoperative fasting plasma, four modes</a:t>
            </a:r>
          </a:p>
          <a:p>
            <a:pPr marL="146304" indent="0" algn="l">
              <a:lnSpc>
                <a:spcPct val="106000"/>
              </a:lnSpc>
              <a:spcBef>
                <a:spcPts val="0"/>
              </a:spcBef>
              <a:spcAft>
                <a:spcPts val="500"/>
              </a:spcAft>
              <a:buNone/>
            </a:pPr>
            <a:r>
              <a:rPr sz="930" b="1" i="0">
                <a:solidFill>
                  <a:srgbClr val="6B7684"/>
                </a:solidFill>
                <a:latin typeface="Arial"/>
                <a:ea typeface="Arial"/>
                <a:cs typeface="Arial"/>
              </a:rPr>
              <a:t>786</a:t>
            </a:r>
            <a:r>
              <a:rPr sz="930" b="0" i="0">
                <a:solidFill>
                  <a:srgbClr val="6B7684"/>
                </a:solidFill>
                <a:latin typeface="Arial"/>
                <a:ea typeface="Arial"/>
                <a:cs typeface="Arial"/>
              </a:rPr>
              <a:t> features, </a:t>
            </a:r>
            <a:r>
              <a:rPr sz="930" b="1" i="0">
                <a:solidFill>
                  <a:srgbClr val="6B7684"/>
                </a:solidFill>
                <a:latin typeface="Arial"/>
                <a:ea typeface="Arial"/>
                <a:cs typeface="Arial"/>
              </a:rPr>
              <a:t>591</a:t>
            </a:r>
            <a:r>
              <a:rPr sz="930" b="0" i="0">
                <a:solidFill>
                  <a:srgbClr val="6B7684"/>
                </a:solidFill>
                <a:latin typeface="Arial"/>
                <a:ea typeface="Arial"/>
                <a:cs typeface="Arial"/>
              </a:rPr>
              <a:t> unique compounds, </a:t>
            </a:r>
            <a:r>
              <a:rPr sz="930" b="1" i="0">
                <a:solidFill>
                  <a:srgbClr val="6B7684"/>
                </a:solidFill>
                <a:latin typeface="Arial"/>
                <a:ea typeface="Arial"/>
                <a:cs typeface="Arial"/>
              </a:rPr>
              <a:t>541</a:t>
            </a:r>
            <a:r>
              <a:rPr sz="930" b="0" i="0">
                <a:solidFill>
                  <a:srgbClr val="6B7684"/>
                </a:solidFill>
                <a:latin typeface="Arial"/>
                <a:ea typeface="Arial"/>
                <a:cs typeface="Arial"/>
              </a:rPr>
              <a:t> kept after QC</a:t>
            </a:r>
          </a:p>
          <a:p>
            <a:pPr marL="146304" indent="-146304" algn="l">
              <a:lnSpc>
                <a:spcPct val="106000"/>
              </a:lnSpc>
              <a:spcBef>
                <a:spcPts val="0"/>
              </a:spcBef>
              <a:spcAft>
                <a:spcPts val="500"/>
              </a:spcAft>
              <a:buClr>
                <a:srgbClr val="178CCB"/>
              </a:buClr>
              <a:buSzPct val="95000"/>
              <a:buFont typeface="Arial"/>
              <a:buChar char="•"/>
            </a:pPr>
            <a:r>
              <a:rPr sz="980" b="0" i="0">
                <a:solidFill>
                  <a:srgbClr val="2B3544"/>
                </a:solidFill>
                <a:latin typeface="Arial"/>
                <a:ea typeface="Arial"/>
                <a:cs typeface="Arial"/>
              </a:rPr>
              <a:t>Replication: post-RYGB cohort, median </a:t>
            </a:r>
            <a:r>
              <a:rPr sz="980" b="1" i="0">
                <a:solidFill>
                  <a:srgbClr val="2B3544"/>
                </a:solidFill>
                <a:latin typeface="Arial"/>
                <a:ea typeface="Arial"/>
                <a:cs typeface="Arial"/>
              </a:rPr>
              <a:t>7.2 years</a:t>
            </a:r>
            <a:r>
              <a:rPr sz="980" b="0" i="0">
                <a:solidFill>
                  <a:srgbClr val="2B3544"/>
                </a:solidFill>
                <a:latin typeface="Arial"/>
                <a:ea typeface="Arial"/>
                <a:cs typeface="Arial"/>
              </a:rPr>
              <a:t> after surgery (</a:t>
            </a:r>
            <a:r>
              <a:rPr sz="980" b="1" i="0">
                <a:solidFill>
                  <a:srgbClr val="2B3544"/>
                </a:solidFill>
                <a:latin typeface="Arial"/>
                <a:ea typeface="Arial"/>
                <a:cs typeface="Arial"/>
              </a:rPr>
              <a:t>n = 35</a:t>
            </a:r>
            <a:r>
              <a:rPr sz="980" b="0" i="0">
                <a:solidFill>
                  <a:srgbClr val="2B3544"/>
                </a:solidFill>
                <a:latin typeface="Arial"/>
                <a:ea typeface="Arial"/>
                <a:cs typeface="Arial"/>
              </a:rPr>
              <a:t>)</a:t>
            </a:r>
          </a:p>
          <a:p>
            <a:pPr marL="146304" indent="-146304" algn="l">
              <a:lnSpc>
                <a:spcPct val="106000"/>
              </a:lnSpc>
              <a:spcBef>
                <a:spcPts val="0"/>
              </a:spcBef>
              <a:spcAft>
                <a:spcPts val="500"/>
              </a:spcAft>
              <a:buClr>
                <a:srgbClr val="178CCB"/>
              </a:buClr>
              <a:buSzPct val="95000"/>
              <a:buFont typeface="Arial"/>
              <a:buChar char="•"/>
            </a:pPr>
            <a:r>
              <a:rPr sz="980" b="0" i="0">
                <a:solidFill>
                  <a:srgbClr val="2B3544"/>
                </a:solidFill>
                <a:latin typeface="Arial"/>
                <a:ea typeface="Arial"/>
                <a:cs typeface="Arial"/>
              </a:rPr>
              <a:t>Generalisation: Estonian Biobank obesity extremes (</a:t>
            </a:r>
            <a:r>
              <a:rPr sz="980" b="1" i="0">
                <a:solidFill>
                  <a:srgbClr val="2B3544"/>
                </a:solidFill>
                <a:latin typeface="Arial"/>
                <a:ea typeface="Arial"/>
                <a:cs typeface="Arial"/>
              </a:rPr>
              <a:t>n = 198</a:t>
            </a:r>
            <a:r>
              <a:rPr sz="980" b="0" i="0">
                <a:solidFill>
                  <a:srgbClr val="2B3544"/>
                </a:solidFill>
                <a:latin typeface="Arial"/>
                <a:ea typeface="Arial"/>
                <a:cs typeface="Arial"/>
              </a:rPr>
              <a:t>)</a:t>
            </a:r>
          </a:p>
          <a:p>
            <a:pPr marL="146304" indent="-146304" algn="l">
              <a:lnSpc>
                <a:spcPct val="106000"/>
              </a:lnSpc>
              <a:spcBef>
                <a:spcPts val="0"/>
              </a:spcBef>
              <a:spcAft>
                <a:spcPts val="500"/>
              </a:spcAft>
              <a:buClr>
                <a:srgbClr val="178CCB"/>
              </a:buClr>
              <a:buSzPct val="95000"/>
              <a:buFont typeface="Arial"/>
              <a:buChar char="•"/>
            </a:pPr>
            <a:r>
              <a:rPr sz="980" b="0" i="0">
                <a:solidFill>
                  <a:srgbClr val="2B3544"/>
                </a:solidFill>
                <a:latin typeface="Arial"/>
                <a:ea typeface="Arial"/>
                <a:cs typeface="Arial"/>
              </a:rPr>
              <a:t>Genetics: GWAS in Framingham Offspring (</a:t>
            </a:r>
            <a:r>
              <a:rPr sz="980" b="1" i="0">
                <a:solidFill>
                  <a:srgbClr val="2B3544"/>
                </a:solidFill>
                <a:latin typeface="Arial"/>
                <a:ea typeface="Arial"/>
                <a:cs typeface="Arial"/>
              </a:rPr>
              <a:t>n = 1,508</a:t>
            </a:r>
            <a:r>
              <a:rPr sz="980" b="0" i="0">
                <a:solidFill>
                  <a:srgbClr val="2B3544"/>
                </a:solidFill>
                <a:latin typeface="Arial"/>
                <a:ea typeface="Arial"/>
                <a:cs typeface="Arial"/>
              </a:rPr>
              <a:t>)</a:t>
            </a:r>
          </a:p>
        </p:txBody>
      </p:sp>
      <p:sp>
        <p:nvSpPr>
          <p:cNvPr id="10" name="TextBox 9"/>
          <p:cNvSpPr txBox="1"/>
          <p:nvPr/>
        </p:nvSpPr>
        <p:spPr>
          <a:xfrm>
            <a:off x="457200" y="4727448"/>
            <a:ext cx="6949440" cy="274320"/>
          </a:xfrm>
          <a:prstGeom prst="rect">
            <a:avLst/>
          </a:prstGeom>
          <a:noFill/>
        </p:spPr>
        <p:txBody>
          <a:bodyPr wrap="square" lIns="0" tIns="0" rIns="0" bIns="0">
            <a:spAutoFit/>
          </a:bodyPr>
          <a:lstStyle/>
          <a:p>
            <a:pPr algn="l">
              <a:lnSpc>
                <a:spcPct val="105000"/>
              </a:lnSpc>
              <a:spcBef>
                <a:spcPts val="0"/>
              </a:spcBef>
              <a:spcAft>
                <a:spcPts val="0"/>
              </a:spcAft>
            </a:pPr>
            <a:r>
              <a:rPr sz="750" b="0" i="1">
                <a:solidFill>
                  <a:srgbClr val="9AA5B1"/>
                </a:solidFill>
                <a:latin typeface="Arial"/>
                <a:ea typeface="Arial"/>
                <a:cs typeface="Arial"/>
              </a:rPr>
              <a:t>Abidi et al., Obes Surg 2020 (post-RYGB cohort); Hsu et al., Nat Commun 2020 (Estonian Biobank); Courcoulas et al., JAMA Surg 2018 (LABS-2).</a:t>
            </a:r>
          </a:p>
        </p:txBody>
      </p:sp>
      <p:pic>
        <p:nvPicPr>
          <p:cNvPr id="11" name="Picture 10" descr="image.png"/>
          <p:cNvPicPr>
            <a:picLocks noChangeAspect="1"/>
          </p:cNvPicPr>
          <p:nvPr/>
        </p:nvPicPr>
        <p:blipFill>
          <a:blip r:embed="rId5"/>
          <a:stretch>
            <a:fillRect/>
          </a:stretch>
        </p:blipFill>
        <p:spPr>
          <a:xfrm>
            <a:off x="8247888" y="4530852"/>
            <a:ext cx="694944" cy="448970"/>
          </a:xfrm>
          <a:prstGeom prst="rect">
            <a:avLst/>
          </a:prstGeom>
        </p:spPr>
      </p:pic>
      <p:sp>
        <p:nvSpPr>
          <p:cNvPr id="12" name="TextBox 11"/>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000" b="1" i="0">
                <a:solidFill>
                  <a:srgbClr val="052049"/>
                </a:solidFill>
                <a:latin typeface="Arial"/>
                <a:ea typeface="Arial"/>
                <a:cs typeface="Arial"/>
              </a:rPr>
              <a:t>Weight trajectories need a non-linear model</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Methods</a:t>
            </a:r>
          </a:p>
        </p:txBody>
      </p:sp>
      <p:sp>
        <p:nvSpPr>
          <p:cNvPr id="8" name="TextBox 7"/>
          <p:cNvSpPr txBox="1"/>
          <p:nvPr/>
        </p:nvSpPr>
        <p:spPr>
          <a:xfrm>
            <a:off x="182880" y="4315968"/>
            <a:ext cx="5212080"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Fig. 1c  linear fit, 0–36 mo (top)  ·  Fig. 1d  broken-stick fit, 0–60 mo (bottom)  ·  three representative participants</a:t>
            </a:r>
          </a:p>
        </p:txBody>
      </p:sp>
      <p:sp>
        <p:nvSpPr>
          <p:cNvPr id="9" name="TextBox 8"/>
          <p:cNvSpPr txBox="1"/>
          <p:nvPr/>
        </p:nvSpPr>
        <p:spPr>
          <a:xfrm>
            <a:off x="5468112" y="1060704"/>
            <a:ext cx="3273552" cy="3291840"/>
          </a:xfrm>
          <a:prstGeom prst="rect">
            <a:avLst/>
          </a:prstGeom>
          <a:noFill/>
        </p:spPr>
        <p:txBody>
          <a:bodyPr wrap="square" lIns="0" tIns="0" rIns="0" bIns="0">
            <a:spAutoFit/>
          </a:bodyPr>
          <a:lstStyle/>
          <a:p>
            <a:pPr marL="146304" indent="-146304" algn="l">
              <a:lnSpc>
                <a:spcPct val="106000"/>
              </a:lnSpc>
              <a:spcBef>
                <a:spcPts val="0"/>
              </a:spcBef>
              <a:spcAft>
                <a:spcPts val="700"/>
              </a:spcAft>
              <a:buClr>
                <a:srgbClr val="178CCB"/>
              </a:buClr>
              <a:buSzPct val="95000"/>
              <a:buFont typeface="Arial"/>
              <a:buChar char="•"/>
            </a:pPr>
            <a:r>
              <a:rPr sz="1100" b="0" i="0" dirty="0">
                <a:solidFill>
                  <a:srgbClr val="2B3544"/>
                </a:solidFill>
                <a:latin typeface="Arial"/>
                <a:ea typeface="Arial"/>
                <a:cs typeface="Arial"/>
              </a:rPr>
              <a:t>Weight change after surgery is not linear</a:t>
            </a:r>
          </a:p>
          <a:p>
            <a:pPr marL="146304" indent="-146304" algn="l">
              <a:lnSpc>
                <a:spcPct val="106000"/>
              </a:lnSpc>
              <a:spcBef>
                <a:spcPts val="0"/>
              </a:spcBef>
              <a:spcAft>
                <a:spcPts val="700"/>
              </a:spcAft>
              <a:buClr>
                <a:srgbClr val="178CCB"/>
              </a:buClr>
              <a:buSzPct val="95000"/>
              <a:buFont typeface="Arial"/>
              <a:buChar char="•"/>
            </a:pPr>
            <a:r>
              <a:rPr sz="1100" b="0" i="0" dirty="0">
                <a:solidFill>
                  <a:srgbClr val="2B3544"/>
                </a:solidFill>
                <a:latin typeface="Arial"/>
                <a:ea typeface="Arial"/>
                <a:cs typeface="Arial"/>
              </a:rPr>
              <a:t>A straight line fits badly (</a:t>
            </a:r>
            <a:r>
              <a:rPr sz="1100" b="1" i="0" dirty="0">
                <a:solidFill>
                  <a:srgbClr val="2B3544"/>
                </a:solidFill>
                <a:latin typeface="Arial"/>
                <a:ea typeface="Arial"/>
                <a:cs typeface="Arial"/>
              </a:rPr>
              <a:t>R² = 0.58</a:t>
            </a:r>
            <a:r>
              <a:rPr sz="1100" b="0" i="0" dirty="0">
                <a:solidFill>
                  <a:srgbClr val="2B3544"/>
                </a:solidFill>
                <a:latin typeface="Arial"/>
                <a:ea typeface="Arial"/>
                <a:cs typeface="Arial"/>
              </a:rPr>
              <a:t>)</a:t>
            </a:r>
          </a:p>
          <a:p>
            <a:pPr marL="146304" indent="-146304" algn="l">
              <a:lnSpc>
                <a:spcPct val="106000"/>
              </a:lnSpc>
              <a:spcBef>
                <a:spcPts val="0"/>
              </a:spcBef>
              <a:spcAft>
                <a:spcPts val="700"/>
              </a:spcAft>
              <a:buClr>
                <a:srgbClr val="178CCB"/>
              </a:buClr>
              <a:buSzPct val="95000"/>
              <a:buFont typeface="Arial"/>
              <a:buChar char="•"/>
            </a:pPr>
            <a:r>
              <a:rPr sz="1100" b="0" i="0" dirty="0">
                <a:solidFill>
                  <a:srgbClr val="2B3544"/>
                </a:solidFill>
                <a:latin typeface="Arial"/>
                <a:ea typeface="Arial"/>
                <a:cs typeface="Arial"/>
              </a:rPr>
              <a:t>A broken-stick mixed model fits well (</a:t>
            </a:r>
            <a:r>
              <a:rPr sz="1100" b="1" i="0" dirty="0">
                <a:solidFill>
                  <a:srgbClr val="2B3544"/>
                </a:solidFill>
                <a:latin typeface="Arial"/>
                <a:ea typeface="Arial"/>
                <a:cs typeface="Arial"/>
              </a:rPr>
              <a:t>R² = 0.98</a:t>
            </a:r>
            <a:r>
              <a:rPr sz="1100" b="0" i="0" dirty="0">
                <a:solidFill>
                  <a:srgbClr val="2B3544"/>
                </a:solidFill>
                <a:latin typeface="Arial"/>
                <a:ea typeface="Arial"/>
                <a:cs typeface="Arial"/>
              </a:rPr>
              <a:t>)</a:t>
            </a:r>
          </a:p>
          <a:p>
            <a:pPr marL="146304" indent="0" algn="l">
              <a:lnSpc>
                <a:spcPct val="106000"/>
              </a:lnSpc>
              <a:spcBef>
                <a:spcPts val="0"/>
              </a:spcBef>
              <a:spcAft>
                <a:spcPts val="700"/>
              </a:spcAft>
              <a:buNone/>
            </a:pPr>
            <a:r>
              <a:rPr sz="1050" b="0" i="0" dirty="0">
                <a:solidFill>
                  <a:srgbClr val="6B7684"/>
                </a:solidFill>
                <a:latin typeface="Arial"/>
                <a:ea typeface="Arial"/>
                <a:cs typeface="Arial"/>
              </a:rPr>
              <a:t>Knots at </a:t>
            </a:r>
            <a:r>
              <a:rPr sz="1050" b="1" i="0" dirty="0">
                <a:solidFill>
                  <a:srgbClr val="6B7684"/>
                </a:solidFill>
                <a:latin typeface="Arial"/>
                <a:ea typeface="Arial"/>
                <a:cs typeface="Arial"/>
              </a:rPr>
              <a:t>6, 12 and 24 months</a:t>
            </a:r>
          </a:p>
          <a:p>
            <a:pPr marL="146304" indent="-146304" algn="l">
              <a:lnSpc>
                <a:spcPct val="106000"/>
              </a:lnSpc>
              <a:spcBef>
                <a:spcPts val="0"/>
              </a:spcBef>
              <a:spcAft>
                <a:spcPts val="700"/>
              </a:spcAft>
              <a:buClr>
                <a:srgbClr val="178CCB"/>
              </a:buClr>
              <a:buSzPct val="95000"/>
              <a:buFont typeface="Arial"/>
              <a:buChar char="•"/>
            </a:pPr>
            <a:r>
              <a:rPr sz="1100" b="0" i="0" dirty="0">
                <a:solidFill>
                  <a:srgbClr val="2B3544"/>
                </a:solidFill>
                <a:latin typeface="Arial"/>
                <a:ea typeface="Arial"/>
                <a:cs typeface="Arial"/>
              </a:rPr>
              <a:t>EBW can then be read off at exactly five years for everyone</a:t>
            </a:r>
          </a:p>
          <a:p>
            <a:pPr marL="146304" indent="-146304" algn="l">
              <a:lnSpc>
                <a:spcPct val="106000"/>
              </a:lnSpc>
              <a:spcBef>
                <a:spcPts val="0"/>
              </a:spcBef>
              <a:spcAft>
                <a:spcPts val="700"/>
              </a:spcAft>
              <a:buClr>
                <a:srgbClr val="178CCB"/>
              </a:buClr>
              <a:buSzPct val="95000"/>
              <a:buFont typeface="Arial"/>
              <a:buChar char="•"/>
            </a:pPr>
            <a:r>
              <a:rPr sz="1100" b="0" i="0" dirty="0">
                <a:solidFill>
                  <a:srgbClr val="2B3544"/>
                </a:solidFill>
                <a:latin typeface="Arial"/>
                <a:ea typeface="Arial"/>
                <a:cs typeface="Arial"/>
              </a:rPr>
              <a:t>Outcome is </a:t>
            </a:r>
            <a:r>
              <a:rPr sz="1100" b="1" i="0" dirty="0">
                <a:solidFill>
                  <a:srgbClr val="2B3544"/>
                </a:solidFill>
                <a:latin typeface="Arial"/>
                <a:ea typeface="Arial"/>
                <a:cs typeface="Arial"/>
              </a:rPr>
              <a:t>%EBW5</a:t>
            </a:r>
            <a:r>
              <a:rPr sz="1100" b="0" i="0" dirty="0">
                <a:solidFill>
                  <a:srgbClr val="2B3544"/>
                </a:solidFill>
                <a:latin typeface="Arial"/>
                <a:ea typeface="Arial"/>
                <a:cs typeface="Arial"/>
              </a:rPr>
              <a:t>, the share of baseline excess weight still there at year 5</a:t>
            </a:r>
          </a:p>
          <a:p>
            <a:pPr marL="146304" indent="-146304" algn="l">
              <a:lnSpc>
                <a:spcPct val="106000"/>
              </a:lnSpc>
              <a:spcBef>
                <a:spcPts val="0"/>
              </a:spcBef>
              <a:spcAft>
                <a:spcPts val="700"/>
              </a:spcAft>
              <a:buClr>
                <a:srgbClr val="178CCB"/>
              </a:buClr>
              <a:buSzPct val="95000"/>
              <a:buFont typeface="Arial"/>
              <a:buChar char="•"/>
            </a:pPr>
            <a:r>
              <a:rPr sz="1100" b="0" i="0" dirty="0">
                <a:solidFill>
                  <a:srgbClr val="2B3544"/>
                </a:solidFill>
                <a:latin typeface="Arial"/>
                <a:ea typeface="Arial"/>
                <a:cs typeface="Arial"/>
              </a:rPr>
              <a:t>Year 5: </a:t>
            </a:r>
            <a:r>
              <a:rPr sz="1100" b="1" i="0" dirty="0">
                <a:solidFill>
                  <a:srgbClr val="2B3544"/>
                </a:solidFill>
                <a:latin typeface="Arial"/>
                <a:ea typeface="Arial"/>
                <a:cs typeface="Arial"/>
              </a:rPr>
              <a:t>72.4 kg</a:t>
            </a:r>
            <a:r>
              <a:rPr sz="1100" b="0" i="0" dirty="0">
                <a:solidFill>
                  <a:srgbClr val="2B3544"/>
                </a:solidFill>
                <a:latin typeface="Arial"/>
                <a:ea typeface="Arial"/>
                <a:cs typeface="Arial"/>
              </a:rPr>
              <a:t> in </a:t>
            </a:r>
            <a:r>
              <a:rPr sz="1100" b="0" i="0" dirty="0" err="1">
                <a:solidFill>
                  <a:srgbClr val="2B3544"/>
                </a:solidFill>
                <a:latin typeface="Arial"/>
                <a:ea typeface="Arial"/>
                <a:cs typeface="Arial"/>
              </a:rPr>
              <a:t>RGN</a:t>
            </a:r>
            <a:r>
              <a:rPr sz="1100" b="0" i="0" dirty="0">
                <a:solidFill>
                  <a:srgbClr val="2B3544"/>
                </a:solidFill>
                <a:latin typeface="Arial"/>
                <a:ea typeface="Arial"/>
                <a:cs typeface="Arial"/>
              </a:rPr>
              <a:t>, </a:t>
            </a:r>
            <a:r>
              <a:rPr sz="1100" b="1" i="0" dirty="0">
                <a:solidFill>
                  <a:srgbClr val="2B3544"/>
                </a:solidFill>
                <a:latin typeface="Arial"/>
                <a:ea typeface="Arial"/>
                <a:cs typeface="Arial"/>
              </a:rPr>
              <a:t>29.1 kg</a:t>
            </a:r>
            <a:r>
              <a:rPr sz="1100" b="0" i="0" dirty="0">
                <a:solidFill>
                  <a:srgbClr val="2B3544"/>
                </a:solidFill>
                <a:latin typeface="Arial"/>
                <a:ea typeface="Arial"/>
                <a:cs typeface="Arial"/>
              </a:rPr>
              <a:t> in SWL</a:t>
            </a:r>
          </a:p>
          <a:p>
            <a:pPr marL="146304" indent="0" algn="l">
              <a:lnSpc>
                <a:spcPct val="106000"/>
              </a:lnSpc>
              <a:spcBef>
                <a:spcPts val="0"/>
              </a:spcBef>
              <a:spcAft>
                <a:spcPts val="700"/>
              </a:spcAft>
              <a:buNone/>
            </a:pPr>
            <a:r>
              <a:rPr sz="1050" b="1" i="0" dirty="0">
                <a:solidFill>
                  <a:srgbClr val="6B7684"/>
                </a:solidFill>
                <a:latin typeface="Arial"/>
                <a:ea typeface="Arial"/>
                <a:cs typeface="Arial"/>
              </a:rPr>
              <a:t>69.8%</a:t>
            </a:r>
            <a:r>
              <a:rPr sz="1050" b="0" i="0" dirty="0">
                <a:solidFill>
                  <a:srgbClr val="6B7684"/>
                </a:solidFill>
                <a:latin typeface="Arial"/>
                <a:ea typeface="Arial"/>
                <a:cs typeface="Arial"/>
              </a:rPr>
              <a:t> vs </a:t>
            </a:r>
            <a:r>
              <a:rPr sz="1050" b="1" i="0" dirty="0">
                <a:solidFill>
                  <a:srgbClr val="6B7684"/>
                </a:solidFill>
                <a:latin typeface="Arial"/>
                <a:ea typeface="Arial"/>
                <a:cs typeface="Arial"/>
              </a:rPr>
              <a:t>27.0%</a:t>
            </a:r>
            <a:r>
              <a:rPr sz="1050" b="0" i="0" dirty="0">
                <a:solidFill>
                  <a:srgbClr val="6B7684"/>
                </a:solidFill>
                <a:latin typeface="Arial"/>
                <a:ea typeface="Arial"/>
                <a:cs typeface="Arial"/>
              </a:rPr>
              <a:t> of baseline excess weight</a:t>
            </a:r>
          </a:p>
        </p:txBody>
      </p:sp>
      <p:pic>
        <p:nvPicPr>
          <p:cNvPr id="10" name="Picture 9" descr="image.png"/>
          <p:cNvPicPr>
            <a:picLocks noChangeAspect="1"/>
          </p:cNvPicPr>
          <p:nvPr/>
        </p:nvPicPr>
        <p:blipFill>
          <a:blip r:embed="rId6"/>
          <a:stretch>
            <a:fillRect/>
          </a:stretch>
        </p:blipFill>
        <p:spPr>
          <a:xfrm>
            <a:off x="8247888" y="4530852"/>
            <a:ext cx="694944" cy="448970"/>
          </a:xfrm>
          <a:prstGeom prst="rect">
            <a:avLst/>
          </a:prstGeom>
        </p:spPr>
      </p:pic>
      <p:sp>
        <p:nvSpPr>
          <p:cNvPr id="11" name="TextBox 10"/>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7</a:t>
            </a:r>
          </a:p>
        </p:txBody>
      </p:sp>
      <p:pic>
        <p:nvPicPr>
          <p:cNvPr id="12" name="Picture 11" descr="fig_1cd_slide.png"/>
          <p:cNvPicPr>
            <a:picLocks noChangeAspect="1"/>
          </p:cNvPicPr>
          <p:nvPr/>
        </p:nvPicPr>
        <p:blipFill>
          <a:blip r:embed="rId7"/>
          <a:stretch>
            <a:fillRect/>
          </a:stretch>
        </p:blipFill>
        <p:spPr>
          <a:xfrm>
            <a:off x="301752" y="1024128"/>
            <a:ext cx="4956048" cy="31892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000" b="1" i="0">
                <a:solidFill>
                  <a:srgbClr val="052049"/>
                </a:solidFill>
                <a:latin typeface="Arial"/>
                <a:ea typeface="Arial"/>
                <a:cs typeface="Arial"/>
              </a:rPr>
              <a:t>From 541 metabolites to a 13-metabolite score</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Methods</a:t>
            </a:r>
          </a:p>
        </p:txBody>
      </p:sp>
      <p:pic>
        <p:nvPicPr>
          <p:cNvPr id="5" name="Picture 4" descr="trim_FigS_bootstrap_stability_280x368.png"/>
          <p:cNvPicPr>
            <a:picLocks noChangeAspect="1"/>
          </p:cNvPicPr>
          <p:nvPr/>
        </p:nvPicPr>
        <p:blipFill>
          <a:blip r:embed="rId3"/>
          <a:stretch>
            <a:fillRect/>
          </a:stretch>
        </p:blipFill>
        <p:spPr>
          <a:xfrm>
            <a:off x="476537" y="1024128"/>
            <a:ext cx="2567364" cy="3364992"/>
          </a:xfrm>
          <a:prstGeom prst="rect">
            <a:avLst/>
          </a:prstGeom>
          <a:effectLst/>
        </p:spPr>
      </p:pic>
      <p:sp>
        <p:nvSpPr>
          <p:cNvPr id="6" name="TextBox 5"/>
          <p:cNvSpPr txBox="1"/>
          <p:nvPr/>
        </p:nvSpPr>
        <p:spPr>
          <a:xfrm>
            <a:off x="65057" y="4443984"/>
            <a:ext cx="3390324"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Bootstrap selection frequency; blue = kept in the MetRS</a:t>
            </a:r>
          </a:p>
        </p:txBody>
      </p:sp>
      <p:sp>
        <p:nvSpPr>
          <p:cNvPr id="7" name="TextBox 6"/>
          <p:cNvSpPr txBox="1"/>
          <p:nvPr/>
        </p:nvSpPr>
        <p:spPr>
          <a:xfrm>
            <a:off x="3529584" y="1024128"/>
            <a:ext cx="5193792" cy="3383280"/>
          </a:xfrm>
          <a:prstGeom prst="rect">
            <a:avLst/>
          </a:prstGeom>
          <a:noFill/>
        </p:spPr>
        <p:txBody>
          <a:bodyPr wrap="square" lIns="0" tIns="0" rIns="0" bIns="0">
            <a:spAutoFit/>
          </a:bodyPr>
          <a:lstStyle/>
          <a:p>
            <a:pPr marL="146304" indent="-146304" algn="l">
              <a:lnSpc>
                <a:spcPct val="106000"/>
              </a:lnSpc>
              <a:spcBef>
                <a:spcPts val="0"/>
              </a:spcBef>
              <a:spcAft>
                <a:spcPts val="700"/>
              </a:spcAft>
              <a:buClr>
                <a:srgbClr val="178CCB"/>
              </a:buClr>
              <a:buSzPct val="95000"/>
              <a:buFont typeface="Arial"/>
              <a:buChar char="•"/>
            </a:pPr>
            <a:r>
              <a:rPr sz="1100" b="0" i="0">
                <a:solidFill>
                  <a:srgbClr val="2B3544"/>
                </a:solidFill>
                <a:latin typeface="Arial"/>
                <a:ea typeface="Arial"/>
                <a:cs typeface="Arial"/>
              </a:rPr>
              <a:t>All </a:t>
            </a:r>
            <a:r>
              <a:rPr sz="1100" b="1" i="0">
                <a:solidFill>
                  <a:srgbClr val="2B3544"/>
                </a:solidFill>
                <a:latin typeface="Arial"/>
                <a:ea typeface="Arial"/>
                <a:cs typeface="Arial"/>
              </a:rPr>
              <a:t>541</a:t>
            </a:r>
            <a:r>
              <a:rPr sz="1100" b="0" i="0">
                <a:solidFill>
                  <a:srgbClr val="2B3544"/>
                </a:solidFill>
                <a:latin typeface="Arial"/>
                <a:ea typeface="Arial"/>
                <a:cs typeface="Arial"/>
              </a:rPr>
              <a:t> metabolites were tested against %EBW5</a:t>
            </a:r>
          </a:p>
          <a:p>
            <a:pPr marL="146304" indent="-146304" algn="l">
              <a:lnSpc>
                <a:spcPct val="106000"/>
              </a:lnSpc>
              <a:spcBef>
                <a:spcPts val="0"/>
              </a:spcBef>
              <a:spcAft>
                <a:spcPts val="700"/>
              </a:spcAft>
              <a:buClr>
                <a:srgbClr val="178CCB"/>
              </a:buClr>
              <a:buSzPct val="95000"/>
              <a:buFont typeface="Arial"/>
              <a:buChar char="•"/>
            </a:pPr>
            <a:r>
              <a:rPr sz="1100" b="1" i="0">
                <a:solidFill>
                  <a:srgbClr val="2B3544"/>
                </a:solidFill>
                <a:latin typeface="Arial"/>
                <a:ea typeface="Arial"/>
                <a:cs typeface="Arial"/>
              </a:rPr>
              <a:t>62</a:t>
            </a:r>
            <a:r>
              <a:rPr sz="1100" b="0" i="0">
                <a:solidFill>
                  <a:srgbClr val="2B3544"/>
                </a:solidFill>
                <a:latin typeface="Arial"/>
                <a:ea typeface="Arial"/>
                <a:cs typeface="Arial"/>
              </a:rPr>
              <a:t> were nominally associated (p &lt; 0.05)</a:t>
            </a:r>
          </a:p>
          <a:p>
            <a:pPr marL="146304" indent="-146304" algn="l">
              <a:lnSpc>
                <a:spcPct val="106000"/>
              </a:lnSpc>
              <a:spcBef>
                <a:spcPts val="0"/>
              </a:spcBef>
              <a:spcAft>
                <a:spcPts val="700"/>
              </a:spcAft>
              <a:buClr>
                <a:srgbClr val="178CCB"/>
              </a:buClr>
              <a:buSzPct val="95000"/>
              <a:buFont typeface="Arial"/>
              <a:buChar char="•"/>
            </a:pPr>
            <a:r>
              <a:rPr sz="1100" b="1" i="0">
                <a:solidFill>
                  <a:srgbClr val="2B3544"/>
                </a:solidFill>
                <a:latin typeface="Arial"/>
                <a:ea typeface="Arial"/>
                <a:cs typeface="Arial"/>
              </a:rPr>
              <a:t>Five</a:t>
            </a:r>
            <a:r>
              <a:rPr sz="1100" b="0" i="0">
                <a:solidFill>
                  <a:srgbClr val="2B3544"/>
                </a:solidFill>
                <a:latin typeface="Arial"/>
                <a:ea typeface="Arial"/>
                <a:cs typeface="Arial"/>
              </a:rPr>
              <a:t> passed FDR correction (q &lt; 0.05)</a:t>
            </a:r>
          </a:p>
          <a:p>
            <a:pPr marL="146304" indent="0" algn="l">
              <a:lnSpc>
                <a:spcPct val="106000"/>
              </a:lnSpc>
              <a:spcBef>
                <a:spcPts val="0"/>
              </a:spcBef>
              <a:spcAft>
                <a:spcPts val="700"/>
              </a:spcAft>
              <a:buNone/>
            </a:pPr>
            <a:r>
              <a:rPr sz="1050" b="0" i="0">
                <a:solidFill>
                  <a:srgbClr val="6B7684"/>
                </a:solidFill>
                <a:latin typeface="Arial"/>
                <a:ea typeface="Arial"/>
                <a:cs typeface="Arial"/>
              </a:rPr>
              <a:t>3-methyladipate/pimelate, glucuronate, DMGV, 13-HODE, BAIBA</a:t>
            </a:r>
          </a:p>
          <a:p>
            <a:pPr marL="146304" indent="-146304" algn="l">
              <a:lnSpc>
                <a:spcPct val="106000"/>
              </a:lnSpc>
              <a:spcBef>
                <a:spcPts val="0"/>
              </a:spcBef>
              <a:spcAft>
                <a:spcPts val="700"/>
              </a:spcAft>
              <a:buClr>
                <a:srgbClr val="178CCB"/>
              </a:buClr>
              <a:buSzPct val="95000"/>
              <a:buFont typeface="Arial"/>
              <a:buChar char="•"/>
            </a:pPr>
            <a:r>
              <a:rPr sz="1100" b="0" i="0">
                <a:solidFill>
                  <a:srgbClr val="2B3544"/>
                </a:solidFill>
                <a:latin typeface="Arial"/>
                <a:ea typeface="Arial"/>
                <a:cs typeface="Arial"/>
              </a:rPr>
              <a:t>The Q-Q plot departs from the null (</a:t>
            </a:r>
            <a:r>
              <a:rPr sz="1100" b="1" i="0">
                <a:solidFill>
                  <a:srgbClr val="2B3544"/>
                </a:solidFill>
                <a:latin typeface="Arial"/>
                <a:ea typeface="Arial"/>
                <a:cs typeface="Arial"/>
              </a:rPr>
              <a:t>λ = 1.87</a:t>
            </a:r>
            <a:r>
              <a:rPr sz="1100" b="0" i="0">
                <a:solidFill>
                  <a:srgbClr val="2B3544"/>
                </a:solidFill>
                <a:latin typeface="Arial"/>
                <a:ea typeface="Arial"/>
                <a:cs typeface="Arial"/>
              </a:rPr>
              <a:t>)</a:t>
            </a:r>
          </a:p>
          <a:p>
            <a:pPr marL="146304" indent="-146304" algn="l">
              <a:lnSpc>
                <a:spcPct val="106000"/>
              </a:lnSpc>
              <a:spcBef>
                <a:spcPts val="0"/>
              </a:spcBef>
              <a:spcAft>
                <a:spcPts val="700"/>
              </a:spcAft>
              <a:buClr>
                <a:srgbClr val="178CCB"/>
              </a:buClr>
              <a:buSzPct val="95000"/>
              <a:buFont typeface="Arial"/>
              <a:buChar char="•"/>
            </a:pPr>
            <a:r>
              <a:rPr sz="1100" b="0" i="0">
                <a:solidFill>
                  <a:srgbClr val="2B3544"/>
                </a:solidFill>
                <a:latin typeface="Arial"/>
                <a:ea typeface="Arial"/>
                <a:cs typeface="Arial"/>
              </a:rPr>
              <a:t>Stepwise regression narrowed the </a:t>
            </a:r>
            <a:r>
              <a:rPr sz="1100" b="1" i="0">
                <a:solidFill>
                  <a:srgbClr val="2B3544"/>
                </a:solidFill>
                <a:latin typeface="Arial"/>
                <a:ea typeface="Arial"/>
                <a:cs typeface="Arial"/>
              </a:rPr>
              <a:t>62</a:t>
            </a:r>
            <a:r>
              <a:rPr sz="1100" b="0" i="0">
                <a:solidFill>
                  <a:srgbClr val="2B3544"/>
                </a:solidFill>
                <a:latin typeface="Arial"/>
                <a:ea typeface="Arial"/>
                <a:cs typeface="Arial"/>
              </a:rPr>
              <a:t> down to </a:t>
            </a:r>
            <a:r>
              <a:rPr sz="1100" b="1" i="0">
                <a:solidFill>
                  <a:srgbClr val="2B3544"/>
                </a:solidFill>
                <a:latin typeface="Arial"/>
                <a:ea typeface="Arial"/>
                <a:cs typeface="Arial"/>
              </a:rPr>
              <a:t>13</a:t>
            </a:r>
          </a:p>
          <a:p>
            <a:pPr marL="146304" indent="-146304" algn="l">
              <a:lnSpc>
                <a:spcPct val="106000"/>
              </a:lnSpc>
              <a:spcBef>
                <a:spcPts val="0"/>
              </a:spcBef>
              <a:spcAft>
                <a:spcPts val="700"/>
              </a:spcAft>
              <a:buClr>
                <a:srgbClr val="178CCB"/>
              </a:buClr>
              <a:buSzPct val="95000"/>
              <a:buFont typeface="Arial"/>
              <a:buChar char="•"/>
            </a:pPr>
            <a:r>
              <a:rPr sz="1100" b="0" i="0">
                <a:solidFill>
                  <a:srgbClr val="2B3544"/>
                </a:solidFill>
                <a:latin typeface="Arial"/>
                <a:ea typeface="Arial"/>
                <a:cs typeface="Arial"/>
              </a:rPr>
              <a:t>DMGV was dropped for collinearity with BAIBA (</a:t>
            </a:r>
            <a:r>
              <a:rPr sz="1100" b="1" i="0">
                <a:solidFill>
                  <a:srgbClr val="2B3544"/>
                </a:solidFill>
                <a:latin typeface="Arial"/>
                <a:ea typeface="Arial"/>
                <a:cs typeface="Arial"/>
              </a:rPr>
              <a:t>r = −0.56</a:t>
            </a:r>
            <a:r>
              <a:rPr sz="1100" b="0" i="0">
                <a:solidFill>
                  <a:srgbClr val="2B3544"/>
                </a:solidFill>
                <a:latin typeface="Arial"/>
                <a:ea typeface="Arial"/>
                <a:cs typeface="Arial"/>
              </a:rPr>
              <a:t>)</a:t>
            </a:r>
          </a:p>
          <a:p>
            <a:pPr marL="146304" indent="-146304" algn="l">
              <a:lnSpc>
                <a:spcPct val="106000"/>
              </a:lnSpc>
              <a:spcBef>
                <a:spcPts val="0"/>
              </a:spcBef>
              <a:spcAft>
                <a:spcPts val="700"/>
              </a:spcAft>
              <a:buClr>
                <a:srgbClr val="178CCB"/>
              </a:buClr>
              <a:buSzPct val="95000"/>
              <a:buFont typeface="Arial"/>
              <a:buChar char="•"/>
            </a:pPr>
            <a:r>
              <a:rPr sz="1100" b="0" i="0">
                <a:solidFill>
                  <a:srgbClr val="2B3544"/>
                </a:solidFill>
                <a:latin typeface="Arial"/>
                <a:ea typeface="Arial"/>
                <a:cs typeface="Arial"/>
              </a:rPr>
              <a:t>MetRS is a weighted sum of standardised metabolite levels</a:t>
            </a:r>
          </a:p>
          <a:p>
            <a:pPr marL="146304" indent="-146304" algn="l">
              <a:lnSpc>
                <a:spcPct val="106000"/>
              </a:lnSpc>
              <a:spcBef>
                <a:spcPts val="0"/>
              </a:spcBef>
              <a:spcAft>
                <a:spcPts val="700"/>
              </a:spcAft>
              <a:buClr>
                <a:srgbClr val="178CCB"/>
              </a:buClr>
              <a:buSzPct val="95000"/>
              <a:buFont typeface="Arial"/>
              <a:buChar char="•"/>
            </a:pPr>
            <a:r>
              <a:rPr sz="1100" b="0" i="0">
                <a:solidFill>
                  <a:srgbClr val="2B3544"/>
                </a:solidFill>
                <a:latin typeface="Arial"/>
                <a:ea typeface="Arial"/>
                <a:cs typeface="Arial"/>
              </a:rPr>
              <a:t>Most stable features: kynurenine </a:t>
            </a:r>
            <a:r>
              <a:rPr sz="1100" b="1" i="0">
                <a:solidFill>
                  <a:srgbClr val="2B3544"/>
                </a:solidFill>
                <a:latin typeface="Arial"/>
                <a:ea typeface="Arial"/>
                <a:cs typeface="Arial"/>
              </a:rPr>
              <a:t>98.5%</a:t>
            </a:r>
            <a:r>
              <a:rPr sz="1100" b="0" i="0">
                <a:solidFill>
                  <a:srgbClr val="2B3544"/>
                </a:solidFill>
                <a:latin typeface="Arial"/>
                <a:ea typeface="Arial"/>
                <a:cs typeface="Arial"/>
              </a:rPr>
              <a:t>, homoarginine </a:t>
            </a:r>
            <a:r>
              <a:rPr sz="1100" b="1" i="0">
                <a:solidFill>
                  <a:srgbClr val="2B3544"/>
                </a:solidFill>
                <a:latin typeface="Arial"/>
                <a:ea typeface="Arial"/>
                <a:cs typeface="Arial"/>
              </a:rPr>
              <a:t>81.7%</a:t>
            </a:r>
            <a:r>
              <a:rPr sz="1100" b="0" i="0">
                <a:solidFill>
                  <a:srgbClr val="2B3544"/>
                </a:solidFill>
                <a:latin typeface="Arial"/>
                <a:ea typeface="Arial"/>
                <a:cs typeface="Arial"/>
              </a:rPr>
              <a:t>, BAIBA </a:t>
            </a:r>
            <a:r>
              <a:rPr sz="1100" b="1" i="0">
                <a:solidFill>
                  <a:srgbClr val="2B3544"/>
                </a:solidFill>
                <a:latin typeface="Arial"/>
                <a:ea typeface="Arial"/>
                <a:cs typeface="Arial"/>
              </a:rPr>
              <a:t>79.0%</a:t>
            </a:r>
          </a:p>
        </p:txBody>
      </p:sp>
      <p:sp>
        <p:nvSpPr>
          <p:cNvPr id="8" name="TextBox 7"/>
          <p:cNvSpPr txBox="1"/>
          <p:nvPr/>
        </p:nvSpPr>
        <p:spPr>
          <a:xfrm>
            <a:off x="457200" y="4727448"/>
            <a:ext cx="6949440" cy="274320"/>
          </a:xfrm>
          <a:prstGeom prst="rect">
            <a:avLst/>
          </a:prstGeom>
          <a:noFill/>
        </p:spPr>
        <p:txBody>
          <a:bodyPr wrap="square" lIns="0" tIns="0" rIns="0" bIns="0">
            <a:spAutoFit/>
          </a:bodyPr>
          <a:lstStyle/>
          <a:p>
            <a:pPr algn="l">
              <a:lnSpc>
                <a:spcPct val="105000"/>
              </a:lnSpc>
              <a:spcBef>
                <a:spcPts val="0"/>
              </a:spcBef>
              <a:spcAft>
                <a:spcPts val="0"/>
              </a:spcAft>
            </a:pPr>
            <a:r>
              <a:rPr sz="750" b="0" i="1">
                <a:solidFill>
                  <a:srgbClr val="9AA5B1"/>
                </a:solidFill>
                <a:latin typeface="Arial"/>
                <a:ea typeface="Arial"/>
                <a:cs typeface="Arial"/>
              </a:rPr>
              <a:t>Geidenstam et al., Obesity 2019 (metabolite risk score construction).</a:t>
            </a:r>
          </a:p>
        </p:txBody>
      </p:sp>
      <p:pic>
        <p:nvPicPr>
          <p:cNvPr id="9" name="Picture 8" descr="image.png"/>
          <p:cNvPicPr>
            <a:picLocks noChangeAspect="1"/>
          </p:cNvPicPr>
          <p:nvPr/>
        </p:nvPicPr>
        <p:blipFill>
          <a:blip r:embed="rId4"/>
          <a:stretch>
            <a:fillRect/>
          </a:stretch>
        </p:blipFill>
        <p:spPr>
          <a:xfrm>
            <a:off x="8247888" y="4530852"/>
            <a:ext cx="694944" cy="448970"/>
          </a:xfrm>
          <a:prstGeom prst="rect">
            <a:avLst/>
          </a:prstGeom>
        </p:spPr>
      </p:pic>
      <p:sp>
        <p:nvSpPr>
          <p:cNvPr id="10" name="TextBox 9"/>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8</a:t>
            </a:r>
          </a:p>
        </p:txBody>
      </p:sp>
      <p:sp>
        <p:nvSpPr>
          <p:cNvPr id="11" name="TextBox 10"/>
          <p:cNvSpPr txBox="1"/>
          <p:nvPr/>
        </p:nvSpPr>
        <p:spPr>
          <a:xfrm>
            <a:off x="3611880" y="3493008"/>
            <a:ext cx="5029200" cy="868680"/>
          </a:xfrm>
          <a:prstGeom prst="rect">
            <a:avLst/>
          </a:prstGeom>
          <a:noFill/>
        </p:spPr>
        <mc:AlternateContent xmlns:mc="http://schemas.openxmlformats.org/markup-compatibility/2006">
          <mc:Choice xmlns:a14="http://schemas.microsoft.com/office/drawing/2010/main" xmlns:m="http://schemas.openxmlformats.org/officeDocument/2006/math" Requires="a14">
            <p:txBody>
              <a:bodyPr wrap="square" rtlCol="0" anchor="t">
                <a:spAutoFit/>
              </a:bodyPr>
              <a:lstStyle/>
              <a:p>
                <a:pPr algn="ctr">
                  <a:spcAft>
                    <a:spcPts val="1000"/>
                  </a:spcAft>
                </a:pPr>
                <a14:m>
                  <m:oMathPara>
                    <m:oMathParaPr>
                      <m:jc m:val="centerGroup"/>
                    </m:oMathParaPr>
                    <m:oMath>
                      <m:r>
                        <a:rPr lang="en-US" i="0"/>
                        <m:t>MetRS</m:t>
                      </m:r>
                      <m:r>
                        <a:rPr lang="en-US" i="0"/>
                        <m:t> = </m:t>
                      </m:r>
                      <m:nary>
                        <m:naryPr>
                          <m:chr m:val="∑"/>
                          <m:limLoc m:val="undOvr"/>
                          <m:subHide m:val="0"/>
                          <m:supHide m:val="0"/>
                          <m:ctrlPr>
                            <a:rPr lang="en-US" i="1"/>
                          </m:ctrlPr>
                        </m:naryPr>
                        <m:sub>
                          <m:r>
                            <a:rPr lang="en-US" i="1"/>
                            <m:t>i=1</m:t>
                          </m:r>
                        </m:sub>
                        <m:sup>
                          <m:r>
                            <a:rPr lang="en-US" i="1"/>
                            <m:t>n</m:t>
                          </m:r>
                        </m:sup>
                        <m:e>
                          <m:sSub>
                            <m:sSubPr>
                              <m:ctrlPr>
                                <a:rPr lang="en-US" i="1"/>
                              </m:ctrlPr>
                            </m:sSubPr>
                            <m:e>
                              <m:r>
                                <a:rPr lang="en-US" i="1"/>
                                <m:t>Z</m:t>
                              </m:r>
                            </m:e>
                            <m:sub>
                              <m:r>
                                <a:rPr lang="en-US" i="1"/>
                                <m:t>i</m:t>
                              </m:r>
                            </m:sub>
                          </m:sSub>
                          <m:sSub>
                            <m:sSubPr>
                              <m:ctrlPr>
                                <a:rPr lang="en-US" i="1"/>
                              </m:ctrlPr>
                            </m:sSubPr>
                            <m:e>
                              <m:r>
                                <a:rPr lang="en-US" i="1"/>
                                <m:t>β</m:t>
                              </m:r>
                            </m:e>
                            <m:sub>
                              <m:r>
                                <a:rPr lang="en-US" i="1"/>
                                <m:t>i</m:t>
                              </m:r>
                            </m:sub>
                          </m:sSub>
                        </m:e>
                      </m:nary>
                    </m:oMath>
                  </m:oMathPara>
                </a14:m>
                <a:endParaRPr lang="en-US" sz="1600" dirty="0"/>
              </a:p>
              <a:p>
                <a:pPr algn="ctr"/>
                <a:r>
                  <a:rPr lang="en-US" sz="900" i="0" dirty="0">
                    <a:solidFill>
                      <a:srgbClr val="595959"/>
                    </a:solidFill>
                    <a:latin typeface="Arial"/>
                  </a:rPr>
                  <a:t>where </a:t>
                </a:r>
                <a:r>
                  <a:rPr lang="en-US" sz="900" i="1" dirty="0">
                    <a:solidFill>
                      <a:srgbClr val="595959"/>
                    </a:solidFill>
                    <a:latin typeface="Arial"/>
                  </a:rPr>
                  <a:t>Z</a:t>
                </a:r>
                <a:r>
                  <a:rPr lang="en-US" sz="900" i="1" baseline="-25000" dirty="0">
                    <a:solidFill>
                      <a:srgbClr val="595959"/>
                    </a:solidFill>
                    <a:latin typeface="Arial"/>
                  </a:rPr>
                  <a:t>i</a:t>
                </a:r>
                <a:r>
                  <a:rPr lang="en-US" sz="900" i="0" dirty="0">
                    <a:solidFill>
                      <a:srgbClr val="595959"/>
                    </a:solidFill>
                    <a:latin typeface="Arial"/>
                  </a:rPr>
                  <a:t> is the standardised (z-scored) level of metabolite </a:t>
                </a:r>
                <a:r>
                  <a:rPr lang="en-US" sz="900" i="1" dirty="0">
                    <a:solidFill>
                      <a:srgbClr val="595959"/>
                    </a:solidFill>
                    <a:latin typeface="Arial"/>
                  </a:rPr>
                  <a:t>i</a:t>
                </a:r>
                <a:r>
                  <a:rPr lang="en-US" sz="900" i="0" dirty="0">
                    <a:solidFill>
                      <a:srgbClr val="595959"/>
                    </a:solidFill>
                    <a:latin typeface="Arial"/>
                  </a:rPr>
                  <a:t> and </a:t>
                </a:r>
                <a:r>
                  <a:rPr lang="en-US" sz="900" i="1" dirty="0">
                    <a:solidFill>
                      <a:srgbClr val="595959"/>
                    </a:solidFill>
                    <a:latin typeface="Arial"/>
                  </a:rPr>
                  <a:t>β</a:t>
                </a:r>
                <a:r>
                  <a:rPr lang="en-US" sz="900" i="1" baseline="-25000" dirty="0">
                    <a:solidFill>
                      <a:srgbClr val="595959"/>
                    </a:solidFill>
                    <a:latin typeface="Arial"/>
                  </a:rPr>
                  <a:t>i</a:t>
                </a:r>
                <a:r>
                  <a:rPr lang="en-US" sz="900" i="0" dirty="0">
                    <a:solidFill>
                      <a:srgbClr val="595959"/>
                    </a:solidFill>
                    <a:latin typeface="Arial"/>
                  </a:rPr>
                  <a:t> its regression weight (n = 13)</a:t>
                </a:r>
              </a:p>
            </p:txBody>
          </mc:Choice>
          <mc:Fallback>
            <p:txBody>
              <a:bodyPr wrap="square" rtlCol="0" anchor="t">
                <a:spAutoFit/>
              </a:bodyPr>
              <a:lstStyle/>
              <a:p>
                <a:pPr algn="ctr">
                  <a:spcAft>
                    <a:spcPts val="1000"/>
                  </a:spcAft>
                </a:pPr>
                <a:r>
                  <a:rPr lang="en-US" sz="1600" b="0" i="0" dirty="0">
                    <a:latin typeface="Cambria Math"/>
                  </a:rPr>
                  <a:t>MetRS = ∑ᵢ₌₁ⁿ Zᵢ βᵢ</a:t>
                </a:r>
              </a:p>
              <a:p>
                <a:pPr algn="ctr"/>
                <a:r>
                  <a:rPr lang="en-US" sz="900" i="0" dirty="0">
                    <a:solidFill>
                      <a:srgbClr val="595959"/>
                    </a:solidFill>
                    <a:latin typeface="Arial"/>
                  </a:rPr>
                  <a:t>where </a:t>
                </a:r>
                <a:r>
                  <a:rPr lang="en-US" sz="900" i="1" dirty="0">
                    <a:solidFill>
                      <a:srgbClr val="595959"/>
                    </a:solidFill>
                    <a:latin typeface="Arial"/>
                  </a:rPr>
                  <a:t>Z</a:t>
                </a:r>
                <a:r>
                  <a:rPr lang="en-US" sz="900" i="1" baseline="-25000" dirty="0">
                    <a:solidFill>
                      <a:srgbClr val="595959"/>
                    </a:solidFill>
                    <a:latin typeface="Arial"/>
                  </a:rPr>
                  <a:t>i</a:t>
                </a:r>
                <a:r>
                  <a:rPr lang="en-US" sz="900" i="0" dirty="0">
                    <a:solidFill>
                      <a:srgbClr val="595959"/>
                    </a:solidFill>
                    <a:latin typeface="Arial"/>
                  </a:rPr>
                  <a:t> is the standardised (z-scored) level of metabolite </a:t>
                </a:r>
                <a:r>
                  <a:rPr lang="en-US" sz="900" i="1" dirty="0">
                    <a:solidFill>
                      <a:srgbClr val="595959"/>
                    </a:solidFill>
                    <a:latin typeface="Arial"/>
                  </a:rPr>
                  <a:t>i</a:t>
                </a:r>
                <a:r>
                  <a:rPr lang="en-US" sz="900" i="0" dirty="0">
                    <a:solidFill>
                      <a:srgbClr val="595959"/>
                    </a:solidFill>
                    <a:latin typeface="Arial"/>
                  </a:rPr>
                  <a:t> and </a:t>
                </a:r>
                <a:r>
                  <a:rPr lang="en-US" sz="900" i="1" dirty="0">
                    <a:solidFill>
                      <a:srgbClr val="595959"/>
                    </a:solidFill>
                    <a:latin typeface="Arial"/>
                  </a:rPr>
                  <a:t>β</a:t>
                </a:r>
                <a:r>
                  <a:rPr lang="en-US" sz="900" i="1" baseline="-25000" dirty="0">
                    <a:solidFill>
                      <a:srgbClr val="595959"/>
                    </a:solidFill>
                    <a:latin typeface="Arial"/>
                  </a:rPr>
                  <a:t>i</a:t>
                </a:r>
                <a:r>
                  <a:rPr lang="en-US" sz="900" i="0" dirty="0">
                    <a:solidFill>
                      <a:srgbClr val="595959"/>
                    </a:solidFill>
                    <a:latin typeface="Arial"/>
                  </a:rPr>
                  <a:t> its regression weight (n = 13)</a:t>
                </a:r>
              </a:p>
            </p:txBody>
          </mc:Fallback>
        </mc:AlternateContent>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lnSpc>
                <a:spcPct val="100000"/>
              </a:lnSpc>
              <a:spcBef>
                <a:spcPts val="0"/>
              </a:spcBef>
              <a:spcAft>
                <a:spcPts val="0"/>
              </a:spcAft>
            </a:pPr>
            <a:r>
              <a:rPr sz="3000" b="1" i="0">
                <a:solidFill>
                  <a:srgbClr val="052049"/>
                </a:solidFill>
                <a:latin typeface="Arial"/>
                <a:ea typeface="Arial"/>
                <a:cs typeface="Arial"/>
              </a:rPr>
              <a:t>Results</a:t>
            </a:r>
          </a:p>
        </p:txBody>
      </p:sp>
      <p:sp>
        <p:nvSpPr>
          <p:cNvPr id="3" name="TextBox 2"/>
          <p:cNvSpPr txBox="1"/>
          <p:nvPr/>
        </p:nvSpPr>
        <p:spPr>
          <a:xfrm>
            <a:off x="457200" y="3035808"/>
            <a:ext cx="6949440" cy="384048"/>
          </a:xfrm>
          <a:prstGeom prst="rect">
            <a:avLst/>
          </a:prstGeom>
          <a:noFill/>
        </p:spPr>
        <p:txBody>
          <a:bodyPr wrap="square" lIns="0" tIns="0" rIns="0" bIns="0">
            <a:spAutoFit/>
          </a:bodyPr>
          <a:lstStyle/>
          <a:p>
            <a:pPr algn="l">
              <a:lnSpc>
                <a:spcPct val="110000"/>
              </a:lnSpc>
              <a:spcBef>
                <a:spcPts val="0"/>
              </a:spcBef>
              <a:spcAft>
                <a:spcPts val="0"/>
              </a:spcAft>
            </a:pPr>
            <a:r>
              <a:rPr sz="1300" b="0" i="0">
                <a:solidFill>
                  <a:srgbClr val="178CCB"/>
                </a:solidFill>
                <a:latin typeface="Arial"/>
                <a:ea typeface="Arial"/>
                <a:cs typeface="Arial"/>
              </a:rPr>
              <a:t>What the score contains, what it predicts, where it comes from</a:t>
            </a:r>
          </a:p>
        </p:txBody>
      </p:sp>
      <p:pic>
        <p:nvPicPr>
          <p:cNvPr id="4" name="Picture 3" descr="image.png"/>
          <p:cNvPicPr>
            <a:picLocks noChangeAspect="1"/>
          </p:cNvPicPr>
          <p:nvPr/>
        </p:nvPicPr>
        <p:blipFill>
          <a:blip r:embed="rId2"/>
          <a:stretch>
            <a:fillRect/>
          </a:stretch>
        </p:blipFill>
        <p:spPr>
          <a:xfrm>
            <a:off x="8247888" y="4530852"/>
            <a:ext cx="694944" cy="448970"/>
          </a:xfrm>
          <a:prstGeom prst="rect">
            <a:avLst/>
          </a:prstGeom>
        </p:spPr>
      </p:pic>
      <p:sp>
        <p:nvSpPr>
          <p:cNvPr id="5" name="TextBox 4"/>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000" b="1" i="0">
                <a:solidFill>
                  <a:srgbClr val="052049"/>
                </a:solidFill>
                <a:latin typeface="Arial"/>
                <a:ea typeface="Arial"/>
                <a:cs typeface="Arial"/>
              </a:rPr>
              <a:t>The MetRS panel: thirteen metabolites</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Results · the score</a:t>
            </a:r>
          </a:p>
        </p:txBody>
      </p:sp>
      <p:sp>
        <p:nvSpPr>
          <p:cNvPr id="5" name="TextBox 4"/>
          <p:cNvSpPr txBox="1"/>
          <p:nvPr/>
        </p:nvSpPr>
        <p:spPr>
          <a:xfrm>
            <a:off x="5760720" y="896112"/>
            <a:ext cx="2999232" cy="201168"/>
          </a:xfrm>
          <a:prstGeom prst="rect">
            <a:avLst/>
          </a:prstGeom>
          <a:noFill/>
        </p:spPr>
        <p:txBody>
          <a:bodyPr wrap="square" lIns="0" tIns="0" rIns="0" bIns="0">
            <a:spAutoFit/>
          </a:bodyPr>
          <a:lstStyle/>
          <a:p>
            <a:pPr algn="r">
              <a:spcBef>
                <a:spcPts val="0"/>
              </a:spcBef>
              <a:spcAft>
                <a:spcPts val="0"/>
              </a:spcAft>
            </a:pPr>
            <a:r>
              <a:rPr sz="850" b="0" i="0">
                <a:solidFill>
                  <a:srgbClr val="6B7684"/>
                </a:solidFill>
                <a:latin typeface="Arial"/>
                <a:ea typeface="Arial"/>
                <a:cs typeface="Arial"/>
              </a:rPr>
              <a:t>Fig. 2a  ·  effect on %EBW5 per SD of metabolite</a:t>
            </a:r>
          </a:p>
        </p:txBody>
      </p:sp>
      <p:graphicFrame>
        <p:nvGraphicFramePr>
          <p:cNvPr id="6" name="Table 5"/>
          <p:cNvGraphicFramePr>
            <a:graphicFrameLocks noGrp="1"/>
          </p:cNvGraphicFramePr>
          <p:nvPr/>
        </p:nvGraphicFramePr>
        <p:xfrm>
          <a:off x="411480" y="1042415"/>
          <a:ext cx="8339327" cy="2894980"/>
        </p:xfrm>
        <a:graphic>
          <a:graphicData uri="http://schemas.openxmlformats.org/drawingml/2006/table">
            <a:tbl>
              <a:tblPr firstRow="1">
                <a:tableStyleId>{2D5ABB26-0587-4C30-8999-92F81FD0307C}</a:tableStyleId>
              </a:tblPr>
              <a:tblGrid>
                <a:gridCol w="2395728">
                  <a:extLst>
                    <a:ext uri="{9D8B030D-6E8A-4147-A177-3AD203B41FA5}">
                      <a16:colId xmlns:a16="http://schemas.microsoft.com/office/drawing/2014/main" val="20000"/>
                    </a:ext>
                  </a:extLst>
                </a:gridCol>
                <a:gridCol w="1883664">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42415">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256032">
                <a:tc>
                  <a:txBody>
                    <a:bodyPr/>
                    <a:lstStyle/>
                    <a:p>
                      <a:pPr algn="l">
                        <a:lnSpc>
                          <a:spcPct val="100000"/>
                        </a:lnSpc>
                        <a:spcBef>
                          <a:spcPts val="0"/>
                        </a:spcBef>
                        <a:spcAft>
                          <a:spcPts val="0"/>
                        </a:spcAft>
                      </a:pPr>
                      <a:r>
                        <a:rPr sz="900" b="1" i="0">
                          <a:solidFill>
                            <a:srgbClr val="FFFFFF"/>
                          </a:solidFill>
                          <a:latin typeface="Arial"/>
                          <a:ea typeface="Arial"/>
                          <a:cs typeface="Arial"/>
                        </a:rPr>
                        <a:t>Metabolite</a:t>
                      </a:r>
                    </a:p>
                  </a:txBody>
                  <a:tcPr marL="64008" marR="64008" marT="13716" marB="13716" anchor="ctr">
                    <a:solidFill>
                      <a:srgbClr val="052049"/>
                    </a:solidFill>
                  </a:tcPr>
                </a:tc>
                <a:tc>
                  <a:txBody>
                    <a:bodyPr/>
                    <a:lstStyle/>
                    <a:p>
                      <a:pPr algn="r">
                        <a:lnSpc>
                          <a:spcPct val="100000"/>
                        </a:lnSpc>
                        <a:spcBef>
                          <a:spcPts val="0"/>
                        </a:spcBef>
                        <a:spcAft>
                          <a:spcPts val="0"/>
                        </a:spcAft>
                      </a:pPr>
                      <a:r>
                        <a:rPr sz="900" b="1" i="0">
                          <a:solidFill>
                            <a:srgbClr val="FFFFFF"/>
                          </a:solidFill>
                          <a:latin typeface="Arial"/>
                          <a:ea typeface="Arial"/>
                          <a:cs typeface="Arial"/>
                        </a:rPr>
                        <a:t>Effect on %EBW5 (95% CI)</a:t>
                      </a:r>
                    </a:p>
                  </a:txBody>
                  <a:tcPr marL="64008" marR="64008" marT="13716" marB="13716" anchor="ctr">
                    <a:solidFill>
                      <a:srgbClr val="052049"/>
                    </a:solidFill>
                  </a:tcPr>
                </a:tc>
                <a:tc>
                  <a:txBody>
                    <a:bodyPr/>
                    <a:lstStyle/>
                    <a:p>
                      <a:pPr algn="r">
                        <a:lnSpc>
                          <a:spcPct val="100000"/>
                        </a:lnSpc>
                        <a:spcBef>
                          <a:spcPts val="0"/>
                        </a:spcBef>
                        <a:spcAft>
                          <a:spcPts val="0"/>
                        </a:spcAft>
                      </a:pPr>
                      <a:r>
                        <a:rPr sz="900" b="1" i="0">
                          <a:solidFill>
                            <a:srgbClr val="FFFFFF"/>
                          </a:solidFill>
                          <a:latin typeface="Arial"/>
                          <a:ea typeface="Arial"/>
                          <a:cs typeface="Arial"/>
                        </a:rPr>
                        <a:t>p-value</a:t>
                      </a:r>
                    </a:p>
                  </a:txBody>
                  <a:tcPr marL="64008" marR="64008" marT="13716" marB="13716" anchor="ctr">
                    <a:solidFill>
                      <a:srgbClr val="052049"/>
                    </a:solidFill>
                  </a:tcPr>
                </a:tc>
                <a:tc>
                  <a:txBody>
                    <a:bodyPr/>
                    <a:lstStyle/>
                    <a:p>
                      <a:pPr algn="r">
                        <a:lnSpc>
                          <a:spcPct val="100000"/>
                        </a:lnSpc>
                        <a:spcBef>
                          <a:spcPts val="0"/>
                        </a:spcBef>
                        <a:spcAft>
                          <a:spcPts val="0"/>
                        </a:spcAft>
                      </a:pPr>
                      <a:r>
                        <a:rPr sz="900" b="1" i="0">
                          <a:solidFill>
                            <a:srgbClr val="FFFFFF"/>
                          </a:solidFill>
                          <a:latin typeface="Arial"/>
                          <a:ea typeface="Arial"/>
                          <a:cs typeface="Arial"/>
                        </a:rPr>
                        <a:t>Variance (%)</a:t>
                      </a:r>
                    </a:p>
                  </a:txBody>
                  <a:tcPr marL="64008" marR="64008" marT="13716" marB="13716" anchor="ctr">
                    <a:solidFill>
                      <a:srgbClr val="052049"/>
                    </a:solidFill>
                  </a:tcPr>
                </a:tc>
                <a:tc>
                  <a:txBody>
                    <a:bodyPr/>
                    <a:lstStyle/>
                    <a:p>
                      <a:pPr algn="l">
                        <a:lnSpc>
                          <a:spcPct val="100000"/>
                        </a:lnSpc>
                        <a:spcBef>
                          <a:spcPts val="0"/>
                        </a:spcBef>
                        <a:spcAft>
                          <a:spcPts val="0"/>
                        </a:spcAft>
                      </a:pPr>
                      <a:r>
                        <a:rPr sz="900" b="1" i="0">
                          <a:solidFill>
                            <a:srgbClr val="FFFFFF"/>
                          </a:solidFill>
                          <a:latin typeface="Arial"/>
                          <a:ea typeface="Arial"/>
                          <a:cs typeface="Arial"/>
                        </a:rPr>
                        <a:t>Metabolite class</a:t>
                      </a:r>
                    </a:p>
                  </a:txBody>
                  <a:tcPr marL="64008" marR="64008" marT="13716" marB="13716" anchor="ctr">
                    <a:solidFill>
                      <a:srgbClr val="052049"/>
                    </a:solidFill>
                  </a:tcPr>
                </a:tc>
                <a:extLst>
                  <a:ext uri="{0D108BD9-81ED-4DB2-BD59-A6C34878D82A}">
                    <a16:rowId xmlns:a16="http://schemas.microsoft.com/office/drawing/2014/main" val="10000"/>
                  </a:ext>
                </a:extLst>
              </a:tr>
              <a:tr h="202996">
                <a:tc>
                  <a:txBody>
                    <a:bodyPr/>
                    <a:lstStyle/>
                    <a:p>
                      <a:pPr algn="l">
                        <a:lnSpc>
                          <a:spcPct val="100000"/>
                        </a:lnSpc>
                        <a:spcBef>
                          <a:spcPts val="0"/>
                        </a:spcBef>
                        <a:spcAft>
                          <a:spcPts val="0"/>
                        </a:spcAft>
                      </a:pPr>
                      <a:r>
                        <a:rPr sz="880" b="1" i="0">
                          <a:solidFill>
                            <a:srgbClr val="1B5E8C"/>
                          </a:solidFill>
                          <a:latin typeface="Arial"/>
                          <a:ea typeface="Arial"/>
                          <a:cs typeface="Arial"/>
                        </a:rPr>
                        <a:t>3-Methyladipate / pimelate*</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−4.48 (−8.11, −0.86)</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1.6 × 10⁻²</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10.54</a:t>
                      </a:r>
                    </a:p>
                  </a:txBody>
                  <a:tcPr marL="64008" marR="64008" marT="13716" marB="13716" anchor="ctr">
                    <a:noFill/>
                  </a:tcPr>
                </a:tc>
                <a:tc>
                  <a:txBody>
                    <a:bodyPr/>
                    <a:lstStyle/>
                    <a:p>
                      <a:pPr algn="l">
                        <a:lnSpc>
                          <a:spcPct val="100000"/>
                        </a:lnSpc>
                        <a:spcBef>
                          <a:spcPts val="0"/>
                        </a:spcBef>
                        <a:spcAft>
                          <a:spcPts val="0"/>
                        </a:spcAft>
                      </a:pPr>
                      <a:r>
                        <a:rPr sz="880" b="0" i="0">
                          <a:solidFill>
                            <a:srgbClr val="6B7684"/>
                          </a:solidFill>
                          <a:latin typeface="Arial"/>
                          <a:ea typeface="Arial"/>
                          <a:cs typeface="Arial"/>
                        </a:rPr>
                        <a:t>Medium-chain fatty acids</a:t>
                      </a:r>
                    </a:p>
                  </a:txBody>
                  <a:tcPr marL="64008" marR="64008" marT="13716" marB="13716" anchor="ctr">
                    <a:noFill/>
                  </a:tcPr>
                </a:tc>
                <a:extLst>
                  <a:ext uri="{0D108BD9-81ED-4DB2-BD59-A6C34878D82A}">
                    <a16:rowId xmlns:a16="http://schemas.microsoft.com/office/drawing/2014/main" val="10001"/>
                  </a:ext>
                </a:extLst>
              </a:tr>
              <a:tr h="202996">
                <a:tc>
                  <a:txBody>
                    <a:bodyPr/>
                    <a:lstStyle/>
                    <a:p>
                      <a:pPr algn="l">
                        <a:lnSpc>
                          <a:spcPct val="100000"/>
                        </a:lnSpc>
                        <a:spcBef>
                          <a:spcPts val="0"/>
                        </a:spcBef>
                        <a:spcAft>
                          <a:spcPts val="0"/>
                        </a:spcAft>
                      </a:pPr>
                      <a:r>
                        <a:rPr sz="880" b="1" i="0">
                          <a:solidFill>
                            <a:srgbClr val="1B5E8C"/>
                          </a:solidFill>
                          <a:latin typeface="Arial"/>
                          <a:ea typeface="Arial"/>
                          <a:cs typeface="Arial"/>
                        </a:rPr>
                        <a:t>13-HODE*</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−3.66 (−7.03, −0.29)</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3.4 × 10⁻²</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6.88</a:t>
                      </a:r>
                    </a:p>
                  </a:txBody>
                  <a:tcPr marL="64008" marR="64008" marT="13716" marB="13716" anchor="ctr">
                    <a:solidFill>
                      <a:srgbClr val="F4F6F9"/>
                    </a:solidFill>
                  </a:tcPr>
                </a:tc>
                <a:tc>
                  <a:txBody>
                    <a:bodyPr/>
                    <a:lstStyle/>
                    <a:p>
                      <a:pPr algn="l">
                        <a:lnSpc>
                          <a:spcPct val="100000"/>
                        </a:lnSpc>
                        <a:spcBef>
                          <a:spcPts val="0"/>
                        </a:spcBef>
                        <a:spcAft>
                          <a:spcPts val="0"/>
                        </a:spcAft>
                      </a:pPr>
                      <a:r>
                        <a:rPr sz="880" b="0" i="0">
                          <a:solidFill>
                            <a:srgbClr val="6B7684"/>
                          </a:solidFill>
                          <a:latin typeface="Arial"/>
                          <a:ea typeface="Arial"/>
                          <a:cs typeface="Arial"/>
                        </a:rPr>
                        <a:t>Linoleic acid derivatives</a:t>
                      </a:r>
                    </a:p>
                  </a:txBody>
                  <a:tcPr marL="64008" marR="64008" marT="13716" marB="13716" anchor="ctr">
                    <a:solidFill>
                      <a:srgbClr val="F4F6F9"/>
                    </a:solidFill>
                  </a:tcPr>
                </a:tc>
                <a:extLst>
                  <a:ext uri="{0D108BD9-81ED-4DB2-BD59-A6C34878D82A}">
                    <a16:rowId xmlns:a16="http://schemas.microsoft.com/office/drawing/2014/main" val="10002"/>
                  </a:ext>
                </a:extLst>
              </a:tr>
              <a:tr h="202996">
                <a:tc>
                  <a:txBody>
                    <a:bodyPr/>
                    <a:lstStyle/>
                    <a:p>
                      <a:pPr algn="l">
                        <a:lnSpc>
                          <a:spcPct val="100000"/>
                        </a:lnSpc>
                        <a:spcBef>
                          <a:spcPts val="0"/>
                        </a:spcBef>
                        <a:spcAft>
                          <a:spcPts val="0"/>
                        </a:spcAft>
                      </a:pPr>
                      <a:r>
                        <a:rPr sz="880" b="1" i="0">
                          <a:solidFill>
                            <a:srgbClr val="1B5E8C"/>
                          </a:solidFill>
                          <a:latin typeface="Arial"/>
                          <a:ea typeface="Arial"/>
                          <a:cs typeface="Arial"/>
                        </a:rPr>
                        <a:t>Glucuronate*</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−4.27 (−7.91, −0.63)</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2.2 × 10⁻²</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5.04</a:t>
                      </a:r>
                    </a:p>
                  </a:txBody>
                  <a:tcPr marL="64008" marR="64008" marT="13716" marB="13716" anchor="ctr">
                    <a:noFill/>
                  </a:tcPr>
                </a:tc>
                <a:tc>
                  <a:txBody>
                    <a:bodyPr/>
                    <a:lstStyle/>
                    <a:p>
                      <a:pPr algn="l">
                        <a:lnSpc>
                          <a:spcPct val="100000"/>
                        </a:lnSpc>
                        <a:spcBef>
                          <a:spcPts val="0"/>
                        </a:spcBef>
                        <a:spcAft>
                          <a:spcPts val="0"/>
                        </a:spcAft>
                      </a:pPr>
                      <a:r>
                        <a:rPr sz="880" b="0" i="0">
                          <a:solidFill>
                            <a:srgbClr val="6B7684"/>
                          </a:solidFill>
                          <a:latin typeface="Arial"/>
                          <a:ea typeface="Arial"/>
                          <a:cs typeface="Arial"/>
                        </a:rPr>
                        <a:t>Glucuronic acid derivatives</a:t>
                      </a:r>
                    </a:p>
                  </a:txBody>
                  <a:tcPr marL="64008" marR="64008" marT="13716" marB="13716" anchor="ctr">
                    <a:noFill/>
                  </a:tcPr>
                </a:tc>
                <a:extLst>
                  <a:ext uri="{0D108BD9-81ED-4DB2-BD59-A6C34878D82A}">
                    <a16:rowId xmlns:a16="http://schemas.microsoft.com/office/drawing/2014/main" val="10003"/>
                  </a:ext>
                </a:extLst>
              </a:tr>
              <a:tr h="202996">
                <a:tc>
                  <a:txBody>
                    <a:bodyPr/>
                    <a:lstStyle/>
                    <a:p>
                      <a:pPr algn="l">
                        <a:lnSpc>
                          <a:spcPct val="100000"/>
                        </a:lnSpc>
                        <a:spcBef>
                          <a:spcPts val="0"/>
                        </a:spcBef>
                        <a:spcAft>
                          <a:spcPts val="0"/>
                        </a:spcAft>
                      </a:pPr>
                      <a:r>
                        <a:rPr sz="880" b="1" i="0">
                          <a:solidFill>
                            <a:srgbClr val="B03A2B"/>
                          </a:solidFill>
                          <a:latin typeface="Arial"/>
                          <a:ea typeface="Arial"/>
                          <a:cs typeface="Arial"/>
                        </a:rPr>
                        <a:t>2-Aminoisobutyric acid*</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6.26 (3.01, 9.50)</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2.0 × 10⁻⁴</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6.28</a:t>
                      </a:r>
                    </a:p>
                  </a:txBody>
                  <a:tcPr marL="64008" marR="64008" marT="13716" marB="13716" anchor="ctr">
                    <a:solidFill>
                      <a:srgbClr val="F4F6F9"/>
                    </a:solidFill>
                  </a:tcPr>
                </a:tc>
                <a:tc>
                  <a:txBody>
                    <a:bodyPr/>
                    <a:lstStyle/>
                    <a:p>
                      <a:pPr algn="l">
                        <a:lnSpc>
                          <a:spcPct val="100000"/>
                        </a:lnSpc>
                        <a:spcBef>
                          <a:spcPts val="0"/>
                        </a:spcBef>
                        <a:spcAft>
                          <a:spcPts val="0"/>
                        </a:spcAft>
                      </a:pPr>
                      <a:r>
                        <a:rPr sz="880" b="0" i="0">
                          <a:solidFill>
                            <a:srgbClr val="6B7684"/>
                          </a:solidFill>
                          <a:latin typeface="Arial"/>
                          <a:ea typeface="Arial"/>
                          <a:cs typeface="Arial"/>
                        </a:rPr>
                        <a:t>Alpha amino acids</a:t>
                      </a:r>
                    </a:p>
                  </a:txBody>
                  <a:tcPr marL="64008" marR="64008" marT="13716" marB="13716" anchor="ctr">
                    <a:solidFill>
                      <a:srgbClr val="F4F6F9"/>
                    </a:solidFill>
                  </a:tcPr>
                </a:tc>
                <a:extLst>
                  <a:ext uri="{0D108BD9-81ED-4DB2-BD59-A6C34878D82A}">
                    <a16:rowId xmlns:a16="http://schemas.microsoft.com/office/drawing/2014/main" val="10004"/>
                  </a:ext>
                </a:extLst>
              </a:tr>
              <a:tr h="202996">
                <a:tc>
                  <a:txBody>
                    <a:bodyPr/>
                    <a:lstStyle/>
                    <a:p>
                      <a:pPr algn="l">
                        <a:lnSpc>
                          <a:spcPct val="100000"/>
                        </a:lnSpc>
                        <a:spcBef>
                          <a:spcPts val="0"/>
                        </a:spcBef>
                        <a:spcAft>
                          <a:spcPts val="0"/>
                        </a:spcAft>
                      </a:pPr>
                      <a:r>
                        <a:rPr sz="880" b="1" i="0">
                          <a:solidFill>
                            <a:srgbClr val="B03A2B"/>
                          </a:solidFill>
                          <a:latin typeface="Arial"/>
                          <a:ea typeface="Arial"/>
                          <a:cs typeface="Arial"/>
                        </a:rPr>
                        <a:t>Kynurenine</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9.23 (5.78, 12.67)</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4.4 × 10⁻⁷</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4.04</a:t>
                      </a:r>
                    </a:p>
                  </a:txBody>
                  <a:tcPr marL="64008" marR="64008" marT="13716" marB="13716" anchor="ctr">
                    <a:noFill/>
                  </a:tcPr>
                </a:tc>
                <a:tc>
                  <a:txBody>
                    <a:bodyPr/>
                    <a:lstStyle/>
                    <a:p>
                      <a:pPr algn="l">
                        <a:lnSpc>
                          <a:spcPct val="100000"/>
                        </a:lnSpc>
                        <a:spcBef>
                          <a:spcPts val="0"/>
                        </a:spcBef>
                        <a:spcAft>
                          <a:spcPts val="0"/>
                        </a:spcAft>
                      </a:pPr>
                      <a:r>
                        <a:rPr sz="880" b="0" i="0">
                          <a:solidFill>
                            <a:srgbClr val="6B7684"/>
                          </a:solidFill>
                          <a:latin typeface="Arial"/>
                          <a:ea typeface="Arial"/>
                          <a:cs typeface="Arial"/>
                        </a:rPr>
                        <a:t>Alkyl-phenylketones</a:t>
                      </a:r>
                    </a:p>
                  </a:txBody>
                  <a:tcPr marL="64008" marR="64008" marT="13716" marB="13716" anchor="ctr">
                    <a:noFill/>
                  </a:tcPr>
                </a:tc>
                <a:extLst>
                  <a:ext uri="{0D108BD9-81ED-4DB2-BD59-A6C34878D82A}">
                    <a16:rowId xmlns:a16="http://schemas.microsoft.com/office/drawing/2014/main" val="10005"/>
                  </a:ext>
                </a:extLst>
              </a:tr>
              <a:tr h="202996">
                <a:tc>
                  <a:txBody>
                    <a:bodyPr/>
                    <a:lstStyle/>
                    <a:p>
                      <a:pPr algn="l">
                        <a:lnSpc>
                          <a:spcPct val="100000"/>
                        </a:lnSpc>
                        <a:spcBef>
                          <a:spcPts val="0"/>
                        </a:spcBef>
                        <a:spcAft>
                          <a:spcPts val="0"/>
                        </a:spcAft>
                      </a:pPr>
                      <a:r>
                        <a:rPr sz="880" b="1" i="0">
                          <a:solidFill>
                            <a:srgbClr val="B03A2B"/>
                          </a:solidFill>
                          <a:latin typeface="Arial"/>
                          <a:ea typeface="Arial"/>
                          <a:cs typeface="Arial"/>
                        </a:rPr>
                        <a:t>Homoarginine</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5.86 (2.52, 9.21)</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7.0 × 10⁻⁴</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2.90</a:t>
                      </a:r>
                    </a:p>
                  </a:txBody>
                  <a:tcPr marL="64008" marR="64008" marT="13716" marB="13716" anchor="ctr">
                    <a:solidFill>
                      <a:srgbClr val="F4F6F9"/>
                    </a:solidFill>
                  </a:tcPr>
                </a:tc>
                <a:tc>
                  <a:txBody>
                    <a:bodyPr/>
                    <a:lstStyle/>
                    <a:p>
                      <a:pPr algn="l">
                        <a:lnSpc>
                          <a:spcPct val="100000"/>
                        </a:lnSpc>
                        <a:spcBef>
                          <a:spcPts val="0"/>
                        </a:spcBef>
                        <a:spcAft>
                          <a:spcPts val="0"/>
                        </a:spcAft>
                      </a:pPr>
                      <a:r>
                        <a:rPr sz="880" b="0" i="0">
                          <a:solidFill>
                            <a:srgbClr val="6B7684"/>
                          </a:solidFill>
                          <a:latin typeface="Arial"/>
                          <a:ea typeface="Arial"/>
                          <a:cs typeface="Arial"/>
                        </a:rPr>
                        <a:t>L-alpha-amino acids</a:t>
                      </a:r>
                    </a:p>
                  </a:txBody>
                  <a:tcPr marL="64008" marR="64008" marT="13716" marB="13716" anchor="ctr">
                    <a:solidFill>
                      <a:srgbClr val="F4F6F9"/>
                    </a:solidFill>
                  </a:tcPr>
                </a:tc>
                <a:extLst>
                  <a:ext uri="{0D108BD9-81ED-4DB2-BD59-A6C34878D82A}">
                    <a16:rowId xmlns:a16="http://schemas.microsoft.com/office/drawing/2014/main" val="10006"/>
                  </a:ext>
                </a:extLst>
              </a:tr>
              <a:tr h="202996">
                <a:tc>
                  <a:txBody>
                    <a:bodyPr/>
                    <a:lstStyle/>
                    <a:p>
                      <a:pPr algn="l">
                        <a:lnSpc>
                          <a:spcPct val="100000"/>
                        </a:lnSpc>
                        <a:spcBef>
                          <a:spcPts val="0"/>
                        </a:spcBef>
                        <a:spcAft>
                          <a:spcPts val="0"/>
                        </a:spcAft>
                      </a:pPr>
                      <a:r>
                        <a:rPr sz="880" b="1" i="0">
                          <a:solidFill>
                            <a:srgbClr val="1B5E8C"/>
                          </a:solidFill>
                          <a:latin typeface="Arial"/>
                          <a:ea typeface="Arial"/>
                          <a:cs typeface="Arial"/>
                        </a:rPr>
                        <a:t>Hydroxyproline</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−4.29 (−7.65, −0.94)</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1.3 × 10⁻²</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2.84</a:t>
                      </a:r>
                    </a:p>
                  </a:txBody>
                  <a:tcPr marL="64008" marR="64008" marT="13716" marB="13716" anchor="ctr">
                    <a:noFill/>
                  </a:tcPr>
                </a:tc>
                <a:tc>
                  <a:txBody>
                    <a:bodyPr/>
                    <a:lstStyle/>
                    <a:p>
                      <a:pPr algn="l">
                        <a:lnSpc>
                          <a:spcPct val="100000"/>
                        </a:lnSpc>
                        <a:spcBef>
                          <a:spcPts val="0"/>
                        </a:spcBef>
                        <a:spcAft>
                          <a:spcPts val="0"/>
                        </a:spcAft>
                      </a:pPr>
                      <a:r>
                        <a:rPr sz="880" b="0" i="0">
                          <a:solidFill>
                            <a:srgbClr val="6B7684"/>
                          </a:solidFill>
                          <a:latin typeface="Arial"/>
                          <a:ea typeface="Arial"/>
                          <a:cs typeface="Arial"/>
                        </a:rPr>
                        <a:t>Proline and derivatives</a:t>
                      </a:r>
                    </a:p>
                  </a:txBody>
                  <a:tcPr marL="64008" marR="64008" marT="13716" marB="13716" anchor="ctr">
                    <a:noFill/>
                  </a:tcPr>
                </a:tc>
                <a:extLst>
                  <a:ext uri="{0D108BD9-81ED-4DB2-BD59-A6C34878D82A}">
                    <a16:rowId xmlns:a16="http://schemas.microsoft.com/office/drawing/2014/main" val="10007"/>
                  </a:ext>
                </a:extLst>
              </a:tr>
              <a:tr h="202996">
                <a:tc>
                  <a:txBody>
                    <a:bodyPr/>
                    <a:lstStyle/>
                    <a:p>
                      <a:pPr algn="l">
                        <a:lnSpc>
                          <a:spcPct val="100000"/>
                        </a:lnSpc>
                        <a:spcBef>
                          <a:spcPts val="0"/>
                        </a:spcBef>
                        <a:spcAft>
                          <a:spcPts val="0"/>
                        </a:spcAft>
                      </a:pPr>
                      <a:r>
                        <a:rPr sz="880" b="1" i="0">
                          <a:solidFill>
                            <a:srgbClr val="B03A2B"/>
                          </a:solidFill>
                          <a:latin typeface="Arial"/>
                          <a:ea typeface="Arial"/>
                          <a:cs typeface="Arial"/>
                        </a:rPr>
                        <a:t>Malonate</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4.96 (1.65, 8.27)</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3.5 × 10⁻³</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2.47</a:t>
                      </a:r>
                    </a:p>
                  </a:txBody>
                  <a:tcPr marL="64008" marR="64008" marT="13716" marB="13716" anchor="ctr">
                    <a:solidFill>
                      <a:srgbClr val="F4F6F9"/>
                    </a:solidFill>
                  </a:tcPr>
                </a:tc>
                <a:tc>
                  <a:txBody>
                    <a:bodyPr/>
                    <a:lstStyle/>
                    <a:p>
                      <a:pPr algn="l">
                        <a:lnSpc>
                          <a:spcPct val="100000"/>
                        </a:lnSpc>
                        <a:spcBef>
                          <a:spcPts val="0"/>
                        </a:spcBef>
                        <a:spcAft>
                          <a:spcPts val="0"/>
                        </a:spcAft>
                      </a:pPr>
                      <a:r>
                        <a:rPr sz="880" b="0" i="0">
                          <a:solidFill>
                            <a:srgbClr val="6B7684"/>
                          </a:solidFill>
                          <a:latin typeface="Arial"/>
                          <a:ea typeface="Arial"/>
                          <a:cs typeface="Arial"/>
                        </a:rPr>
                        <a:t>Dicarboxylic acids</a:t>
                      </a:r>
                    </a:p>
                  </a:txBody>
                  <a:tcPr marL="64008" marR="64008" marT="13716" marB="13716" anchor="ctr">
                    <a:solidFill>
                      <a:srgbClr val="F4F6F9"/>
                    </a:solidFill>
                  </a:tcPr>
                </a:tc>
                <a:extLst>
                  <a:ext uri="{0D108BD9-81ED-4DB2-BD59-A6C34878D82A}">
                    <a16:rowId xmlns:a16="http://schemas.microsoft.com/office/drawing/2014/main" val="10008"/>
                  </a:ext>
                </a:extLst>
              </a:tr>
              <a:tr h="202996">
                <a:tc>
                  <a:txBody>
                    <a:bodyPr/>
                    <a:lstStyle/>
                    <a:p>
                      <a:pPr algn="l">
                        <a:lnSpc>
                          <a:spcPct val="100000"/>
                        </a:lnSpc>
                        <a:spcBef>
                          <a:spcPts val="0"/>
                        </a:spcBef>
                        <a:spcAft>
                          <a:spcPts val="0"/>
                        </a:spcAft>
                      </a:pPr>
                      <a:r>
                        <a:rPr sz="880" b="1" i="0">
                          <a:solidFill>
                            <a:srgbClr val="1B5E8C"/>
                          </a:solidFill>
                          <a:latin typeface="Arial"/>
                          <a:ea typeface="Arial"/>
                          <a:cs typeface="Arial"/>
                        </a:rPr>
                        <a:t>1-Methylguanosine</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−3.82 (−7.05, −0.60)</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2.0 × 10⁻²</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2.04</a:t>
                      </a:r>
                    </a:p>
                  </a:txBody>
                  <a:tcPr marL="64008" marR="64008" marT="13716" marB="13716" anchor="ctr">
                    <a:noFill/>
                  </a:tcPr>
                </a:tc>
                <a:tc>
                  <a:txBody>
                    <a:bodyPr/>
                    <a:lstStyle/>
                    <a:p>
                      <a:pPr algn="l">
                        <a:lnSpc>
                          <a:spcPct val="100000"/>
                        </a:lnSpc>
                        <a:spcBef>
                          <a:spcPts val="0"/>
                        </a:spcBef>
                        <a:spcAft>
                          <a:spcPts val="0"/>
                        </a:spcAft>
                      </a:pPr>
                      <a:r>
                        <a:rPr sz="880" b="0" i="0">
                          <a:solidFill>
                            <a:srgbClr val="6B7684"/>
                          </a:solidFill>
                          <a:latin typeface="Arial"/>
                          <a:ea typeface="Arial"/>
                          <a:cs typeface="Arial"/>
                        </a:rPr>
                        <a:t>Purine nucleosides</a:t>
                      </a:r>
                    </a:p>
                  </a:txBody>
                  <a:tcPr marL="64008" marR="64008" marT="13716" marB="13716" anchor="ctr">
                    <a:noFill/>
                  </a:tcPr>
                </a:tc>
                <a:extLst>
                  <a:ext uri="{0D108BD9-81ED-4DB2-BD59-A6C34878D82A}">
                    <a16:rowId xmlns:a16="http://schemas.microsoft.com/office/drawing/2014/main" val="10009"/>
                  </a:ext>
                </a:extLst>
              </a:tr>
              <a:tr h="202996">
                <a:tc>
                  <a:txBody>
                    <a:bodyPr/>
                    <a:lstStyle/>
                    <a:p>
                      <a:pPr algn="l">
                        <a:lnSpc>
                          <a:spcPct val="100000"/>
                        </a:lnSpc>
                        <a:spcBef>
                          <a:spcPts val="0"/>
                        </a:spcBef>
                        <a:spcAft>
                          <a:spcPts val="0"/>
                        </a:spcAft>
                      </a:pPr>
                      <a:r>
                        <a:rPr sz="880" b="1" i="0">
                          <a:solidFill>
                            <a:srgbClr val="1B5E8C"/>
                          </a:solidFill>
                          <a:latin typeface="Arial"/>
                          <a:ea typeface="Arial"/>
                          <a:cs typeface="Arial"/>
                        </a:rPr>
                        <a:t>4-Hydroxyhippurate</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−3.24 (−6.78, 0.30)</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7.3 × 10⁻²</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1.26</a:t>
                      </a:r>
                    </a:p>
                  </a:txBody>
                  <a:tcPr marL="64008" marR="64008" marT="13716" marB="13716" anchor="ctr">
                    <a:solidFill>
                      <a:srgbClr val="F4F6F9"/>
                    </a:solidFill>
                  </a:tcPr>
                </a:tc>
                <a:tc>
                  <a:txBody>
                    <a:bodyPr/>
                    <a:lstStyle/>
                    <a:p>
                      <a:pPr algn="l">
                        <a:lnSpc>
                          <a:spcPct val="100000"/>
                        </a:lnSpc>
                        <a:spcBef>
                          <a:spcPts val="0"/>
                        </a:spcBef>
                        <a:spcAft>
                          <a:spcPts val="0"/>
                        </a:spcAft>
                      </a:pPr>
                      <a:r>
                        <a:rPr sz="880" b="0" i="0">
                          <a:solidFill>
                            <a:srgbClr val="6B7684"/>
                          </a:solidFill>
                          <a:latin typeface="Arial"/>
                          <a:ea typeface="Arial"/>
                          <a:cs typeface="Arial"/>
                        </a:rPr>
                        <a:t>Hippuric acids</a:t>
                      </a:r>
                    </a:p>
                  </a:txBody>
                  <a:tcPr marL="64008" marR="64008" marT="13716" marB="13716" anchor="ctr">
                    <a:solidFill>
                      <a:srgbClr val="F4F6F9"/>
                    </a:solidFill>
                  </a:tcPr>
                </a:tc>
                <a:extLst>
                  <a:ext uri="{0D108BD9-81ED-4DB2-BD59-A6C34878D82A}">
                    <a16:rowId xmlns:a16="http://schemas.microsoft.com/office/drawing/2014/main" val="10010"/>
                  </a:ext>
                </a:extLst>
              </a:tr>
              <a:tr h="202996">
                <a:tc>
                  <a:txBody>
                    <a:bodyPr/>
                    <a:lstStyle/>
                    <a:p>
                      <a:pPr algn="l">
                        <a:lnSpc>
                          <a:spcPct val="100000"/>
                        </a:lnSpc>
                        <a:spcBef>
                          <a:spcPts val="0"/>
                        </a:spcBef>
                        <a:spcAft>
                          <a:spcPts val="0"/>
                        </a:spcAft>
                      </a:pPr>
                      <a:r>
                        <a:rPr sz="880" b="1" i="0">
                          <a:solidFill>
                            <a:srgbClr val="B03A2B"/>
                          </a:solidFill>
                          <a:latin typeface="Arial"/>
                          <a:ea typeface="Arial"/>
                          <a:cs typeface="Arial"/>
                        </a:rPr>
                        <a:t>N-Acetylserine</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3.80 (−0.18, 7.79)</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6.1 × 10⁻²</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1.20</a:t>
                      </a:r>
                    </a:p>
                  </a:txBody>
                  <a:tcPr marL="64008" marR="64008" marT="13716" marB="13716" anchor="ctr">
                    <a:noFill/>
                  </a:tcPr>
                </a:tc>
                <a:tc>
                  <a:txBody>
                    <a:bodyPr/>
                    <a:lstStyle/>
                    <a:p>
                      <a:pPr algn="l">
                        <a:lnSpc>
                          <a:spcPct val="100000"/>
                        </a:lnSpc>
                        <a:spcBef>
                          <a:spcPts val="0"/>
                        </a:spcBef>
                        <a:spcAft>
                          <a:spcPts val="0"/>
                        </a:spcAft>
                      </a:pPr>
                      <a:r>
                        <a:rPr sz="880" b="0" i="0">
                          <a:solidFill>
                            <a:srgbClr val="6B7684"/>
                          </a:solidFill>
                          <a:latin typeface="Arial"/>
                          <a:ea typeface="Arial"/>
                          <a:cs typeface="Arial"/>
                        </a:rPr>
                        <a:t>N-acyl-α-amino acids</a:t>
                      </a:r>
                    </a:p>
                  </a:txBody>
                  <a:tcPr marL="64008" marR="64008" marT="13716" marB="13716" anchor="ctr">
                    <a:noFill/>
                  </a:tcPr>
                </a:tc>
                <a:extLst>
                  <a:ext uri="{0D108BD9-81ED-4DB2-BD59-A6C34878D82A}">
                    <a16:rowId xmlns:a16="http://schemas.microsoft.com/office/drawing/2014/main" val="10011"/>
                  </a:ext>
                </a:extLst>
              </a:tr>
              <a:tr h="202996">
                <a:tc>
                  <a:txBody>
                    <a:bodyPr/>
                    <a:lstStyle/>
                    <a:p>
                      <a:pPr algn="l">
                        <a:lnSpc>
                          <a:spcPct val="100000"/>
                        </a:lnSpc>
                        <a:spcBef>
                          <a:spcPts val="0"/>
                        </a:spcBef>
                        <a:spcAft>
                          <a:spcPts val="0"/>
                        </a:spcAft>
                      </a:pPr>
                      <a:r>
                        <a:rPr sz="880" b="1" i="0">
                          <a:solidFill>
                            <a:srgbClr val="1B5E8C"/>
                          </a:solidFill>
                          <a:latin typeface="Arial"/>
                          <a:ea typeface="Arial"/>
                          <a:cs typeface="Arial"/>
                        </a:rPr>
                        <a:t>N-Carbamoyl-β-alanine</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−2.74 (−6.29, 0.82)</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1.3 × 10⁻¹</a:t>
                      </a:r>
                    </a:p>
                  </a:txBody>
                  <a:tcPr marL="64008" marR="64008" marT="13716" marB="13716" anchor="ctr">
                    <a:solidFill>
                      <a:srgbClr val="F4F6F9"/>
                    </a:solidFill>
                  </a:tcPr>
                </a:tc>
                <a:tc>
                  <a:txBody>
                    <a:bodyPr/>
                    <a:lstStyle/>
                    <a:p>
                      <a:pPr algn="r">
                        <a:lnSpc>
                          <a:spcPct val="100000"/>
                        </a:lnSpc>
                        <a:spcBef>
                          <a:spcPts val="0"/>
                        </a:spcBef>
                        <a:spcAft>
                          <a:spcPts val="0"/>
                        </a:spcAft>
                      </a:pPr>
                      <a:r>
                        <a:rPr sz="880" b="0" i="0">
                          <a:solidFill>
                            <a:srgbClr val="2B3544"/>
                          </a:solidFill>
                          <a:latin typeface="Arial"/>
                          <a:ea typeface="Arial"/>
                          <a:cs typeface="Arial"/>
                        </a:rPr>
                        <a:t>0.84</a:t>
                      </a:r>
                    </a:p>
                  </a:txBody>
                  <a:tcPr marL="64008" marR="64008" marT="13716" marB="13716" anchor="ctr">
                    <a:solidFill>
                      <a:srgbClr val="F4F6F9"/>
                    </a:solidFill>
                  </a:tcPr>
                </a:tc>
                <a:tc>
                  <a:txBody>
                    <a:bodyPr/>
                    <a:lstStyle/>
                    <a:p>
                      <a:pPr algn="l">
                        <a:lnSpc>
                          <a:spcPct val="100000"/>
                        </a:lnSpc>
                        <a:spcBef>
                          <a:spcPts val="0"/>
                        </a:spcBef>
                        <a:spcAft>
                          <a:spcPts val="0"/>
                        </a:spcAft>
                      </a:pPr>
                      <a:r>
                        <a:rPr sz="880" b="0" i="0">
                          <a:solidFill>
                            <a:srgbClr val="6B7684"/>
                          </a:solidFill>
                          <a:latin typeface="Arial"/>
                          <a:ea typeface="Arial"/>
                          <a:cs typeface="Arial"/>
                        </a:rPr>
                        <a:t>Ureas</a:t>
                      </a:r>
                    </a:p>
                  </a:txBody>
                  <a:tcPr marL="64008" marR="64008" marT="13716" marB="13716" anchor="ctr">
                    <a:solidFill>
                      <a:srgbClr val="F4F6F9"/>
                    </a:solidFill>
                  </a:tcPr>
                </a:tc>
                <a:extLst>
                  <a:ext uri="{0D108BD9-81ED-4DB2-BD59-A6C34878D82A}">
                    <a16:rowId xmlns:a16="http://schemas.microsoft.com/office/drawing/2014/main" val="10012"/>
                  </a:ext>
                </a:extLst>
              </a:tr>
              <a:tr h="202996">
                <a:tc>
                  <a:txBody>
                    <a:bodyPr/>
                    <a:lstStyle/>
                    <a:p>
                      <a:pPr algn="l">
                        <a:lnSpc>
                          <a:spcPct val="100000"/>
                        </a:lnSpc>
                        <a:spcBef>
                          <a:spcPts val="0"/>
                        </a:spcBef>
                        <a:spcAft>
                          <a:spcPts val="0"/>
                        </a:spcAft>
                      </a:pPr>
                      <a:r>
                        <a:rPr sz="880" b="1" i="0">
                          <a:solidFill>
                            <a:srgbClr val="1B5E8C"/>
                          </a:solidFill>
                          <a:latin typeface="Arial"/>
                          <a:ea typeface="Arial"/>
                          <a:cs typeface="Arial"/>
                        </a:rPr>
                        <a:t>C34:2 phosphatidylcholine</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−0.02 (−0.06, 0.01)</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1.7 × 10⁻¹</a:t>
                      </a:r>
                    </a:p>
                  </a:txBody>
                  <a:tcPr marL="64008" marR="64008" marT="13716" marB="13716" anchor="ctr">
                    <a:noFill/>
                  </a:tcPr>
                </a:tc>
                <a:tc>
                  <a:txBody>
                    <a:bodyPr/>
                    <a:lstStyle/>
                    <a:p>
                      <a:pPr algn="r">
                        <a:lnSpc>
                          <a:spcPct val="100000"/>
                        </a:lnSpc>
                        <a:spcBef>
                          <a:spcPts val="0"/>
                        </a:spcBef>
                        <a:spcAft>
                          <a:spcPts val="0"/>
                        </a:spcAft>
                      </a:pPr>
                      <a:r>
                        <a:rPr sz="880" b="0" i="0">
                          <a:solidFill>
                            <a:srgbClr val="2B3544"/>
                          </a:solidFill>
                          <a:latin typeface="Arial"/>
                          <a:ea typeface="Arial"/>
                          <a:cs typeface="Arial"/>
                        </a:rPr>
                        <a:t>0.23</a:t>
                      </a:r>
                    </a:p>
                  </a:txBody>
                  <a:tcPr marL="64008" marR="64008" marT="13716" marB="13716" anchor="ctr">
                    <a:noFill/>
                  </a:tcPr>
                </a:tc>
                <a:tc>
                  <a:txBody>
                    <a:bodyPr/>
                    <a:lstStyle/>
                    <a:p>
                      <a:pPr algn="l">
                        <a:lnSpc>
                          <a:spcPct val="100000"/>
                        </a:lnSpc>
                        <a:spcBef>
                          <a:spcPts val="0"/>
                        </a:spcBef>
                        <a:spcAft>
                          <a:spcPts val="0"/>
                        </a:spcAft>
                      </a:pPr>
                      <a:r>
                        <a:rPr sz="880" b="0" i="0">
                          <a:solidFill>
                            <a:srgbClr val="6B7684"/>
                          </a:solidFill>
                          <a:latin typeface="Arial"/>
                          <a:ea typeface="Arial"/>
                          <a:cs typeface="Arial"/>
                        </a:rPr>
                        <a:t>Glycerophospholipids</a:t>
                      </a:r>
                    </a:p>
                  </a:txBody>
                  <a:tcPr marL="64008" marR="64008" marT="13716" marB="13716" anchor="ctr">
                    <a:noFill/>
                  </a:tcPr>
                </a:tc>
                <a:extLst>
                  <a:ext uri="{0D108BD9-81ED-4DB2-BD59-A6C34878D82A}">
                    <a16:rowId xmlns:a16="http://schemas.microsoft.com/office/drawing/2014/main" val="10013"/>
                  </a:ext>
                </a:extLst>
              </a:tr>
            </a:tbl>
          </a:graphicData>
        </a:graphic>
      </p:graphicFrame>
      <p:sp>
        <p:nvSpPr>
          <p:cNvPr id="7" name="TextBox 6"/>
          <p:cNvSpPr txBox="1"/>
          <p:nvPr/>
        </p:nvSpPr>
        <p:spPr>
          <a:xfrm>
            <a:off x="411480" y="4096512"/>
            <a:ext cx="8321040" cy="777240"/>
          </a:xfrm>
          <a:prstGeom prst="rect">
            <a:avLst/>
          </a:prstGeom>
          <a:noFill/>
        </p:spPr>
        <p:txBody>
          <a:bodyPr wrap="square" lIns="0" tIns="0" rIns="0" bIns="0">
            <a:spAutoFit/>
          </a:bodyPr>
          <a:lstStyle/>
          <a:p>
            <a:pPr algn="l">
              <a:lnSpc>
                <a:spcPct val="110000"/>
              </a:lnSpc>
              <a:spcBef>
                <a:spcPts val="0"/>
              </a:spcBef>
              <a:spcAft>
                <a:spcPts val="300"/>
              </a:spcAft>
            </a:pPr>
            <a:r>
              <a:rPr sz="850" b="0" i="0">
                <a:solidFill>
                  <a:srgbClr val="6B7684"/>
                </a:solidFill>
                <a:latin typeface="Arial"/>
                <a:ea typeface="Arial"/>
                <a:cs typeface="Arial"/>
              </a:rPr>
              <a:t>Red: a higher preoperative level predicts a worse outcome.   Blue: a higher level predicts sustained weight loss.</a:t>
            </a:r>
          </a:p>
          <a:p>
            <a:pPr algn="l">
              <a:lnSpc>
                <a:spcPct val="110000"/>
              </a:lnSpc>
              <a:spcBef>
                <a:spcPts val="0"/>
              </a:spcBef>
              <a:spcAft>
                <a:spcPts val="300"/>
              </a:spcAft>
            </a:pPr>
            <a:r>
              <a:rPr sz="850" b="1" i="0">
                <a:solidFill>
                  <a:srgbClr val="6B7684"/>
                </a:solidFill>
                <a:latin typeface="Arial"/>
                <a:ea typeface="Arial"/>
                <a:cs typeface="Arial"/>
              </a:rPr>
              <a:t>Five</a:t>
            </a:r>
            <a:r>
              <a:rPr sz="850" b="0" i="0">
                <a:solidFill>
                  <a:srgbClr val="6B7684"/>
                </a:solidFill>
                <a:latin typeface="Arial"/>
                <a:ea typeface="Arial"/>
                <a:cs typeface="Arial"/>
              </a:rPr>
              <a:t> metabolites (*) passed FDR correction. DMGV also passed but was excluded for collinearity with BAIBA.</a:t>
            </a:r>
          </a:p>
          <a:p>
            <a:pPr algn="l">
              <a:lnSpc>
                <a:spcPct val="110000"/>
              </a:lnSpc>
              <a:spcBef>
                <a:spcPts val="0"/>
              </a:spcBef>
              <a:spcAft>
                <a:spcPts val="300"/>
              </a:spcAft>
            </a:pPr>
            <a:r>
              <a:rPr sz="850" b="1" i="0">
                <a:solidFill>
                  <a:srgbClr val="052049"/>
                </a:solidFill>
                <a:latin typeface="Arial"/>
                <a:ea typeface="Arial"/>
                <a:cs typeface="Arial"/>
              </a:rPr>
              <a:t>The panel spans fatty acid oxidation, bile acid conjugation, tryptophan catabolism, nitric oxide and microbial co-metabolism.</a:t>
            </a:r>
          </a:p>
        </p:txBody>
      </p:sp>
      <p:pic>
        <p:nvPicPr>
          <p:cNvPr id="8" name="Picture 7" descr="image.png"/>
          <p:cNvPicPr>
            <a:picLocks noChangeAspect="1"/>
          </p:cNvPicPr>
          <p:nvPr/>
        </p:nvPicPr>
        <p:blipFill>
          <a:blip r:embed="rId3"/>
          <a:stretch>
            <a:fillRect/>
          </a:stretch>
        </p:blipFill>
        <p:spPr>
          <a:xfrm>
            <a:off x="8247888" y="4530852"/>
            <a:ext cx="694944" cy="448970"/>
          </a:xfrm>
          <a:prstGeom prst="rect">
            <a:avLst/>
          </a:prstGeom>
        </p:spPr>
      </p:pic>
      <p:sp>
        <p:nvSpPr>
          <p:cNvPr id="9" name="TextBox 8"/>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000" b="1" i="0">
                <a:solidFill>
                  <a:srgbClr val="052049"/>
                </a:solidFill>
                <a:latin typeface="Arial"/>
                <a:ea typeface="Arial"/>
                <a:cs typeface="Arial"/>
              </a:rPr>
              <a:t>The panel carries independent signal</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Results · the score</a:t>
            </a:r>
          </a:p>
        </p:txBody>
      </p:sp>
      <p:sp>
        <p:nvSpPr>
          <p:cNvPr id="6" name="TextBox 5"/>
          <p:cNvSpPr txBox="1"/>
          <p:nvPr/>
        </p:nvSpPr>
        <p:spPr>
          <a:xfrm>
            <a:off x="182880" y="4041648"/>
            <a:ext cx="4206240"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Fig. 2b  ·  Pearson correlations among the 13 MetRS metabolites, hierarchically clustered</a:t>
            </a:r>
          </a:p>
        </p:txBody>
      </p:sp>
      <p:sp>
        <p:nvSpPr>
          <p:cNvPr id="7" name="TextBox 6"/>
          <p:cNvSpPr txBox="1"/>
          <p:nvPr/>
        </p:nvSpPr>
        <p:spPr>
          <a:xfrm>
            <a:off x="4443984" y="1042415"/>
            <a:ext cx="4297680" cy="3383280"/>
          </a:xfrm>
          <a:prstGeom prst="rect">
            <a:avLst/>
          </a:prstGeom>
          <a:noFill/>
        </p:spPr>
        <p:txBody>
          <a:bodyPr wrap="square" lIns="0" tIns="0" rIns="0" bIns="0">
            <a:spAutoFit/>
          </a:bodyPr>
          <a:lstStyle/>
          <a:p>
            <a:pPr marL="146304" indent="-146304" algn="l">
              <a:lnSpc>
                <a:spcPct val="106000"/>
              </a:lnSpc>
              <a:spcBef>
                <a:spcPts val="0"/>
              </a:spcBef>
              <a:spcAft>
                <a:spcPts val="900"/>
              </a:spcAft>
              <a:buClr>
                <a:srgbClr val="178CCB"/>
              </a:buClr>
              <a:buSzPct val="95000"/>
              <a:buFont typeface="Arial"/>
              <a:buChar char="•"/>
            </a:pPr>
            <a:r>
              <a:rPr sz="1150" b="0" i="0">
                <a:solidFill>
                  <a:srgbClr val="2B3544"/>
                </a:solidFill>
                <a:latin typeface="Arial"/>
                <a:ea typeface="Arial"/>
                <a:cs typeface="Arial"/>
              </a:rPr>
              <a:t>Correlations between the </a:t>
            </a:r>
            <a:r>
              <a:rPr sz="1150" b="1" i="0">
                <a:solidFill>
                  <a:srgbClr val="2B3544"/>
                </a:solidFill>
                <a:latin typeface="Arial"/>
                <a:ea typeface="Arial"/>
                <a:cs typeface="Arial"/>
              </a:rPr>
              <a:t>13</a:t>
            </a:r>
            <a:r>
              <a:rPr sz="1150" b="0" i="0">
                <a:solidFill>
                  <a:srgbClr val="2B3544"/>
                </a:solidFill>
                <a:latin typeface="Arial"/>
                <a:ea typeface="Arial"/>
                <a:cs typeface="Arial"/>
              </a:rPr>
              <a:t> metabolites are mostly weak</a:t>
            </a:r>
          </a:p>
          <a:p>
            <a:pPr marL="146304" indent="-146304" algn="l">
              <a:lnSpc>
                <a:spcPct val="106000"/>
              </a:lnSpc>
              <a:spcBef>
                <a:spcPts val="0"/>
              </a:spcBef>
              <a:spcAft>
                <a:spcPts val="900"/>
              </a:spcAft>
              <a:buClr>
                <a:srgbClr val="178CCB"/>
              </a:buClr>
              <a:buSzPct val="95000"/>
              <a:buFont typeface="Arial"/>
              <a:buChar char="•"/>
            </a:pPr>
            <a:r>
              <a:rPr sz="1150" b="0" i="0">
                <a:solidFill>
                  <a:srgbClr val="2B3544"/>
                </a:solidFill>
                <a:latin typeface="Arial"/>
                <a:ea typeface="Arial"/>
                <a:cs typeface="Arial"/>
              </a:rPr>
              <a:t>The score is not one signal measured thirteen times</a:t>
            </a:r>
          </a:p>
          <a:p>
            <a:pPr marL="146304" indent="-146304" algn="l">
              <a:lnSpc>
                <a:spcPct val="106000"/>
              </a:lnSpc>
              <a:spcBef>
                <a:spcPts val="0"/>
              </a:spcBef>
              <a:spcAft>
                <a:spcPts val="900"/>
              </a:spcAft>
              <a:buClr>
                <a:srgbClr val="178CCB"/>
              </a:buClr>
              <a:buSzPct val="95000"/>
              <a:buFont typeface="Arial"/>
              <a:buChar char="•"/>
            </a:pPr>
            <a:r>
              <a:rPr sz="1150" b="0" i="0">
                <a:solidFill>
                  <a:srgbClr val="2B3544"/>
                </a:solidFill>
                <a:latin typeface="Arial"/>
                <a:ea typeface="Arial"/>
                <a:cs typeface="Arial"/>
              </a:rPr>
              <a:t>Clustering shows two loose groups</a:t>
            </a:r>
          </a:p>
          <a:p>
            <a:pPr marL="146304" indent="0" algn="l">
              <a:lnSpc>
                <a:spcPct val="106000"/>
              </a:lnSpc>
              <a:spcBef>
                <a:spcPts val="0"/>
              </a:spcBef>
              <a:spcAft>
                <a:spcPts val="900"/>
              </a:spcAft>
              <a:buNone/>
            </a:pPr>
            <a:r>
              <a:rPr sz="1100" b="0" i="0">
                <a:solidFill>
                  <a:srgbClr val="6B7684"/>
                </a:solidFill>
                <a:latin typeface="Arial"/>
                <a:ea typeface="Arial"/>
                <a:cs typeface="Arial"/>
              </a:rPr>
              <a:t>Lipids and dicarboxylates: malonate, homoarginine, BAIBA, C34:2 PC, 13-HODE</a:t>
            </a:r>
          </a:p>
          <a:p>
            <a:pPr marL="146304" indent="0" algn="l">
              <a:lnSpc>
                <a:spcPct val="106000"/>
              </a:lnSpc>
              <a:spcBef>
                <a:spcPts val="0"/>
              </a:spcBef>
              <a:spcAft>
                <a:spcPts val="900"/>
              </a:spcAft>
              <a:buNone/>
            </a:pPr>
            <a:r>
              <a:rPr sz="1100" b="0" i="0">
                <a:solidFill>
                  <a:srgbClr val="6B7684"/>
                </a:solidFill>
                <a:latin typeface="Arial"/>
                <a:ea typeface="Arial"/>
                <a:cs typeface="Arial"/>
              </a:rPr>
              <a:t>Amino acids and microbial products: kynurenine, N-carbamoyl-β-alanine, glucuronate, hydroxyproline, 4-hydroxyhippurate</a:t>
            </a:r>
          </a:p>
          <a:p>
            <a:pPr marL="146304" indent="-146304" algn="l">
              <a:lnSpc>
                <a:spcPct val="106000"/>
              </a:lnSpc>
              <a:spcBef>
                <a:spcPts val="0"/>
              </a:spcBef>
              <a:spcAft>
                <a:spcPts val="900"/>
              </a:spcAft>
              <a:buClr>
                <a:srgbClr val="178CCB"/>
              </a:buClr>
              <a:buSzPct val="95000"/>
              <a:buFont typeface="Arial"/>
              <a:buChar char="•"/>
            </a:pPr>
            <a:r>
              <a:rPr sz="1150" b="0" i="0">
                <a:solidFill>
                  <a:srgbClr val="2B3544"/>
                </a:solidFill>
                <a:latin typeface="Arial"/>
                <a:ea typeface="Arial"/>
                <a:cs typeface="Arial"/>
              </a:rPr>
              <a:t>Only DMGV and BAIBA crossed the </a:t>
            </a:r>
            <a:r>
              <a:rPr sz="1150" b="1" i="0">
                <a:solidFill>
                  <a:srgbClr val="2B3544"/>
                </a:solidFill>
                <a:latin typeface="Arial"/>
                <a:ea typeface="Arial"/>
                <a:cs typeface="Arial"/>
              </a:rPr>
              <a:t>|r| &gt; 0.5</a:t>
            </a:r>
            <a:r>
              <a:rPr sz="1150" b="0" i="0">
                <a:solidFill>
                  <a:srgbClr val="2B3544"/>
                </a:solidFill>
                <a:latin typeface="Arial"/>
                <a:ea typeface="Arial"/>
                <a:cs typeface="Arial"/>
              </a:rPr>
              <a:t> threshold</a:t>
            </a:r>
          </a:p>
          <a:p>
            <a:pPr marL="146304" indent="-146304" algn="l">
              <a:lnSpc>
                <a:spcPct val="106000"/>
              </a:lnSpc>
              <a:spcBef>
                <a:spcPts val="0"/>
              </a:spcBef>
              <a:spcAft>
                <a:spcPts val="900"/>
              </a:spcAft>
              <a:buClr>
                <a:srgbClr val="178CCB"/>
              </a:buClr>
              <a:buSzPct val="95000"/>
              <a:buFont typeface="Arial"/>
              <a:buChar char="•"/>
            </a:pPr>
            <a:r>
              <a:rPr sz="1150" b="0" i="0">
                <a:solidFill>
                  <a:srgbClr val="2B3544"/>
                </a:solidFill>
                <a:latin typeface="Arial"/>
                <a:ea typeface="Arial"/>
                <a:cs typeface="Arial"/>
              </a:rPr>
              <a:t>Variance inflation factors were acceptable</a:t>
            </a:r>
          </a:p>
          <a:p>
            <a:pPr marL="146304" indent="-146304" algn="l">
              <a:lnSpc>
                <a:spcPct val="106000"/>
              </a:lnSpc>
              <a:spcBef>
                <a:spcPts val="0"/>
              </a:spcBef>
              <a:spcAft>
                <a:spcPts val="900"/>
              </a:spcAft>
              <a:buClr>
                <a:srgbClr val="178CCB"/>
              </a:buClr>
              <a:buSzPct val="95000"/>
              <a:buFont typeface="Arial"/>
              <a:buChar char="•"/>
            </a:pPr>
            <a:r>
              <a:rPr sz="1150" b="0" i="0">
                <a:solidFill>
                  <a:srgbClr val="2B3544"/>
                </a:solidFill>
                <a:latin typeface="Arial"/>
                <a:ea typeface="Arial"/>
                <a:cs typeface="Arial"/>
              </a:rPr>
              <a:t>Each assay adds something the others do not</a:t>
            </a:r>
          </a:p>
        </p:txBody>
      </p:sp>
      <p:pic>
        <p:nvPicPr>
          <p:cNvPr id="8" name="Picture 7" descr="image.png"/>
          <p:cNvPicPr>
            <a:picLocks noChangeAspect="1"/>
          </p:cNvPicPr>
          <p:nvPr/>
        </p:nvPicPr>
        <p:blipFill>
          <a:blip r:embed="rId4"/>
          <a:stretch>
            <a:fillRect/>
          </a:stretch>
        </p:blipFill>
        <p:spPr>
          <a:xfrm>
            <a:off x="8247888" y="4530852"/>
            <a:ext cx="694944" cy="448970"/>
          </a:xfrm>
          <a:prstGeom prst="rect">
            <a:avLst/>
          </a:prstGeom>
        </p:spPr>
      </p:pic>
      <p:sp>
        <p:nvSpPr>
          <p:cNvPr id="9" name="TextBox 8"/>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11</a:t>
            </a:r>
          </a:p>
        </p:txBody>
      </p:sp>
      <p:pic>
        <p:nvPicPr>
          <p:cNvPr id="10" name="Picture 9" descr="fig_2b_slide.png"/>
          <p:cNvPicPr>
            <a:picLocks noChangeAspect="1"/>
          </p:cNvPicPr>
          <p:nvPr/>
        </p:nvPicPr>
        <p:blipFill>
          <a:blip r:embed="rId5"/>
          <a:stretch>
            <a:fillRect/>
          </a:stretch>
        </p:blipFill>
        <p:spPr>
          <a:xfrm>
            <a:off x="201168" y="1325880"/>
            <a:ext cx="4041648" cy="26502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000" b="1" i="0">
                <a:solidFill>
                  <a:srgbClr val="052049"/>
                </a:solidFill>
                <a:latin typeface="Arial"/>
                <a:ea typeface="Arial"/>
                <a:cs typeface="Arial"/>
              </a:rPr>
              <a:t>Connecting MetRS metabolites reveals key biology</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Results · biology</a:t>
            </a:r>
          </a:p>
        </p:txBody>
      </p:sp>
      <p:pic>
        <p:nvPicPr>
          <p:cNvPr id="5" name="Picture 4" descr="trim_fig2d.1_538x388.png"/>
          <p:cNvPicPr>
            <a:picLocks noChangeAspect="1"/>
          </p:cNvPicPr>
          <p:nvPr/>
        </p:nvPicPr>
        <p:blipFill>
          <a:blip r:embed="rId3"/>
          <a:stretch>
            <a:fillRect/>
          </a:stretch>
        </p:blipFill>
        <p:spPr>
          <a:xfrm>
            <a:off x="466665" y="969264"/>
            <a:ext cx="4918829" cy="3547872"/>
          </a:xfrm>
          <a:prstGeom prst="rect">
            <a:avLst/>
          </a:prstGeom>
          <a:effectLst/>
        </p:spPr>
      </p:pic>
      <p:sp>
        <p:nvSpPr>
          <p:cNvPr id="6" name="TextBox 5"/>
          <p:cNvSpPr txBox="1"/>
          <p:nvPr/>
        </p:nvSpPr>
        <p:spPr>
          <a:xfrm>
            <a:off x="283785" y="4562855"/>
            <a:ext cx="5284589"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Fig. 2d  ·  curated first-degree SPOKE subgraph, Kamada-Kawai layout; node colour = entity type</a:t>
            </a:r>
          </a:p>
        </p:txBody>
      </p:sp>
      <p:sp>
        <p:nvSpPr>
          <p:cNvPr id="7" name="TextBox 6"/>
          <p:cNvSpPr txBox="1"/>
          <p:nvPr/>
        </p:nvSpPr>
        <p:spPr>
          <a:xfrm>
            <a:off x="5669280" y="1024128"/>
            <a:ext cx="3063240" cy="3474720"/>
          </a:xfrm>
          <a:prstGeom prst="rect">
            <a:avLst/>
          </a:prstGeom>
          <a:noFill/>
        </p:spPr>
        <p:txBody>
          <a:bodyPr wrap="square" lIns="0" tIns="0" rIns="0" bIns="0">
            <a:spAutoFit/>
          </a:bodyPr>
          <a:lstStyle/>
          <a:p>
            <a:pPr marL="146304" indent="-146304" algn="l">
              <a:lnSpc>
                <a:spcPct val="106000"/>
              </a:lnSpc>
              <a:spcBef>
                <a:spcPts val="0"/>
              </a:spcBef>
              <a:spcAft>
                <a:spcPts val="800"/>
              </a:spcAft>
              <a:buClr>
                <a:srgbClr val="178CCB"/>
              </a:buClr>
              <a:buSzPct val="95000"/>
              <a:buFont typeface="Arial"/>
              <a:buChar char="•"/>
            </a:pPr>
            <a:r>
              <a:rPr sz="1050" b="1" i="0">
                <a:solidFill>
                  <a:srgbClr val="2B3544"/>
                </a:solidFill>
                <a:latin typeface="Arial"/>
                <a:ea typeface="Arial"/>
                <a:cs typeface="Arial"/>
              </a:rPr>
              <a:t>15</a:t>
            </a:r>
            <a:r>
              <a:rPr sz="1050" b="0" i="0">
                <a:solidFill>
                  <a:srgbClr val="2B3544"/>
                </a:solidFill>
                <a:latin typeface="Arial"/>
                <a:ea typeface="Arial"/>
                <a:cs typeface="Arial"/>
              </a:rPr>
              <a:t> MetRS compounds seeded SPOKE, a curated biomedical knowledge graph</a:t>
            </a:r>
          </a:p>
          <a:p>
            <a:pPr marL="146304" indent="-146304" algn="l">
              <a:lnSpc>
                <a:spcPct val="106000"/>
              </a:lnSpc>
              <a:spcBef>
                <a:spcPts val="0"/>
              </a:spcBef>
              <a:spcAft>
                <a:spcPts val="800"/>
              </a:spcAft>
              <a:buClr>
                <a:srgbClr val="178CCB"/>
              </a:buClr>
              <a:buSzPct val="95000"/>
              <a:buFont typeface="Arial"/>
              <a:buChar char="•"/>
            </a:pPr>
            <a:r>
              <a:rPr sz="1000" b="0" i="0">
                <a:solidFill>
                  <a:srgbClr val="2B3544"/>
                </a:solidFill>
                <a:latin typeface="Arial"/>
                <a:ea typeface="Arial"/>
                <a:cs typeface="Arial"/>
              </a:rPr>
              <a:t>The first-degree subgraph has </a:t>
            </a:r>
            <a:r>
              <a:rPr sz="1000" b="1" i="0">
                <a:solidFill>
                  <a:srgbClr val="2B3544"/>
                </a:solidFill>
                <a:latin typeface="Arial"/>
                <a:ea typeface="Arial"/>
                <a:cs typeface="Arial"/>
              </a:rPr>
              <a:t>169 nodes</a:t>
            </a:r>
            <a:r>
              <a:rPr sz="1000" b="0" i="0">
                <a:solidFill>
                  <a:srgbClr val="2B3544"/>
                </a:solidFill>
                <a:latin typeface="Arial"/>
                <a:ea typeface="Arial"/>
                <a:cs typeface="Arial"/>
              </a:rPr>
              <a:t> and </a:t>
            </a:r>
            <a:r>
              <a:rPr sz="1000" b="1" i="0">
                <a:solidFill>
                  <a:srgbClr val="2B3544"/>
                </a:solidFill>
                <a:latin typeface="Arial"/>
                <a:ea typeface="Arial"/>
                <a:cs typeface="Arial"/>
              </a:rPr>
              <a:t>235 edges</a:t>
            </a:r>
          </a:p>
          <a:p>
            <a:pPr marL="146304" indent="-146304" algn="l">
              <a:lnSpc>
                <a:spcPct val="106000"/>
              </a:lnSpc>
              <a:spcBef>
                <a:spcPts val="0"/>
              </a:spcBef>
              <a:spcAft>
                <a:spcPts val="800"/>
              </a:spcAft>
              <a:buClr>
                <a:srgbClr val="178CCB"/>
              </a:buClr>
              <a:buSzPct val="95000"/>
              <a:buFont typeface="Arial"/>
              <a:buChar char="•"/>
            </a:pPr>
            <a:r>
              <a:rPr sz="1050" b="1" i="0">
                <a:solidFill>
                  <a:srgbClr val="2B3544"/>
                </a:solidFill>
                <a:latin typeface="Arial"/>
                <a:ea typeface="Arial"/>
                <a:cs typeface="Arial"/>
              </a:rPr>
              <a:t>21</a:t>
            </a:r>
            <a:r>
              <a:rPr sz="1050" b="0" i="0">
                <a:solidFill>
                  <a:srgbClr val="2B3544"/>
                </a:solidFill>
                <a:latin typeface="Arial"/>
                <a:ea typeface="Arial"/>
                <a:cs typeface="Arial"/>
              </a:rPr>
              <a:t> compounds, </a:t>
            </a:r>
            <a:r>
              <a:rPr sz="1050" b="1" i="0">
                <a:solidFill>
                  <a:srgbClr val="2B3544"/>
                </a:solidFill>
                <a:latin typeface="Arial"/>
                <a:ea typeface="Arial"/>
                <a:cs typeface="Arial"/>
              </a:rPr>
              <a:t>52</a:t>
            </a:r>
            <a:r>
              <a:rPr sz="1050" b="0" i="0">
                <a:solidFill>
                  <a:srgbClr val="2B3544"/>
                </a:solidFill>
                <a:latin typeface="Arial"/>
                <a:ea typeface="Arial"/>
                <a:cs typeface="Arial"/>
              </a:rPr>
              <a:t> genes, </a:t>
            </a:r>
            <a:r>
              <a:rPr sz="1050" b="1" i="0">
                <a:solidFill>
                  <a:srgbClr val="2B3544"/>
                </a:solidFill>
                <a:latin typeface="Arial"/>
                <a:ea typeface="Arial"/>
                <a:cs typeface="Arial"/>
              </a:rPr>
              <a:t>32</a:t>
            </a:r>
            <a:r>
              <a:rPr sz="1050" b="0" i="0">
                <a:solidFill>
                  <a:srgbClr val="2B3544"/>
                </a:solidFill>
                <a:latin typeface="Arial"/>
                <a:ea typeface="Arial"/>
                <a:cs typeface="Arial"/>
              </a:rPr>
              <a:t> proteins</a:t>
            </a:r>
          </a:p>
          <a:p>
            <a:pPr marL="146304" indent="-146304" algn="l">
              <a:lnSpc>
                <a:spcPct val="106000"/>
              </a:lnSpc>
              <a:spcBef>
                <a:spcPts val="0"/>
              </a:spcBef>
              <a:spcAft>
                <a:spcPts val="800"/>
              </a:spcAft>
              <a:buClr>
                <a:srgbClr val="178CCB"/>
              </a:buClr>
              <a:buSzPct val="95000"/>
              <a:buFont typeface="Arial"/>
              <a:buChar char="•"/>
            </a:pPr>
            <a:r>
              <a:rPr sz="1050" b="1" i="0">
                <a:solidFill>
                  <a:srgbClr val="2B3544"/>
                </a:solidFill>
                <a:latin typeface="Arial"/>
                <a:ea typeface="Arial"/>
                <a:cs typeface="Arial"/>
              </a:rPr>
              <a:t>38</a:t>
            </a:r>
            <a:r>
              <a:rPr sz="1050" b="0" i="0">
                <a:solidFill>
                  <a:srgbClr val="2B3544"/>
                </a:solidFill>
                <a:latin typeface="Arial"/>
                <a:ea typeface="Arial"/>
                <a:cs typeface="Arial"/>
              </a:rPr>
              <a:t> pathways, </a:t>
            </a:r>
            <a:r>
              <a:rPr sz="1050" b="1" i="0">
                <a:solidFill>
                  <a:srgbClr val="2B3544"/>
                </a:solidFill>
                <a:latin typeface="Arial"/>
                <a:ea typeface="Arial"/>
                <a:cs typeface="Arial"/>
              </a:rPr>
              <a:t>14</a:t>
            </a:r>
            <a:r>
              <a:rPr sz="1050" b="0" i="0">
                <a:solidFill>
                  <a:srgbClr val="2B3544"/>
                </a:solidFill>
                <a:latin typeface="Arial"/>
                <a:ea typeface="Arial"/>
                <a:cs typeface="Arial"/>
              </a:rPr>
              <a:t> biological processes, </a:t>
            </a:r>
            <a:r>
              <a:rPr sz="1050" b="1" i="0">
                <a:solidFill>
                  <a:srgbClr val="2B3544"/>
                </a:solidFill>
                <a:latin typeface="Arial"/>
                <a:ea typeface="Arial"/>
                <a:cs typeface="Arial"/>
              </a:rPr>
              <a:t>12</a:t>
            </a:r>
            <a:r>
              <a:rPr sz="1050" b="0" i="0">
                <a:solidFill>
                  <a:srgbClr val="2B3544"/>
                </a:solidFill>
                <a:latin typeface="Arial"/>
                <a:ea typeface="Arial"/>
                <a:cs typeface="Arial"/>
              </a:rPr>
              <a:t> diseases</a:t>
            </a:r>
          </a:p>
          <a:p>
            <a:pPr marL="146304" indent="-146304" algn="l">
              <a:lnSpc>
                <a:spcPct val="106000"/>
              </a:lnSpc>
              <a:spcBef>
                <a:spcPts val="0"/>
              </a:spcBef>
              <a:spcAft>
                <a:spcPts val="800"/>
              </a:spcAft>
              <a:buClr>
                <a:srgbClr val="178CCB"/>
              </a:buClr>
              <a:buSzPct val="95000"/>
              <a:buFont typeface="Arial"/>
              <a:buChar char="•"/>
            </a:pPr>
            <a:r>
              <a:rPr sz="1050" b="0" i="0">
                <a:solidFill>
                  <a:srgbClr val="2B3544"/>
                </a:solidFill>
                <a:latin typeface="Arial"/>
                <a:ea typeface="Arial"/>
                <a:cs typeface="Arial"/>
              </a:rPr>
              <a:t>Expanding the metabolites into their neighbourhood is where the biology appears</a:t>
            </a:r>
          </a:p>
          <a:p>
            <a:pPr marL="146304" indent="-146304" algn="l">
              <a:lnSpc>
                <a:spcPct val="106000"/>
              </a:lnSpc>
              <a:spcBef>
                <a:spcPts val="0"/>
              </a:spcBef>
              <a:spcAft>
                <a:spcPts val="800"/>
              </a:spcAft>
              <a:buClr>
                <a:srgbClr val="178CCB"/>
              </a:buClr>
              <a:buSzPct val="95000"/>
              <a:buFont typeface="Arial"/>
              <a:buChar char="•"/>
            </a:pPr>
            <a:r>
              <a:rPr sz="1050" b="0" i="0">
                <a:solidFill>
                  <a:srgbClr val="2B3544"/>
                </a:solidFill>
                <a:latin typeface="Arial"/>
                <a:ea typeface="Arial"/>
                <a:cs typeface="Arial"/>
              </a:rPr>
              <a:t>Bile acid and GLP-1 module: glucuronate links to </a:t>
            </a:r>
            <a:r>
              <a:rPr sz="1050" b="0" i="1">
                <a:solidFill>
                  <a:srgbClr val="2B3544"/>
                </a:solidFill>
                <a:latin typeface="Arial"/>
                <a:ea typeface="Arial"/>
                <a:cs typeface="Arial"/>
              </a:rPr>
              <a:t>UGT1A1</a:t>
            </a:r>
            <a:r>
              <a:rPr sz="1050" b="0" i="0">
                <a:solidFill>
                  <a:srgbClr val="2B3544"/>
                </a:solidFill>
                <a:latin typeface="Arial"/>
                <a:ea typeface="Arial"/>
                <a:cs typeface="Arial"/>
              </a:rPr>
              <a:t>/</a:t>
            </a:r>
            <a:r>
              <a:rPr sz="1050" b="0" i="1">
                <a:solidFill>
                  <a:srgbClr val="2B3544"/>
                </a:solidFill>
                <a:latin typeface="Arial"/>
                <a:ea typeface="Arial"/>
                <a:cs typeface="Arial"/>
              </a:rPr>
              <a:t>UGT1A3</a:t>
            </a:r>
            <a:r>
              <a:rPr sz="1050" b="0" i="0">
                <a:solidFill>
                  <a:srgbClr val="2B3544"/>
                </a:solidFill>
                <a:latin typeface="Arial"/>
                <a:ea typeface="Arial"/>
                <a:cs typeface="Arial"/>
              </a:rPr>
              <a:t> and </a:t>
            </a:r>
            <a:r>
              <a:rPr sz="1050" b="0" i="1">
                <a:solidFill>
                  <a:srgbClr val="2B3544"/>
                </a:solidFill>
                <a:latin typeface="Arial"/>
                <a:ea typeface="Arial"/>
                <a:cs typeface="Arial"/>
              </a:rPr>
              <a:t>DPP4</a:t>
            </a:r>
            <a:r>
              <a:rPr sz="1050" b="0" i="0">
                <a:solidFill>
                  <a:srgbClr val="2B3544"/>
                </a:solidFill>
                <a:latin typeface="Arial"/>
                <a:ea typeface="Arial"/>
                <a:cs typeface="Arial"/>
              </a:rPr>
              <a:t>, and reaches </a:t>
            </a:r>
            <a:r>
              <a:rPr sz="1050" b="0" i="1">
                <a:solidFill>
                  <a:srgbClr val="2B3544"/>
                </a:solidFill>
                <a:latin typeface="Arial"/>
                <a:ea typeface="Arial"/>
                <a:cs typeface="Arial"/>
              </a:rPr>
              <a:t>GCG</a:t>
            </a:r>
            <a:r>
              <a:rPr sz="1050" b="0" i="0">
                <a:solidFill>
                  <a:srgbClr val="2B3544"/>
                </a:solidFill>
                <a:latin typeface="Arial"/>
                <a:ea typeface="Arial"/>
                <a:cs typeface="Arial"/>
              </a:rPr>
              <a:t>, </a:t>
            </a:r>
            <a:r>
              <a:rPr sz="1050" b="0" i="1">
                <a:solidFill>
                  <a:srgbClr val="2B3544"/>
                </a:solidFill>
                <a:latin typeface="Arial"/>
                <a:ea typeface="Arial"/>
                <a:cs typeface="Arial"/>
              </a:rPr>
              <a:t>GLP1R</a:t>
            </a:r>
            <a:r>
              <a:rPr sz="1050" b="0" i="0">
                <a:solidFill>
                  <a:srgbClr val="2B3544"/>
                </a:solidFill>
                <a:latin typeface="Arial"/>
                <a:ea typeface="Arial"/>
                <a:cs typeface="Arial"/>
              </a:rPr>
              <a:t>, </a:t>
            </a:r>
            <a:r>
              <a:rPr sz="1050" b="0" i="1">
                <a:solidFill>
                  <a:srgbClr val="2B3544"/>
                </a:solidFill>
                <a:latin typeface="Arial"/>
                <a:ea typeface="Arial"/>
                <a:cs typeface="Arial"/>
              </a:rPr>
              <a:t>NR1H4</a:t>
            </a:r>
            <a:r>
              <a:rPr sz="1050" b="0" i="0">
                <a:solidFill>
                  <a:srgbClr val="2B3544"/>
                </a:solidFill>
                <a:latin typeface="Arial"/>
                <a:ea typeface="Arial"/>
                <a:cs typeface="Arial"/>
              </a:rPr>
              <a:t> (FXR), </a:t>
            </a:r>
            <a:r>
              <a:rPr sz="1050" b="0" i="1">
                <a:solidFill>
                  <a:srgbClr val="2B3544"/>
                </a:solidFill>
                <a:latin typeface="Arial"/>
                <a:ea typeface="Arial"/>
                <a:cs typeface="Arial"/>
              </a:rPr>
              <a:t>CYP7A1</a:t>
            </a:r>
            <a:r>
              <a:rPr sz="1050" b="0" i="0">
                <a:solidFill>
                  <a:srgbClr val="2B3544"/>
                </a:solidFill>
                <a:latin typeface="Arial"/>
                <a:ea typeface="Arial"/>
                <a:cs typeface="Arial"/>
              </a:rPr>
              <a:t> and </a:t>
            </a:r>
            <a:r>
              <a:rPr sz="1050" b="0" i="1">
                <a:solidFill>
                  <a:srgbClr val="2B3544"/>
                </a:solidFill>
                <a:latin typeface="Arial"/>
                <a:ea typeface="Arial"/>
                <a:cs typeface="Arial"/>
              </a:rPr>
              <a:t>FGF19</a:t>
            </a:r>
          </a:p>
          <a:p>
            <a:pPr marL="146304" indent="-146304" algn="l">
              <a:lnSpc>
                <a:spcPct val="106000"/>
              </a:lnSpc>
              <a:spcBef>
                <a:spcPts val="0"/>
              </a:spcBef>
              <a:spcAft>
                <a:spcPts val="800"/>
              </a:spcAft>
              <a:buClr>
                <a:srgbClr val="178CCB"/>
              </a:buClr>
              <a:buSzPct val="95000"/>
              <a:buFont typeface="Arial"/>
              <a:buChar char="•"/>
            </a:pPr>
            <a:r>
              <a:rPr sz="1050" b="0" i="0">
                <a:solidFill>
                  <a:srgbClr val="2B3544"/>
                </a:solidFill>
                <a:latin typeface="Arial"/>
                <a:ea typeface="Arial"/>
                <a:cs typeface="Arial"/>
              </a:rPr>
              <a:t>Lipid and fatty acid oxidation module: malonate and BAIBA link to </a:t>
            </a:r>
            <a:r>
              <a:rPr sz="1050" b="0" i="1">
                <a:solidFill>
                  <a:srgbClr val="2B3544"/>
                </a:solidFill>
                <a:latin typeface="Arial"/>
                <a:ea typeface="Arial"/>
                <a:cs typeface="Arial"/>
              </a:rPr>
              <a:t>PPARA</a:t>
            </a:r>
            <a:r>
              <a:rPr sz="1050" b="0" i="0">
                <a:solidFill>
                  <a:srgbClr val="2B3544"/>
                </a:solidFill>
                <a:latin typeface="Arial"/>
                <a:ea typeface="Arial"/>
                <a:cs typeface="Arial"/>
              </a:rPr>
              <a:t>, </a:t>
            </a:r>
            <a:r>
              <a:rPr sz="1050" b="0" i="1">
                <a:solidFill>
                  <a:srgbClr val="2B3544"/>
                </a:solidFill>
                <a:latin typeface="Arial"/>
                <a:ea typeface="Arial"/>
                <a:cs typeface="Arial"/>
              </a:rPr>
              <a:t>PPARG</a:t>
            </a:r>
            <a:r>
              <a:rPr sz="1050" b="0" i="0">
                <a:solidFill>
                  <a:srgbClr val="2B3544"/>
                </a:solidFill>
                <a:latin typeface="Arial"/>
                <a:ea typeface="Arial"/>
                <a:cs typeface="Arial"/>
              </a:rPr>
              <a:t> and </a:t>
            </a:r>
            <a:r>
              <a:rPr sz="1050" b="0" i="1">
                <a:solidFill>
                  <a:srgbClr val="2B3544"/>
                </a:solidFill>
                <a:latin typeface="Arial"/>
                <a:ea typeface="Arial"/>
                <a:cs typeface="Arial"/>
              </a:rPr>
              <a:t>CPT1A</a:t>
            </a:r>
          </a:p>
          <a:p>
            <a:pPr marL="146304" indent="-146304" algn="l">
              <a:lnSpc>
                <a:spcPct val="106000"/>
              </a:lnSpc>
              <a:spcBef>
                <a:spcPts val="0"/>
              </a:spcBef>
              <a:spcAft>
                <a:spcPts val="800"/>
              </a:spcAft>
              <a:buClr>
                <a:srgbClr val="178CCB"/>
              </a:buClr>
              <a:buSzPct val="95000"/>
              <a:buFont typeface="Arial"/>
              <a:buChar char="•"/>
            </a:pPr>
            <a:r>
              <a:rPr sz="1050" b="0" i="0">
                <a:solidFill>
                  <a:srgbClr val="2B3544"/>
                </a:solidFill>
                <a:latin typeface="Arial"/>
                <a:ea typeface="Arial"/>
                <a:cs typeface="Arial"/>
              </a:rPr>
              <a:t>The neighbours are cardiometabolic biology, not unrelated nodes</a:t>
            </a:r>
          </a:p>
        </p:txBody>
      </p:sp>
      <p:sp>
        <p:nvSpPr>
          <p:cNvPr id="8" name="TextBox 7"/>
          <p:cNvSpPr txBox="1"/>
          <p:nvPr/>
        </p:nvSpPr>
        <p:spPr>
          <a:xfrm>
            <a:off x="457200" y="4727448"/>
            <a:ext cx="6949440" cy="274320"/>
          </a:xfrm>
          <a:prstGeom prst="rect">
            <a:avLst/>
          </a:prstGeom>
          <a:noFill/>
        </p:spPr>
        <p:txBody>
          <a:bodyPr wrap="square" lIns="0" tIns="0" rIns="0" bIns="0">
            <a:spAutoFit/>
          </a:bodyPr>
          <a:lstStyle/>
          <a:p>
            <a:pPr algn="l">
              <a:lnSpc>
                <a:spcPct val="105000"/>
              </a:lnSpc>
              <a:spcBef>
                <a:spcPts val="0"/>
              </a:spcBef>
              <a:spcAft>
                <a:spcPts val="0"/>
              </a:spcAft>
            </a:pPr>
            <a:r>
              <a:rPr sz="750" b="0" i="1">
                <a:solidFill>
                  <a:srgbClr val="9AA5B1"/>
                </a:solidFill>
                <a:latin typeface="Arial"/>
                <a:ea typeface="Arial"/>
                <a:cs typeface="Arial"/>
              </a:rPr>
              <a:t>Morris et al., Bioinformatics 2023 (SPOKE knowledge graph).</a:t>
            </a:r>
          </a:p>
        </p:txBody>
      </p:sp>
      <p:pic>
        <p:nvPicPr>
          <p:cNvPr id="9" name="Picture 8" descr="image.png"/>
          <p:cNvPicPr>
            <a:picLocks noChangeAspect="1"/>
          </p:cNvPicPr>
          <p:nvPr/>
        </p:nvPicPr>
        <p:blipFill>
          <a:blip r:embed="rId4"/>
          <a:stretch>
            <a:fillRect/>
          </a:stretch>
        </p:blipFill>
        <p:spPr>
          <a:xfrm>
            <a:off x="8247888" y="4530852"/>
            <a:ext cx="694944" cy="448970"/>
          </a:xfrm>
          <a:prstGeom prst="rect">
            <a:avLst/>
          </a:prstGeom>
        </p:spPr>
      </p:pic>
      <p:sp>
        <p:nvSpPr>
          <p:cNvPr id="10" name="TextBox 9"/>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000" b="1" i="0">
                <a:solidFill>
                  <a:srgbClr val="052049"/>
                </a:solidFill>
                <a:latin typeface="Arial"/>
                <a:ea typeface="Arial"/>
                <a:cs typeface="Arial"/>
              </a:rPr>
              <a:t>Four cardiometabolic axes, bridged by obesity</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Results · biology</a:t>
            </a:r>
          </a:p>
        </p:txBody>
      </p:sp>
      <p:pic>
        <p:nvPicPr>
          <p:cNvPr id="5" name="Picture 4" descr="trim_fig2d.2_355x311.png"/>
          <p:cNvPicPr>
            <a:picLocks noChangeAspect="1"/>
          </p:cNvPicPr>
          <p:nvPr/>
        </p:nvPicPr>
        <p:blipFill>
          <a:blip r:embed="rId3"/>
          <a:stretch>
            <a:fillRect/>
          </a:stretch>
        </p:blipFill>
        <p:spPr>
          <a:xfrm>
            <a:off x="384048" y="1198695"/>
            <a:ext cx="3246120" cy="2851265"/>
          </a:xfrm>
          <a:prstGeom prst="rect">
            <a:avLst/>
          </a:prstGeom>
          <a:effectLst/>
        </p:spPr>
      </p:pic>
      <p:sp>
        <p:nvSpPr>
          <p:cNvPr id="6" name="TextBox 5"/>
          <p:cNvSpPr txBox="1"/>
          <p:nvPr/>
        </p:nvSpPr>
        <p:spPr>
          <a:xfrm>
            <a:off x="64008" y="4123112"/>
            <a:ext cx="3886200"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Fig. 2c  ·  top bridge nodes per type, by betweenness centrality</a:t>
            </a:r>
          </a:p>
        </p:txBody>
      </p:sp>
      <p:sp>
        <p:nvSpPr>
          <p:cNvPr id="7" name="TextBox 6"/>
          <p:cNvSpPr txBox="1"/>
          <p:nvPr/>
        </p:nvSpPr>
        <p:spPr>
          <a:xfrm>
            <a:off x="3950208" y="1042415"/>
            <a:ext cx="4800600" cy="3474720"/>
          </a:xfrm>
          <a:prstGeom prst="rect">
            <a:avLst/>
          </a:prstGeom>
          <a:noFill/>
        </p:spPr>
        <p:txBody>
          <a:bodyPr wrap="square" lIns="0" tIns="0" rIns="0" bIns="0">
            <a:spAutoFit/>
          </a:bodyPr>
          <a:lstStyle/>
          <a:p>
            <a:pPr marL="146304" indent="-146304" algn="l">
              <a:lnSpc>
                <a:spcPct val="106000"/>
              </a:lnSpc>
              <a:spcBef>
                <a:spcPts val="0"/>
              </a:spcBef>
              <a:spcAft>
                <a:spcPts val="800"/>
              </a:spcAft>
              <a:buClr>
                <a:srgbClr val="178CCB"/>
              </a:buClr>
              <a:buSzPct val="95000"/>
              <a:buFont typeface="Arial"/>
              <a:buChar char="•"/>
            </a:pPr>
            <a:r>
              <a:rPr sz="1050" b="0" i="0">
                <a:solidFill>
                  <a:srgbClr val="2B3544"/>
                </a:solidFill>
                <a:latin typeface="Arial"/>
                <a:ea typeface="Arial"/>
                <a:cs typeface="Arial"/>
              </a:rPr>
              <a:t>Obesity is the top disease bridge node (betweenness </a:t>
            </a:r>
            <a:r>
              <a:rPr sz="1050" b="1" i="0">
                <a:solidFill>
                  <a:srgbClr val="2B3544"/>
                </a:solidFill>
                <a:latin typeface="Arial"/>
                <a:ea typeface="Arial"/>
                <a:cs typeface="Arial"/>
              </a:rPr>
              <a:t>0.36</a:t>
            </a:r>
            <a:r>
              <a:rPr sz="1050" b="0" i="0">
                <a:solidFill>
                  <a:srgbClr val="2B3544"/>
                </a:solidFill>
                <a:latin typeface="Arial"/>
                <a:ea typeface="Arial"/>
                <a:cs typeface="Arial"/>
              </a:rPr>
              <a:t>)</a:t>
            </a:r>
          </a:p>
          <a:p>
            <a:pPr marL="146304" indent="0" algn="l">
              <a:lnSpc>
                <a:spcPct val="106000"/>
              </a:lnSpc>
              <a:spcBef>
                <a:spcPts val="0"/>
              </a:spcBef>
              <a:spcAft>
                <a:spcPts val="800"/>
              </a:spcAft>
              <a:buNone/>
            </a:pPr>
            <a:r>
              <a:rPr sz="1000" b="0" i="0">
                <a:solidFill>
                  <a:srgbClr val="6B7684"/>
                </a:solidFill>
                <a:latin typeface="Arial"/>
                <a:ea typeface="Arial"/>
                <a:cs typeface="Arial"/>
              </a:rPr>
              <a:t>Type 2 diabetes </a:t>
            </a:r>
            <a:r>
              <a:rPr sz="1000" b="1" i="0">
                <a:solidFill>
                  <a:srgbClr val="6B7684"/>
                </a:solidFill>
                <a:latin typeface="Arial"/>
                <a:ea typeface="Arial"/>
                <a:cs typeface="Arial"/>
              </a:rPr>
              <a:t>0.085</a:t>
            </a:r>
            <a:r>
              <a:rPr sz="1000" b="0" i="0">
                <a:solidFill>
                  <a:srgbClr val="6B7684"/>
                </a:solidFill>
                <a:latin typeface="Arial"/>
                <a:ea typeface="Arial"/>
                <a:cs typeface="Arial"/>
              </a:rPr>
              <a:t>, steatotic liver disease </a:t>
            </a:r>
            <a:r>
              <a:rPr sz="1000" b="1" i="0">
                <a:solidFill>
                  <a:srgbClr val="6B7684"/>
                </a:solidFill>
                <a:latin typeface="Arial"/>
                <a:ea typeface="Arial"/>
                <a:cs typeface="Arial"/>
              </a:rPr>
              <a:t>0.039</a:t>
            </a:r>
          </a:p>
          <a:p>
            <a:pPr marL="146304" indent="-146304" algn="l">
              <a:lnSpc>
                <a:spcPct val="106000"/>
              </a:lnSpc>
              <a:spcBef>
                <a:spcPts val="0"/>
              </a:spcBef>
              <a:spcAft>
                <a:spcPts val="800"/>
              </a:spcAft>
              <a:buClr>
                <a:srgbClr val="16A0AC"/>
              </a:buClr>
              <a:buSzPct val="95000"/>
              <a:buFont typeface="Arial"/>
              <a:buChar char="•"/>
            </a:pPr>
            <a:r>
              <a:rPr sz="1050" b="0" i="0">
                <a:solidFill>
                  <a:srgbClr val="2B3544"/>
                </a:solidFill>
                <a:latin typeface="Arial"/>
                <a:ea typeface="Arial"/>
                <a:cs typeface="Arial"/>
              </a:rPr>
              <a:t>Bile acid and GLP-1: glucuronate to </a:t>
            </a:r>
            <a:r>
              <a:rPr sz="1050" b="0" i="1">
                <a:solidFill>
                  <a:srgbClr val="2B3544"/>
                </a:solidFill>
                <a:latin typeface="Arial"/>
                <a:ea typeface="Arial"/>
                <a:cs typeface="Arial"/>
              </a:rPr>
              <a:t>UGT1A1/A3</a:t>
            </a:r>
            <a:r>
              <a:rPr sz="1050" b="0" i="0">
                <a:solidFill>
                  <a:srgbClr val="2B3544"/>
                </a:solidFill>
                <a:latin typeface="Arial"/>
                <a:ea typeface="Arial"/>
                <a:cs typeface="Arial"/>
              </a:rPr>
              <a:t>, </a:t>
            </a:r>
            <a:r>
              <a:rPr sz="1050" b="0" i="1">
                <a:solidFill>
                  <a:srgbClr val="2B3544"/>
                </a:solidFill>
                <a:latin typeface="Arial"/>
                <a:ea typeface="Arial"/>
                <a:cs typeface="Arial"/>
              </a:rPr>
              <a:t>DPP4</a:t>
            </a:r>
            <a:r>
              <a:rPr sz="1050" b="0" i="0">
                <a:solidFill>
                  <a:srgbClr val="2B3544"/>
                </a:solidFill>
                <a:latin typeface="Arial"/>
                <a:ea typeface="Arial"/>
                <a:cs typeface="Arial"/>
              </a:rPr>
              <a:t>, </a:t>
            </a:r>
            <a:r>
              <a:rPr sz="1050" b="0" i="1">
                <a:solidFill>
                  <a:srgbClr val="2B3544"/>
                </a:solidFill>
                <a:latin typeface="Arial"/>
                <a:ea typeface="Arial"/>
                <a:cs typeface="Arial"/>
              </a:rPr>
              <a:t>GCG</a:t>
            </a:r>
            <a:r>
              <a:rPr sz="1050" b="0" i="0">
                <a:solidFill>
                  <a:srgbClr val="2B3544"/>
                </a:solidFill>
                <a:latin typeface="Arial"/>
                <a:ea typeface="Arial"/>
                <a:cs typeface="Arial"/>
              </a:rPr>
              <a:t>, </a:t>
            </a:r>
            <a:r>
              <a:rPr sz="1050" b="0" i="1">
                <a:solidFill>
                  <a:srgbClr val="2B3544"/>
                </a:solidFill>
                <a:latin typeface="Arial"/>
                <a:ea typeface="Arial"/>
                <a:cs typeface="Arial"/>
              </a:rPr>
              <a:t>NR1H4</a:t>
            </a:r>
            <a:r>
              <a:rPr sz="1050" b="0" i="0">
                <a:solidFill>
                  <a:srgbClr val="2B3544"/>
                </a:solidFill>
                <a:latin typeface="Arial"/>
                <a:ea typeface="Arial"/>
                <a:cs typeface="Arial"/>
              </a:rPr>
              <a:t> (FXR), </a:t>
            </a:r>
            <a:r>
              <a:rPr sz="1050" b="0" i="1">
                <a:solidFill>
                  <a:srgbClr val="2B3544"/>
                </a:solidFill>
                <a:latin typeface="Arial"/>
                <a:ea typeface="Arial"/>
                <a:cs typeface="Arial"/>
              </a:rPr>
              <a:t>CYP7A1</a:t>
            </a:r>
            <a:r>
              <a:rPr sz="1050" b="0" i="0">
                <a:solidFill>
                  <a:srgbClr val="2B3544"/>
                </a:solidFill>
                <a:latin typeface="Arial"/>
                <a:ea typeface="Arial"/>
                <a:cs typeface="Arial"/>
              </a:rPr>
              <a:t>, </a:t>
            </a:r>
            <a:r>
              <a:rPr sz="1050" b="0" i="1">
                <a:solidFill>
                  <a:srgbClr val="2B3544"/>
                </a:solidFill>
                <a:latin typeface="Arial"/>
                <a:ea typeface="Arial"/>
                <a:cs typeface="Arial"/>
              </a:rPr>
              <a:t>FGF19</a:t>
            </a:r>
            <a:r>
              <a:rPr sz="1050" b="0" i="0">
                <a:solidFill>
                  <a:srgbClr val="2B3544"/>
                </a:solidFill>
                <a:latin typeface="Arial"/>
                <a:ea typeface="Arial"/>
                <a:cs typeface="Arial"/>
              </a:rPr>
              <a:t>, </a:t>
            </a:r>
            <a:r>
              <a:rPr sz="1050" b="0" i="1">
                <a:solidFill>
                  <a:srgbClr val="2B3544"/>
                </a:solidFill>
                <a:latin typeface="Arial"/>
                <a:ea typeface="Arial"/>
                <a:cs typeface="Arial"/>
              </a:rPr>
              <a:t>GLP1R</a:t>
            </a:r>
          </a:p>
          <a:p>
            <a:pPr marL="146304" indent="-146304" algn="l">
              <a:lnSpc>
                <a:spcPct val="106000"/>
              </a:lnSpc>
              <a:spcBef>
                <a:spcPts val="0"/>
              </a:spcBef>
              <a:spcAft>
                <a:spcPts val="800"/>
              </a:spcAft>
              <a:buClr>
                <a:srgbClr val="16A0AC"/>
              </a:buClr>
              <a:buSzPct val="95000"/>
              <a:buFont typeface="Arial"/>
              <a:buChar char="•"/>
            </a:pPr>
            <a:r>
              <a:rPr sz="1050" b="0" i="0">
                <a:solidFill>
                  <a:srgbClr val="2B3544"/>
                </a:solidFill>
                <a:latin typeface="Arial"/>
                <a:ea typeface="Arial"/>
                <a:cs typeface="Arial"/>
              </a:rPr>
              <a:t>Tryptophan: kynurenine to </a:t>
            </a:r>
            <a:r>
              <a:rPr sz="1050" b="0" i="1">
                <a:solidFill>
                  <a:srgbClr val="2B3544"/>
                </a:solidFill>
                <a:latin typeface="Arial"/>
                <a:ea typeface="Arial"/>
                <a:cs typeface="Arial"/>
              </a:rPr>
              <a:t>TDO2</a:t>
            </a:r>
            <a:r>
              <a:rPr sz="1050" b="0" i="0">
                <a:solidFill>
                  <a:srgbClr val="2B3544"/>
                </a:solidFill>
                <a:latin typeface="Arial"/>
                <a:ea typeface="Arial"/>
                <a:cs typeface="Arial"/>
              </a:rPr>
              <a:t>, </a:t>
            </a:r>
            <a:r>
              <a:rPr sz="1050" b="0" i="1">
                <a:solidFill>
                  <a:srgbClr val="2B3544"/>
                </a:solidFill>
                <a:latin typeface="Arial"/>
                <a:ea typeface="Arial"/>
                <a:cs typeface="Arial"/>
              </a:rPr>
              <a:t>KYNU</a:t>
            </a:r>
            <a:r>
              <a:rPr sz="1050" b="0" i="0">
                <a:solidFill>
                  <a:srgbClr val="2B3544"/>
                </a:solidFill>
                <a:latin typeface="Arial"/>
                <a:ea typeface="Arial"/>
                <a:cs typeface="Arial"/>
              </a:rPr>
              <a:t>, </a:t>
            </a:r>
            <a:r>
              <a:rPr sz="1050" b="0" i="1">
                <a:solidFill>
                  <a:srgbClr val="2B3544"/>
                </a:solidFill>
                <a:latin typeface="Arial"/>
                <a:ea typeface="Arial"/>
                <a:cs typeface="Arial"/>
              </a:rPr>
              <a:t>KYAT3</a:t>
            </a:r>
            <a:r>
              <a:rPr sz="1050" b="0" i="0">
                <a:solidFill>
                  <a:srgbClr val="2B3544"/>
                </a:solidFill>
                <a:latin typeface="Arial"/>
                <a:ea typeface="Arial"/>
                <a:cs typeface="Arial"/>
              </a:rPr>
              <a:t>, </a:t>
            </a:r>
            <a:r>
              <a:rPr sz="1050" b="0" i="1">
                <a:solidFill>
                  <a:srgbClr val="2B3544"/>
                </a:solidFill>
                <a:latin typeface="Arial"/>
                <a:ea typeface="Arial"/>
                <a:cs typeface="Arial"/>
              </a:rPr>
              <a:t>GOT2</a:t>
            </a:r>
          </a:p>
          <a:p>
            <a:pPr marL="146304" indent="-146304" algn="l">
              <a:lnSpc>
                <a:spcPct val="106000"/>
              </a:lnSpc>
              <a:spcBef>
                <a:spcPts val="0"/>
              </a:spcBef>
              <a:spcAft>
                <a:spcPts val="800"/>
              </a:spcAft>
              <a:buClr>
                <a:srgbClr val="16A0AC"/>
              </a:buClr>
              <a:buSzPct val="95000"/>
              <a:buFont typeface="Arial"/>
              <a:buChar char="•"/>
            </a:pPr>
            <a:r>
              <a:rPr sz="1050" b="0" i="0">
                <a:solidFill>
                  <a:srgbClr val="2B3544"/>
                </a:solidFill>
                <a:latin typeface="Arial"/>
                <a:ea typeface="Arial"/>
                <a:cs typeface="Arial"/>
              </a:rPr>
              <a:t>Fatty acid oxidation: malonate and BAIBA to </a:t>
            </a:r>
            <a:r>
              <a:rPr sz="1050" b="0" i="1">
                <a:solidFill>
                  <a:srgbClr val="2B3544"/>
                </a:solidFill>
                <a:latin typeface="Arial"/>
                <a:ea typeface="Arial"/>
                <a:cs typeface="Arial"/>
              </a:rPr>
              <a:t>PPARA</a:t>
            </a:r>
            <a:r>
              <a:rPr sz="1050" b="0" i="0">
                <a:solidFill>
                  <a:srgbClr val="2B3544"/>
                </a:solidFill>
                <a:latin typeface="Arial"/>
                <a:ea typeface="Arial"/>
                <a:cs typeface="Arial"/>
              </a:rPr>
              <a:t>, </a:t>
            </a:r>
            <a:r>
              <a:rPr sz="1050" b="0" i="1">
                <a:solidFill>
                  <a:srgbClr val="2B3544"/>
                </a:solidFill>
                <a:latin typeface="Arial"/>
                <a:ea typeface="Arial"/>
                <a:cs typeface="Arial"/>
              </a:rPr>
              <a:t>PPARG</a:t>
            </a:r>
            <a:r>
              <a:rPr sz="1050" b="0" i="0">
                <a:solidFill>
                  <a:srgbClr val="2B3544"/>
                </a:solidFill>
                <a:latin typeface="Arial"/>
                <a:ea typeface="Arial"/>
                <a:cs typeface="Arial"/>
              </a:rPr>
              <a:t>, </a:t>
            </a:r>
            <a:r>
              <a:rPr sz="1050" b="0" i="1">
                <a:solidFill>
                  <a:srgbClr val="2B3544"/>
                </a:solidFill>
                <a:latin typeface="Arial"/>
                <a:ea typeface="Arial"/>
                <a:cs typeface="Arial"/>
              </a:rPr>
              <a:t>CPT1A</a:t>
            </a:r>
          </a:p>
          <a:p>
            <a:pPr marL="146304" indent="-146304" algn="l">
              <a:lnSpc>
                <a:spcPct val="106000"/>
              </a:lnSpc>
              <a:spcBef>
                <a:spcPts val="0"/>
              </a:spcBef>
              <a:spcAft>
                <a:spcPts val="800"/>
              </a:spcAft>
              <a:buClr>
                <a:srgbClr val="16A0AC"/>
              </a:buClr>
              <a:buSzPct val="95000"/>
              <a:buFont typeface="Arial"/>
              <a:buChar char="•"/>
            </a:pPr>
            <a:r>
              <a:rPr sz="1050" b="0" i="0">
                <a:solidFill>
                  <a:srgbClr val="2B3544"/>
                </a:solidFill>
                <a:latin typeface="Arial"/>
                <a:ea typeface="Arial"/>
                <a:cs typeface="Arial"/>
              </a:rPr>
              <a:t>Nitric oxide: homoarginine to </a:t>
            </a:r>
            <a:r>
              <a:rPr sz="1050" b="0" i="1">
                <a:solidFill>
                  <a:srgbClr val="2B3544"/>
                </a:solidFill>
                <a:latin typeface="Arial"/>
                <a:ea typeface="Arial"/>
                <a:cs typeface="Arial"/>
              </a:rPr>
              <a:t>NOS3</a:t>
            </a:r>
          </a:p>
          <a:p>
            <a:pPr marL="146304" indent="-146304" algn="l">
              <a:lnSpc>
                <a:spcPct val="106000"/>
              </a:lnSpc>
              <a:spcBef>
                <a:spcPts val="0"/>
              </a:spcBef>
              <a:spcAft>
                <a:spcPts val="800"/>
              </a:spcAft>
              <a:buClr>
                <a:srgbClr val="178CCB"/>
              </a:buClr>
              <a:buSzPct val="95000"/>
              <a:buFont typeface="Arial"/>
              <a:buChar char="•"/>
            </a:pPr>
            <a:r>
              <a:rPr sz="1050" b="0" i="1">
                <a:solidFill>
                  <a:srgbClr val="2B3544"/>
                </a:solidFill>
                <a:latin typeface="Arial"/>
                <a:ea typeface="Arial"/>
                <a:cs typeface="Arial"/>
              </a:rPr>
              <a:t>GCG</a:t>
            </a:r>
            <a:r>
              <a:rPr sz="1050" b="0" i="0">
                <a:solidFill>
                  <a:srgbClr val="2B3544"/>
                </a:solidFill>
                <a:latin typeface="Arial"/>
                <a:ea typeface="Arial"/>
                <a:cs typeface="Arial"/>
              </a:rPr>
              <a:t> is the top gene bridge (</a:t>
            </a:r>
            <a:r>
              <a:rPr sz="1050" b="1" i="0">
                <a:solidFill>
                  <a:srgbClr val="2B3544"/>
                </a:solidFill>
                <a:latin typeface="Arial"/>
                <a:ea typeface="Arial"/>
                <a:cs typeface="Arial"/>
              </a:rPr>
              <a:t>0.165</a:t>
            </a:r>
            <a:r>
              <a:rPr sz="1050" b="0" i="0">
                <a:solidFill>
                  <a:srgbClr val="2B3544"/>
                </a:solidFill>
                <a:latin typeface="Arial"/>
                <a:ea typeface="Arial"/>
                <a:cs typeface="Arial"/>
              </a:rPr>
              <a:t>), malonic acid the top compound (</a:t>
            </a:r>
            <a:r>
              <a:rPr sz="1050" b="1" i="0">
                <a:solidFill>
                  <a:srgbClr val="2B3544"/>
                </a:solidFill>
                <a:latin typeface="Arial"/>
                <a:ea typeface="Arial"/>
                <a:cs typeface="Arial"/>
              </a:rPr>
              <a:t>0.27</a:t>
            </a:r>
            <a:r>
              <a:rPr sz="1050" b="0" i="0">
                <a:solidFill>
                  <a:srgbClr val="2B3544"/>
                </a:solidFill>
                <a:latin typeface="Arial"/>
                <a:ea typeface="Arial"/>
                <a:cs typeface="Arial"/>
              </a:rPr>
              <a:t>)</a:t>
            </a:r>
          </a:p>
          <a:p>
            <a:pPr marL="146304" indent="-146304" algn="l">
              <a:lnSpc>
                <a:spcPct val="106000"/>
              </a:lnSpc>
              <a:spcBef>
                <a:spcPts val="0"/>
              </a:spcBef>
              <a:spcAft>
                <a:spcPts val="800"/>
              </a:spcAft>
              <a:buClr>
                <a:srgbClr val="178CCB"/>
              </a:buClr>
              <a:buSzPct val="95000"/>
              <a:buFont typeface="Arial"/>
              <a:buChar char="•"/>
            </a:pPr>
            <a:r>
              <a:rPr sz="1050" b="1" i="0">
                <a:solidFill>
                  <a:srgbClr val="052049"/>
                </a:solidFill>
                <a:latin typeface="Arial"/>
                <a:ea typeface="Arial"/>
                <a:cs typeface="Arial"/>
              </a:rPr>
              <a:t>All four axes already have drugs that target them</a:t>
            </a:r>
          </a:p>
        </p:txBody>
      </p:sp>
      <p:sp>
        <p:nvSpPr>
          <p:cNvPr id="8" name="TextBox 7"/>
          <p:cNvSpPr txBox="1"/>
          <p:nvPr/>
        </p:nvSpPr>
        <p:spPr>
          <a:xfrm>
            <a:off x="457200" y="4727448"/>
            <a:ext cx="6949440" cy="274320"/>
          </a:xfrm>
          <a:prstGeom prst="rect">
            <a:avLst/>
          </a:prstGeom>
          <a:noFill/>
        </p:spPr>
        <p:txBody>
          <a:bodyPr wrap="square" lIns="0" tIns="0" rIns="0" bIns="0">
            <a:spAutoFit/>
          </a:bodyPr>
          <a:lstStyle/>
          <a:p>
            <a:pPr algn="l">
              <a:lnSpc>
                <a:spcPct val="105000"/>
              </a:lnSpc>
              <a:spcBef>
                <a:spcPts val="0"/>
              </a:spcBef>
              <a:spcAft>
                <a:spcPts val="0"/>
              </a:spcAft>
            </a:pPr>
            <a:r>
              <a:rPr sz="750" b="0" i="1">
                <a:solidFill>
                  <a:srgbClr val="9AA5B1"/>
                </a:solidFill>
                <a:latin typeface="Arial"/>
                <a:ea typeface="Arial"/>
                <a:cs typeface="Arial"/>
              </a:rPr>
              <a:t>Morris et al., Bioinformatics 2023 (SPOKE); Penney et al., Int J Obes 2015; Roberts et al., Cell Metab 2014 (BAIBA).</a:t>
            </a:r>
          </a:p>
        </p:txBody>
      </p:sp>
      <p:pic>
        <p:nvPicPr>
          <p:cNvPr id="9" name="Picture 8" descr="image.png"/>
          <p:cNvPicPr>
            <a:picLocks noChangeAspect="1"/>
          </p:cNvPicPr>
          <p:nvPr/>
        </p:nvPicPr>
        <p:blipFill>
          <a:blip r:embed="rId4"/>
          <a:stretch>
            <a:fillRect/>
          </a:stretch>
        </p:blipFill>
        <p:spPr>
          <a:xfrm>
            <a:off x="8247888" y="4530852"/>
            <a:ext cx="694944" cy="448970"/>
          </a:xfrm>
          <a:prstGeom prst="rect">
            <a:avLst/>
          </a:prstGeom>
        </p:spPr>
      </p:pic>
      <p:sp>
        <p:nvSpPr>
          <p:cNvPr id="10" name="TextBox 9"/>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000" b="1" i="0">
                <a:solidFill>
                  <a:srgbClr val="052049"/>
                </a:solidFill>
                <a:latin typeface="Arial"/>
                <a:ea typeface="Arial"/>
                <a:cs typeface="Arial"/>
              </a:rPr>
              <a:t>MetRS outperforms clinical variables alone</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Results · performance</a:t>
            </a:r>
          </a:p>
        </p:txBody>
      </p:sp>
      <p:pic>
        <p:nvPicPr>
          <p:cNvPr id="5" name="Picture 4" descr="trim_fig3a_313x245.png"/>
          <p:cNvPicPr>
            <a:picLocks noChangeAspect="1"/>
          </p:cNvPicPr>
          <p:nvPr/>
        </p:nvPicPr>
        <p:blipFill>
          <a:blip r:embed="rId3"/>
          <a:stretch>
            <a:fillRect/>
          </a:stretch>
        </p:blipFill>
        <p:spPr>
          <a:xfrm>
            <a:off x="1446414" y="1060704"/>
            <a:ext cx="2867890" cy="2240280"/>
          </a:xfrm>
          <a:prstGeom prst="rect">
            <a:avLst/>
          </a:prstGeom>
          <a:effectLst/>
        </p:spPr>
      </p:pic>
      <p:pic>
        <p:nvPicPr>
          <p:cNvPr id="6" name="Picture 5" descr="trim_fig3b_309x245.png"/>
          <p:cNvPicPr>
            <a:picLocks noChangeAspect="1"/>
          </p:cNvPicPr>
          <p:nvPr/>
        </p:nvPicPr>
        <p:blipFill>
          <a:blip r:embed="rId4"/>
          <a:stretch>
            <a:fillRect/>
          </a:stretch>
        </p:blipFill>
        <p:spPr>
          <a:xfrm>
            <a:off x="4892040" y="1060704"/>
            <a:ext cx="2834640" cy="2240280"/>
          </a:xfrm>
          <a:prstGeom prst="rect">
            <a:avLst/>
          </a:prstGeom>
          <a:effectLst/>
        </p:spPr>
      </p:pic>
      <p:sp>
        <p:nvSpPr>
          <p:cNvPr id="7" name="TextBox 6"/>
          <p:cNvSpPr txBox="1"/>
          <p:nvPr/>
        </p:nvSpPr>
        <p:spPr>
          <a:xfrm>
            <a:off x="1126374" y="3364992"/>
            <a:ext cx="3507970"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Fig. 3a  ·  MetRS by outcome group, LABS-2</a:t>
            </a:r>
          </a:p>
        </p:txBody>
      </p:sp>
      <p:sp>
        <p:nvSpPr>
          <p:cNvPr id="8" name="TextBox 7"/>
          <p:cNvSpPr txBox="1"/>
          <p:nvPr/>
        </p:nvSpPr>
        <p:spPr>
          <a:xfrm>
            <a:off x="4572000" y="3364992"/>
            <a:ext cx="3474720"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Fig. 3c  ·  ROC with and without the MetRS</a:t>
            </a:r>
          </a:p>
        </p:txBody>
      </p:sp>
      <p:sp>
        <p:nvSpPr>
          <p:cNvPr id="9" name="TextBox 8"/>
          <p:cNvSpPr txBox="1"/>
          <p:nvPr/>
        </p:nvSpPr>
        <p:spPr>
          <a:xfrm>
            <a:off x="457200" y="3602736"/>
            <a:ext cx="8275320" cy="1051560"/>
          </a:xfrm>
          <a:prstGeom prst="rect">
            <a:avLst/>
          </a:prstGeom>
          <a:noFill/>
        </p:spPr>
        <p:txBody>
          <a:bodyPr wrap="square" lIns="0" tIns="0" rIns="0" bIns="0">
            <a:spAutoFit/>
          </a:bodyPr>
          <a:lstStyle/>
          <a:p>
            <a:pPr marL="146304" indent="-146304" algn="l">
              <a:lnSpc>
                <a:spcPct val="106000"/>
              </a:lnSpc>
              <a:spcBef>
                <a:spcPts val="0"/>
              </a:spcBef>
              <a:spcAft>
                <a:spcPts val="500"/>
              </a:spcAft>
              <a:buClr>
                <a:srgbClr val="178CCB"/>
              </a:buClr>
              <a:buSzPct val="95000"/>
              <a:buFont typeface="Arial"/>
              <a:buChar char="•"/>
            </a:pPr>
            <a:r>
              <a:rPr sz="1050" b="0" i="0">
                <a:solidFill>
                  <a:srgbClr val="2B3544"/>
                </a:solidFill>
                <a:latin typeface="Arial"/>
                <a:ea typeface="Arial"/>
                <a:cs typeface="Arial"/>
              </a:rPr>
              <a:t>MetRS is higher in RGN than in SWL participants (</a:t>
            </a:r>
            <a:r>
              <a:rPr sz="1050" b="1" i="0">
                <a:solidFill>
                  <a:srgbClr val="2B3544"/>
                </a:solidFill>
                <a:latin typeface="Arial"/>
                <a:ea typeface="Arial"/>
                <a:cs typeface="Arial"/>
              </a:rPr>
              <a:t>p = 1.2 × 10⁻¹⁰</a:t>
            </a:r>
            <a:r>
              <a:rPr sz="1050" b="0" i="0">
                <a:solidFill>
                  <a:srgbClr val="2B3544"/>
                </a:solidFill>
                <a:latin typeface="Arial"/>
                <a:ea typeface="Arial"/>
                <a:cs typeface="Arial"/>
              </a:rPr>
              <a:t>)</a:t>
            </a:r>
          </a:p>
          <a:p>
            <a:pPr marL="146304" indent="-146304" algn="l">
              <a:lnSpc>
                <a:spcPct val="106000"/>
              </a:lnSpc>
              <a:spcBef>
                <a:spcPts val="0"/>
              </a:spcBef>
              <a:spcAft>
                <a:spcPts val="500"/>
              </a:spcAft>
              <a:buClr>
                <a:srgbClr val="178CCB"/>
              </a:buClr>
              <a:buSzPct val="95000"/>
              <a:buFont typeface="Arial"/>
              <a:buChar char="•"/>
            </a:pPr>
            <a:r>
              <a:rPr sz="1050" b="0" i="0">
                <a:solidFill>
                  <a:srgbClr val="2B3544"/>
                </a:solidFill>
                <a:latin typeface="Arial"/>
                <a:ea typeface="Arial"/>
                <a:cs typeface="Arial"/>
              </a:rPr>
              <a:t>Higher baseline EBW raises the odds slightly: </a:t>
            </a:r>
            <a:r>
              <a:rPr sz="1050" b="1" i="0">
                <a:solidFill>
                  <a:srgbClr val="2B3544"/>
                </a:solidFill>
                <a:latin typeface="Arial"/>
                <a:ea typeface="Arial"/>
                <a:cs typeface="Arial"/>
              </a:rPr>
              <a:t>OR 1.03 (1.01 to 1.05)</a:t>
            </a:r>
            <a:r>
              <a:rPr sz="1050" b="0" i="0">
                <a:solidFill>
                  <a:srgbClr val="2B3544"/>
                </a:solidFill>
                <a:latin typeface="Arial"/>
                <a:ea typeface="Arial"/>
                <a:cs typeface="Arial"/>
              </a:rPr>
              <a:t>, p = 0.01</a:t>
            </a:r>
          </a:p>
          <a:p>
            <a:pPr marL="146304" indent="-146304" algn="l">
              <a:lnSpc>
                <a:spcPct val="106000"/>
              </a:lnSpc>
              <a:spcBef>
                <a:spcPts val="0"/>
              </a:spcBef>
              <a:spcAft>
                <a:spcPts val="500"/>
              </a:spcAft>
              <a:buClr>
                <a:srgbClr val="178CCB"/>
              </a:buClr>
              <a:buSzPct val="95000"/>
              <a:buFont typeface="Arial"/>
              <a:buChar char="•"/>
            </a:pPr>
            <a:r>
              <a:rPr sz="1050" b="0" i="0">
                <a:solidFill>
                  <a:srgbClr val="2B3544"/>
                </a:solidFill>
                <a:latin typeface="Arial"/>
                <a:ea typeface="Arial"/>
                <a:cs typeface="Arial"/>
              </a:rPr>
              <a:t>Older age lowers them: </a:t>
            </a:r>
            <a:r>
              <a:rPr sz="1050" b="1" i="0">
                <a:solidFill>
                  <a:srgbClr val="2B3544"/>
                </a:solidFill>
                <a:latin typeface="Arial"/>
                <a:ea typeface="Arial"/>
                <a:cs typeface="Arial"/>
              </a:rPr>
              <a:t>OR 0.95 (0.91 to 0.99)</a:t>
            </a:r>
            <a:r>
              <a:rPr sz="1050" b="0" i="0">
                <a:solidFill>
                  <a:srgbClr val="2B3544"/>
                </a:solidFill>
                <a:latin typeface="Arial"/>
                <a:ea typeface="Arial"/>
                <a:cs typeface="Arial"/>
              </a:rPr>
              <a:t> per year, p = 0.02</a:t>
            </a:r>
          </a:p>
          <a:p>
            <a:pPr marL="146304" indent="-146304" algn="l">
              <a:lnSpc>
                <a:spcPct val="106000"/>
              </a:lnSpc>
              <a:spcBef>
                <a:spcPts val="0"/>
              </a:spcBef>
              <a:spcAft>
                <a:spcPts val="500"/>
              </a:spcAft>
              <a:buClr>
                <a:srgbClr val="178CCB"/>
              </a:buClr>
              <a:buSzPct val="95000"/>
              <a:buFont typeface="Arial"/>
              <a:buChar char="•"/>
            </a:pPr>
            <a:r>
              <a:rPr sz="1050" b="0" i="0">
                <a:solidFill>
                  <a:srgbClr val="2B3544"/>
                </a:solidFill>
                <a:latin typeface="Arial"/>
                <a:ea typeface="Arial"/>
                <a:cs typeface="Arial"/>
              </a:rPr>
              <a:t>Adding MetRS lifts the AUC from </a:t>
            </a:r>
            <a:r>
              <a:rPr sz="1050" b="1" i="0">
                <a:solidFill>
                  <a:srgbClr val="2B3544"/>
                </a:solidFill>
                <a:latin typeface="Arial"/>
                <a:ea typeface="Arial"/>
                <a:cs typeface="Arial"/>
              </a:rPr>
              <a:t>0.600 to 0.744</a:t>
            </a:r>
            <a:r>
              <a:rPr sz="1050" b="0" i="0">
                <a:solidFill>
                  <a:srgbClr val="2B3544"/>
                </a:solidFill>
                <a:latin typeface="Arial"/>
                <a:ea typeface="Arial"/>
                <a:cs typeface="Arial"/>
              </a:rPr>
              <a:t> (p &lt; 0.001)</a:t>
            </a:r>
          </a:p>
        </p:txBody>
      </p:sp>
      <p:pic>
        <p:nvPicPr>
          <p:cNvPr id="10" name="Picture 9" descr="image.png"/>
          <p:cNvPicPr>
            <a:picLocks noChangeAspect="1"/>
          </p:cNvPicPr>
          <p:nvPr/>
        </p:nvPicPr>
        <p:blipFill>
          <a:blip r:embed="rId5"/>
          <a:stretch>
            <a:fillRect/>
          </a:stretch>
        </p:blipFill>
        <p:spPr>
          <a:xfrm>
            <a:off x="8247888" y="4530852"/>
            <a:ext cx="694944" cy="448970"/>
          </a:xfrm>
          <a:prstGeom prst="rect">
            <a:avLst/>
          </a:prstGeom>
        </p:spPr>
      </p:pic>
      <p:sp>
        <p:nvSpPr>
          <p:cNvPr id="11" name="TextBox 10"/>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000" b="1" i="0">
                <a:solidFill>
                  <a:srgbClr val="052049"/>
                </a:solidFill>
                <a:latin typeface="Arial"/>
                <a:ea typeface="Arial"/>
                <a:cs typeface="Arial"/>
              </a:rPr>
              <a:t>The effect holds across model specifications</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Results · performance</a:t>
            </a:r>
          </a:p>
        </p:txBody>
      </p:sp>
      <p:pic>
        <p:nvPicPr>
          <p:cNvPr id="5" name="Picture 4" descr="trim_fig3d_910x178.png"/>
          <p:cNvPicPr>
            <a:picLocks noChangeAspect="1"/>
          </p:cNvPicPr>
          <p:nvPr/>
        </p:nvPicPr>
        <p:blipFill>
          <a:blip r:embed="rId3"/>
          <a:stretch>
            <a:fillRect/>
          </a:stretch>
        </p:blipFill>
        <p:spPr>
          <a:xfrm>
            <a:off x="411480" y="1092292"/>
            <a:ext cx="8321040" cy="1637607"/>
          </a:xfrm>
          <a:prstGeom prst="rect">
            <a:avLst/>
          </a:prstGeom>
          <a:effectLst/>
        </p:spPr>
      </p:pic>
      <p:sp>
        <p:nvSpPr>
          <p:cNvPr id="6" name="TextBox 5"/>
          <p:cNvSpPr txBox="1"/>
          <p:nvPr/>
        </p:nvSpPr>
        <p:spPr>
          <a:xfrm>
            <a:off x="411480" y="2775619"/>
            <a:ext cx="8321040" cy="201168"/>
          </a:xfrm>
          <a:prstGeom prst="rect">
            <a:avLst/>
          </a:prstGeom>
          <a:noFill/>
        </p:spPr>
        <p:txBody>
          <a:bodyPr wrap="square" lIns="0" tIns="0" rIns="0" bIns="0">
            <a:spAutoFit/>
          </a:bodyPr>
          <a:lstStyle/>
          <a:p>
            <a:pPr algn="r">
              <a:spcBef>
                <a:spcPts val="0"/>
              </a:spcBef>
              <a:spcAft>
                <a:spcPts val="0"/>
              </a:spcAft>
            </a:pPr>
            <a:r>
              <a:rPr sz="800" b="0" i="0">
                <a:solidFill>
                  <a:srgbClr val="6B7684"/>
                </a:solidFill>
                <a:latin typeface="Arial"/>
                <a:ea typeface="Arial"/>
                <a:cs typeface="Arial"/>
              </a:rPr>
              <a:t>Fig. 3d  ·  odds ratios and 95% CI across four nested logistic models</a:t>
            </a:r>
          </a:p>
        </p:txBody>
      </p:sp>
      <p:pic>
        <p:nvPicPr>
          <p:cNvPr id="7" name="Picture 6" descr="trim_fig3c_186x146.png"/>
          <p:cNvPicPr>
            <a:picLocks noChangeAspect="1"/>
          </p:cNvPicPr>
          <p:nvPr/>
        </p:nvPicPr>
        <p:blipFill>
          <a:blip r:embed="rId4"/>
          <a:stretch>
            <a:fillRect/>
          </a:stretch>
        </p:blipFill>
        <p:spPr>
          <a:xfrm>
            <a:off x="494075" y="3182112"/>
            <a:ext cx="1709329" cy="1335024"/>
          </a:xfrm>
          <a:prstGeom prst="rect">
            <a:avLst/>
          </a:prstGeom>
          <a:effectLst/>
        </p:spPr>
      </p:pic>
      <p:sp>
        <p:nvSpPr>
          <p:cNvPr id="8" name="TextBox 7"/>
          <p:cNvSpPr txBox="1"/>
          <p:nvPr/>
        </p:nvSpPr>
        <p:spPr>
          <a:xfrm>
            <a:off x="219755" y="4562855"/>
            <a:ext cx="2257969"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Fig. 3b  ·  cross-validation error</a:t>
            </a:r>
          </a:p>
        </p:txBody>
      </p:sp>
      <p:sp>
        <p:nvSpPr>
          <p:cNvPr id="9" name="TextBox 8"/>
          <p:cNvSpPr txBox="1"/>
          <p:nvPr/>
        </p:nvSpPr>
        <p:spPr>
          <a:xfrm>
            <a:off x="2514600" y="3127248"/>
            <a:ext cx="6217920" cy="1463040"/>
          </a:xfrm>
          <a:prstGeom prst="rect">
            <a:avLst/>
          </a:prstGeom>
          <a:noFill/>
        </p:spPr>
        <p:txBody>
          <a:bodyPr wrap="square" lIns="0" tIns="0" rIns="0" bIns="0">
            <a:spAutoFit/>
          </a:bodyPr>
          <a:lstStyle/>
          <a:p>
            <a:pPr marL="146304" indent="-146304" algn="l">
              <a:lnSpc>
                <a:spcPct val="106000"/>
              </a:lnSpc>
              <a:spcBef>
                <a:spcPts val="0"/>
              </a:spcBef>
              <a:spcAft>
                <a:spcPts val="600"/>
              </a:spcAft>
              <a:buClr>
                <a:srgbClr val="178CCB"/>
              </a:buClr>
              <a:buSzPct val="95000"/>
              <a:buFont typeface="Arial"/>
              <a:buChar char="•"/>
            </a:pPr>
            <a:r>
              <a:rPr sz="1050" b="0" i="0">
                <a:solidFill>
                  <a:srgbClr val="2B3544"/>
                </a:solidFill>
                <a:latin typeface="Arial"/>
                <a:ea typeface="Arial"/>
                <a:cs typeface="Arial"/>
              </a:rPr>
              <a:t>MetRS per SD gives an odds ratio near </a:t>
            </a:r>
            <a:r>
              <a:rPr sz="1050" b="1" i="0">
                <a:solidFill>
                  <a:srgbClr val="2B3544"/>
                </a:solidFill>
                <a:latin typeface="Arial"/>
                <a:ea typeface="Arial"/>
                <a:cs typeface="Arial"/>
              </a:rPr>
              <a:t>2.8</a:t>
            </a:r>
            <a:r>
              <a:rPr sz="1050" b="0" i="0">
                <a:solidFill>
                  <a:srgbClr val="2B3544"/>
                </a:solidFill>
                <a:latin typeface="Arial"/>
                <a:ea typeface="Arial"/>
                <a:cs typeface="Arial"/>
              </a:rPr>
              <a:t> for weight regain</a:t>
            </a:r>
          </a:p>
          <a:p>
            <a:pPr marL="146304" indent="-146304" algn="l">
              <a:lnSpc>
                <a:spcPct val="106000"/>
              </a:lnSpc>
              <a:spcBef>
                <a:spcPts val="0"/>
              </a:spcBef>
              <a:spcAft>
                <a:spcPts val="600"/>
              </a:spcAft>
              <a:buClr>
                <a:srgbClr val="178CCB"/>
              </a:buClr>
              <a:buSzPct val="95000"/>
              <a:buFont typeface="Arial"/>
              <a:buChar char="•"/>
            </a:pPr>
            <a:r>
              <a:rPr sz="1050" b="0" i="0">
                <a:solidFill>
                  <a:srgbClr val="2B3544"/>
                </a:solidFill>
                <a:latin typeface="Arial"/>
                <a:ea typeface="Arial"/>
                <a:cs typeface="Arial"/>
              </a:rPr>
              <a:t>The estimate barely moves across all four models</a:t>
            </a:r>
          </a:p>
          <a:p>
            <a:pPr marL="146304" indent="-146304" algn="l">
              <a:lnSpc>
                <a:spcPct val="106000"/>
              </a:lnSpc>
              <a:spcBef>
                <a:spcPts val="0"/>
              </a:spcBef>
              <a:spcAft>
                <a:spcPts val="600"/>
              </a:spcAft>
              <a:buClr>
                <a:srgbClr val="178CCB"/>
              </a:buClr>
              <a:buSzPct val="95000"/>
              <a:buFont typeface="Arial"/>
              <a:buChar char="•"/>
            </a:pPr>
            <a:r>
              <a:rPr sz="1050" b="0" i="0">
                <a:solidFill>
                  <a:srgbClr val="2B3544"/>
                </a:solidFill>
                <a:latin typeface="Arial"/>
                <a:ea typeface="Arial"/>
                <a:cs typeface="Arial"/>
              </a:rPr>
              <a:t>Age, sex and baseline EBW alone do not carry the signal</a:t>
            </a:r>
          </a:p>
          <a:p>
            <a:pPr marL="146304" indent="-146304" algn="l">
              <a:lnSpc>
                <a:spcPct val="106000"/>
              </a:lnSpc>
              <a:spcBef>
                <a:spcPts val="0"/>
              </a:spcBef>
              <a:spcAft>
                <a:spcPts val="600"/>
              </a:spcAft>
              <a:buClr>
                <a:srgbClr val="178CCB"/>
              </a:buClr>
              <a:buSzPct val="95000"/>
              <a:buFont typeface="Arial"/>
              <a:buChar char="•"/>
            </a:pPr>
            <a:r>
              <a:rPr sz="1050" b="0" i="0">
                <a:solidFill>
                  <a:srgbClr val="2B3544"/>
                </a:solidFill>
                <a:latin typeface="Arial"/>
                <a:ea typeface="Arial"/>
                <a:cs typeface="Arial"/>
              </a:rPr>
              <a:t>Cross-validation: RMSE </a:t>
            </a:r>
            <a:r>
              <a:rPr sz="1050" b="1" i="0">
                <a:solidFill>
                  <a:srgbClr val="2B3544"/>
                </a:solidFill>
                <a:latin typeface="Arial"/>
                <a:ea typeface="Arial"/>
                <a:cs typeface="Arial"/>
              </a:rPr>
              <a:t>21.45 ± 1.32 kg</a:t>
            </a:r>
            <a:r>
              <a:rPr sz="1050" b="0" i="0">
                <a:solidFill>
                  <a:srgbClr val="2B3544"/>
                </a:solidFill>
                <a:latin typeface="Arial"/>
                <a:ea typeface="Arial"/>
                <a:cs typeface="Arial"/>
              </a:rPr>
              <a:t>, MAE </a:t>
            </a:r>
            <a:r>
              <a:rPr sz="1050" b="1" i="0">
                <a:solidFill>
                  <a:srgbClr val="2B3544"/>
                </a:solidFill>
                <a:latin typeface="Arial"/>
                <a:ea typeface="Arial"/>
                <a:cs typeface="Arial"/>
              </a:rPr>
              <a:t>17.24 ± 1.10 kg</a:t>
            </a:r>
          </a:p>
          <a:p>
            <a:pPr marL="146304" indent="-146304" algn="l">
              <a:lnSpc>
                <a:spcPct val="106000"/>
              </a:lnSpc>
              <a:spcBef>
                <a:spcPts val="0"/>
              </a:spcBef>
              <a:spcAft>
                <a:spcPts val="600"/>
              </a:spcAft>
              <a:buClr>
                <a:srgbClr val="178CCB"/>
              </a:buClr>
              <a:buSzPct val="95000"/>
              <a:buFont typeface="Arial"/>
              <a:buChar char="•"/>
            </a:pPr>
            <a:r>
              <a:rPr sz="1050" b="0" i="0">
                <a:solidFill>
                  <a:srgbClr val="2B3544"/>
                </a:solidFill>
                <a:latin typeface="Arial"/>
                <a:ea typeface="Arial"/>
                <a:cs typeface="Arial"/>
              </a:rPr>
              <a:t>Tight error distributions, so no sign of overfitting</a:t>
            </a:r>
          </a:p>
        </p:txBody>
      </p:sp>
      <p:pic>
        <p:nvPicPr>
          <p:cNvPr id="10" name="Picture 9" descr="image.png"/>
          <p:cNvPicPr>
            <a:picLocks noChangeAspect="1"/>
          </p:cNvPicPr>
          <p:nvPr/>
        </p:nvPicPr>
        <p:blipFill>
          <a:blip r:embed="rId5"/>
          <a:stretch>
            <a:fillRect/>
          </a:stretch>
        </p:blipFill>
        <p:spPr>
          <a:xfrm>
            <a:off x="8247888" y="4530852"/>
            <a:ext cx="694944" cy="448970"/>
          </a:xfrm>
          <a:prstGeom prst="rect">
            <a:avLst/>
          </a:prstGeom>
        </p:spPr>
      </p:pic>
      <p:sp>
        <p:nvSpPr>
          <p:cNvPr id="11" name="TextBox 10"/>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000" b="1" i="0">
                <a:solidFill>
                  <a:srgbClr val="052049"/>
                </a:solidFill>
                <a:latin typeface="Arial"/>
                <a:ea typeface="Arial"/>
                <a:cs typeface="Arial"/>
              </a:rPr>
              <a:t>Replication in an independent post-RYGB cohort</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Results · replication</a:t>
            </a:r>
          </a:p>
        </p:txBody>
      </p:sp>
      <p:pic>
        <p:nvPicPr>
          <p:cNvPr id="5" name="Picture 4" descr="trim_fig4a_309x242.png"/>
          <p:cNvPicPr>
            <a:picLocks noChangeAspect="1"/>
          </p:cNvPicPr>
          <p:nvPr/>
        </p:nvPicPr>
        <p:blipFill>
          <a:blip r:embed="rId3"/>
          <a:stretch>
            <a:fillRect/>
          </a:stretch>
        </p:blipFill>
        <p:spPr>
          <a:xfrm>
            <a:off x="1464054" y="1060704"/>
            <a:ext cx="2832611" cy="2212848"/>
          </a:xfrm>
          <a:prstGeom prst="rect">
            <a:avLst/>
          </a:prstGeom>
          <a:effectLst/>
        </p:spPr>
      </p:pic>
      <p:pic>
        <p:nvPicPr>
          <p:cNvPr id="6" name="Picture 5" descr="trim_fig4c_320x239.png"/>
          <p:cNvPicPr>
            <a:picLocks noChangeAspect="1"/>
          </p:cNvPicPr>
          <p:nvPr/>
        </p:nvPicPr>
        <p:blipFill>
          <a:blip r:embed="rId4"/>
          <a:stretch>
            <a:fillRect/>
          </a:stretch>
        </p:blipFill>
        <p:spPr>
          <a:xfrm>
            <a:off x="4846320" y="1071926"/>
            <a:ext cx="2926080" cy="2190403"/>
          </a:xfrm>
          <a:prstGeom prst="rect">
            <a:avLst/>
          </a:prstGeom>
          <a:effectLst/>
        </p:spPr>
      </p:pic>
      <p:sp>
        <p:nvSpPr>
          <p:cNvPr id="7" name="TextBox 6"/>
          <p:cNvSpPr txBox="1"/>
          <p:nvPr/>
        </p:nvSpPr>
        <p:spPr>
          <a:xfrm>
            <a:off x="961134" y="3337560"/>
            <a:ext cx="3838451"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Fig. 4a  ·  MetRS-10 by outcome, median 7.2 y after surgery</a:t>
            </a:r>
          </a:p>
        </p:txBody>
      </p:sp>
      <p:sp>
        <p:nvSpPr>
          <p:cNvPr id="8" name="TextBox 7"/>
          <p:cNvSpPr txBox="1"/>
          <p:nvPr/>
        </p:nvSpPr>
        <p:spPr>
          <a:xfrm>
            <a:off x="4343400" y="3326337"/>
            <a:ext cx="3931920"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Fig. 4c  ·  MetRS vs how much weight was regained</a:t>
            </a:r>
          </a:p>
        </p:txBody>
      </p:sp>
      <p:sp>
        <p:nvSpPr>
          <p:cNvPr id="9" name="TextBox 8"/>
          <p:cNvSpPr txBox="1"/>
          <p:nvPr/>
        </p:nvSpPr>
        <p:spPr>
          <a:xfrm>
            <a:off x="457200" y="3493008"/>
            <a:ext cx="8275320" cy="1143000"/>
          </a:xfrm>
          <a:prstGeom prst="rect">
            <a:avLst/>
          </a:prstGeom>
          <a:noFill/>
        </p:spPr>
        <p:txBody>
          <a:bodyPr wrap="square" lIns="0" tIns="0" rIns="0" bIns="0">
            <a:spAutoFit/>
          </a:bodyPr>
          <a:lstStyle/>
          <a:p>
            <a:pPr marL="146304" indent="-146304" algn="l">
              <a:lnSpc>
                <a:spcPct val="106000"/>
              </a:lnSpc>
              <a:spcBef>
                <a:spcPts val="0"/>
              </a:spcBef>
              <a:spcAft>
                <a:spcPts val="300"/>
              </a:spcAft>
              <a:buClr>
                <a:srgbClr val="178CCB"/>
              </a:buClr>
              <a:buSzPct val="95000"/>
              <a:buFont typeface="Arial"/>
              <a:buChar char="•"/>
            </a:pPr>
            <a:r>
              <a:rPr sz="980" b="0" i="0">
                <a:solidFill>
                  <a:srgbClr val="2B3544"/>
                </a:solidFill>
                <a:latin typeface="Arial"/>
                <a:ea typeface="Arial"/>
                <a:cs typeface="Arial"/>
              </a:rPr>
              <a:t>MetRS-10 was applied to </a:t>
            </a:r>
            <a:r>
              <a:rPr sz="980" b="1" i="0">
                <a:solidFill>
                  <a:srgbClr val="2B3544"/>
                </a:solidFill>
                <a:latin typeface="Arial"/>
                <a:ea typeface="Arial"/>
                <a:cs typeface="Arial"/>
              </a:rPr>
              <a:t>35 patients</a:t>
            </a:r>
            <a:r>
              <a:rPr sz="980" b="0" i="0">
                <a:solidFill>
                  <a:srgbClr val="2B3544"/>
                </a:solidFill>
                <a:latin typeface="Arial"/>
                <a:ea typeface="Arial"/>
                <a:cs typeface="Arial"/>
              </a:rPr>
              <a:t>, median </a:t>
            </a:r>
            <a:r>
              <a:rPr sz="980" b="1" i="0">
                <a:solidFill>
                  <a:srgbClr val="2B3544"/>
                </a:solidFill>
                <a:latin typeface="Arial"/>
                <a:ea typeface="Arial"/>
                <a:cs typeface="Arial"/>
              </a:rPr>
              <a:t>7.2 years</a:t>
            </a:r>
            <a:r>
              <a:rPr sz="980" b="0" i="0">
                <a:solidFill>
                  <a:srgbClr val="2B3544"/>
                </a:solidFill>
                <a:latin typeface="Arial"/>
                <a:ea typeface="Arial"/>
                <a:cs typeface="Arial"/>
              </a:rPr>
              <a:t> after surgery</a:t>
            </a:r>
          </a:p>
          <a:p>
            <a:pPr marL="146304" indent="0" algn="l">
              <a:lnSpc>
                <a:spcPct val="106000"/>
              </a:lnSpc>
              <a:spcBef>
                <a:spcPts val="0"/>
              </a:spcBef>
              <a:spcAft>
                <a:spcPts val="300"/>
              </a:spcAft>
              <a:buNone/>
            </a:pPr>
            <a:r>
              <a:rPr sz="930" b="1" i="0">
                <a:solidFill>
                  <a:srgbClr val="6B7684"/>
                </a:solidFill>
                <a:latin typeface="Arial"/>
                <a:ea typeface="Arial"/>
                <a:cs typeface="Arial"/>
              </a:rPr>
              <a:t>Three</a:t>
            </a:r>
            <a:r>
              <a:rPr sz="930" b="0" i="0">
                <a:solidFill>
                  <a:srgbClr val="6B7684"/>
                </a:solidFill>
                <a:latin typeface="Arial"/>
                <a:ea typeface="Arial"/>
                <a:cs typeface="Arial"/>
              </a:rPr>
              <a:t> of the </a:t>
            </a:r>
            <a:r>
              <a:rPr sz="930" b="1" i="0">
                <a:solidFill>
                  <a:srgbClr val="6B7684"/>
                </a:solidFill>
                <a:latin typeface="Arial"/>
                <a:ea typeface="Arial"/>
                <a:cs typeface="Arial"/>
              </a:rPr>
              <a:t>13</a:t>
            </a:r>
            <a:r>
              <a:rPr sz="930" b="0" i="0">
                <a:solidFill>
                  <a:srgbClr val="6B7684"/>
                </a:solidFill>
                <a:latin typeface="Arial"/>
                <a:ea typeface="Arial"/>
                <a:cs typeface="Arial"/>
              </a:rPr>
              <a:t> metabolites were not measured on that platform</a:t>
            </a:r>
          </a:p>
          <a:p>
            <a:pPr marL="146304" indent="-146304" algn="l">
              <a:lnSpc>
                <a:spcPct val="106000"/>
              </a:lnSpc>
              <a:spcBef>
                <a:spcPts val="0"/>
              </a:spcBef>
              <a:spcAft>
                <a:spcPts val="300"/>
              </a:spcAft>
              <a:buClr>
                <a:srgbClr val="178CCB"/>
              </a:buClr>
              <a:buSzPct val="95000"/>
              <a:buFont typeface="Arial"/>
              <a:buChar char="•"/>
            </a:pPr>
            <a:r>
              <a:rPr sz="980" b="0" i="0">
                <a:solidFill>
                  <a:srgbClr val="2B3544"/>
                </a:solidFill>
                <a:latin typeface="Arial"/>
                <a:ea typeface="Arial"/>
                <a:cs typeface="Arial"/>
              </a:rPr>
              <a:t>Higher in documented regain (p = 0.028)</a:t>
            </a:r>
          </a:p>
          <a:p>
            <a:pPr marL="146304" indent="-146304" algn="l">
              <a:lnSpc>
                <a:spcPct val="106000"/>
              </a:lnSpc>
              <a:spcBef>
                <a:spcPts val="0"/>
              </a:spcBef>
              <a:spcAft>
                <a:spcPts val="300"/>
              </a:spcAft>
              <a:buClr>
                <a:srgbClr val="178CCB"/>
              </a:buClr>
              <a:buSzPct val="95000"/>
              <a:buFont typeface="Arial"/>
              <a:buChar char="•"/>
            </a:pPr>
            <a:r>
              <a:rPr sz="980" b="0" i="0">
                <a:solidFill>
                  <a:srgbClr val="2B3544"/>
                </a:solidFill>
                <a:latin typeface="Arial"/>
                <a:ea typeface="Arial"/>
                <a:cs typeface="Arial"/>
              </a:rPr>
              <a:t>Tracks how much weight came back (</a:t>
            </a:r>
            <a:r>
              <a:rPr sz="980" b="1" i="0">
                <a:solidFill>
                  <a:srgbClr val="2B3544"/>
                </a:solidFill>
                <a:latin typeface="Arial"/>
                <a:ea typeface="Arial"/>
                <a:cs typeface="Arial"/>
              </a:rPr>
              <a:t>r = 0.56</a:t>
            </a:r>
            <a:r>
              <a:rPr sz="980" b="0" i="0">
                <a:solidFill>
                  <a:srgbClr val="2B3544"/>
                </a:solidFill>
                <a:latin typeface="Arial"/>
                <a:ea typeface="Arial"/>
                <a:cs typeface="Arial"/>
              </a:rPr>
              <a:t>, p &lt; 0.001)</a:t>
            </a:r>
          </a:p>
          <a:p>
            <a:pPr marL="146304" indent="-146304" algn="l">
              <a:lnSpc>
                <a:spcPct val="106000"/>
              </a:lnSpc>
              <a:spcBef>
                <a:spcPts val="0"/>
              </a:spcBef>
              <a:spcAft>
                <a:spcPts val="300"/>
              </a:spcAft>
              <a:buClr>
                <a:srgbClr val="178CCB"/>
              </a:buClr>
              <a:buSzPct val="95000"/>
              <a:buFont typeface="Arial"/>
              <a:buChar char="•"/>
            </a:pPr>
            <a:r>
              <a:rPr sz="980" b="0" i="0">
                <a:solidFill>
                  <a:srgbClr val="2B3544"/>
                </a:solidFill>
                <a:latin typeface="Arial"/>
                <a:ea typeface="Arial"/>
                <a:cs typeface="Arial"/>
              </a:rPr>
              <a:t>Each SD of MetRS goes with </a:t>
            </a:r>
            <a:r>
              <a:rPr sz="980" b="1" i="0">
                <a:solidFill>
                  <a:srgbClr val="2B3544"/>
                </a:solidFill>
                <a:latin typeface="Arial"/>
                <a:ea typeface="Arial"/>
                <a:cs typeface="Arial"/>
              </a:rPr>
              <a:t>12.93%</a:t>
            </a:r>
            <a:r>
              <a:rPr sz="980" b="0" i="0">
                <a:solidFill>
                  <a:srgbClr val="2B3544"/>
                </a:solidFill>
                <a:latin typeface="Arial"/>
                <a:ea typeface="Arial"/>
                <a:cs typeface="Arial"/>
              </a:rPr>
              <a:t> more regain (95% CI </a:t>
            </a:r>
            <a:r>
              <a:rPr sz="980" b="1" i="0">
                <a:solidFill>
                  <a:srgbClr val="2B3544"/>
                </a:solidFill>
                <a:latin typeface="Arial"/>
                <a:ea typeface="Arial"/>
                <a:cs typeface="Arial"/>
              </a:rPr>
              <a:t>7.01 to 18.85</a:t>
            </a:r>
            <a:r>
              <a:rPr sz="980" b="0" i="0">
                <a:solidFill>
                  <a:srgbClr val="2B3544"/>
                </a:solidFill>
                <a:latin typeface="Arial"/>
                <a:ea typeface="Arial"/>
                <a:cs typeface="Arial"/>
              </a:rPr>
              <a:t>)</a:t>
            </a:r>
          </a:p>
          <a:p>
            <a:pPr marL="146304" indent="-146304" algn="l">
              <a:lnSpc>
                <a:spcPct val="106000"/>
              </a:lnSpc>
              <a:spcBef>
                <a:spcPts val="0"/>
              </a:spcBef>
              <a:spcAft>
                <a:spcPts val="300"/>
              </a:spcAft>
              <a:buClr>
                <a:srgbClr val="178CCB"/>
              </a:buClr>
              <a:buSzPct val="95000"/>
              <a:buFont typeface="Arial"/>
              <a:buChar char="•"/>
            </a:pPr>
            <a:r>
              <a:rPr sz="980" b="0" i="0">
                <a:solidFill>
                  <a:srgbClr val="2B3544"/>
                </a:solidFill>
                <a:latin typeface="Arial"/>
                <a:ea typeface="Arial"/>
                <a:cs typeface="Arial"/>
              </a:rPr>
              <a:t>MetRS-10 still separates the groups in LABS-2 (p = 8.1 × 10⁻⁵)</a:t>
            </a:r>
          </a:p>
        </p:txBody>
      </p:sp>
      <p:sp>
        <p:nvSpPr>
          <p:cNvPr id="10" name="TextBox 9"/>
          <p:cNvSpPr txBox="1"/>
          <p:nvPr/>
        </p:nvSpPr>
        <p:spPr>
          <a:xfrm>
            <a:off x="457200" y="4727448"/>
            <a:ext cx="6949440" cy="274320"/>
          </a:xfrm>
          <a:prstGeom prst="rect">
            <a:avLst/>
          </a:prstGeom>
          <a:noFill/>
        </p:spPr>
        <p:txBody>
          <a:bodyPr wrap="square" lIns="0" tIns="0" rIns="0" bIns="0">
            <a:spAutoFit/>
          </a:bodyPr>
          <a:lstStyle/>
          <a:p>
            <a:pPr algn="l">
              <a:lnSpc>
                <a:spcPct val="105000"/>
              </a:lnSpc>
              <a:spcBef>
                <a:spcPts val="0"/>
              </a:spcBef>
              <a:spcAft>
                <a:spcPts val="0"/>
              </a:spcAft>
            </a:pPr>
            <a:r>
              <a:rPr sz="750" b="0" i="1">
                <a:solidFill>
                  <a:srgbClr val="9AA5B1"/>
                </a:solidFill>
                <a:latin typeface="Arial"/>
                <a:ea typeface="Arial"/>
                <a:cs typeface="Arial"/>
              </a:rPr>
              <a:t>Abidi et al., Obes Surg 2020 (post-RYGB replication cohort).</a:t>
            </a:r>
          </a:p>
        </p:txBody>
      </p:sp>
      <p:pic>
        <p:nvPicPr>
          <p:cNvPr id="11" name="Picture 10" descr="image.png"/>
          <p:cNvPicPr>
            <a:picLocks noChangeAspect="1"/>
          </p:cNvPicPr>
          <p:nvPr/>
        </p:nvPicPr>
        <p:blipFill>
          <a:blip r:embed="rId5"/>
          <a:stretch>
            <a:fillRect/>
          </a:stretch>
        </p:blipFill>
        <p:spPr>
          <a:xfrm>
            <a:off x="8247888" y="4530852"/>
            <a:ext cx="694944" cy="448970"/>
          </a:xfrm>
          <a:prstGeom prst="rect">
            <a:avLst/>
          </a:prstGeom>
        </p:spPr>
      </p:pic>
      <p:sp>
        <p:nvSpPr>
          <p:cNvPr id="12" name="TextBox 11"/>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000" b="1" i="0">
                <a:solidFill>
                  <a:srgbClr val="052049"/>
                </a:solidFill>
                <a:latin typeface="Arial"/>
                <a:ea typeface="Arial"/>
                <a:cs typeface="Arial"/>
              </a:rPr>
              <a:t>The signature tracks adiposity outside surgery</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Results · generalisation</a:t>
            </a:r>
          </a:p>
        </p:txBody>
      </p:sp>
      <p:pic>
        <p:nvPicPr>
          <p:cNvPr id="5" name="Picture 4" descr="trim_fig4b_309x242.png"/>
          <p:cNvPicPr>
            <a:picLocks noChangeAspect="1"/>
          </p:cNvPicPr>
          <p:nvPr/>
        </p:nvPicPr>
        <p:blipFill>
          <a:blip r:embed="rId3"/>
          <a:stretch>
            <a:fillRect/>
          </a:stretch>
        </p:blipFill>
        <p:spPr>
          <a:xfrm>
            <a:off x="1395474" y="1060704"/>
            <a:ext cx="2832611" cy="2212848"/>
          </a:xfrm>
          <a:prstGeom prst="rect">
            <a:avLst/>
          </a:prstGeom>
          <a:effectLst/>
        </p:spPr>
      </p:pic>
      <p:pic>
        <p:nvPicPr>
          <p:cNvPr id="6" name="Picture 5" descr="trim_figs6b_330x241.png"/>
          <p:cNvPicPr>
            <a:picLocks noChangeAspect="1"/>
          </p:cNvPicPr>
          <p:nvPr/>
        </p:nvPicPr>
        <p:blipFill>
          <a:blip r:embed="rId4"/>
          <a:stretch>
            <a:fillRect/>
          </a:stretch>
        </p:blipFill>
        <p:spPr>
          <a:xfrm>
            <a:off x="4846320" y="1063613"/>
            <a:ext cx="3017520" cy="2207029"/>
          </a:xfrm>
          <a:prstGeom prst="rect">
            <a:avLst/>
          </a:prstGeom>
          <a:effectLst/>
        </p:spPr>
      </p:pic>
      <p:sp>
        <p:nvSpPr>
          <p:cNvPr id="7" name="TextBox 6"/>
          <p:cNvSpPr txBox="1"/>
          <p:nvPr/>
        </p:nvSpPr>
        <p:spPr>
          <a:xfrm>
            <a:off x="892554" y="3337560"/>
            <a:ext cx="3838451"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Fig. 4b  ·  MetRS-8 in lean vs obese, Estonian Biobank</a:t>
            </a:r>
          </a:p>
        </p:txBody>
      </p:sp>
      <p:sp>
        <p:nvSpPr>
          <p:cNvPr id="8" name="TextBox 7"/>
          <p:cNvSpPr txBox="1"/>
          <p:nvPr/>
        </p:nvSpPr>
        <p:spPr>
          <a:xfrm>
            <a:off x="4343400" y="3334650"/>
            <a:ext cx="4023360"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Suppl. Fig. 6b  ·  PLS-DA of the metabolomic profile</a:t>
            </a:r>
          </a:p>
        </p:txBody>
      </p:sp>
      <p:sp>
        <p:nvSpPr>
          <p:cNvPr id="9" name="TextBox 8"/>
          <p:cNvSpPr txBox="1"/>
          <p:nvPr/>
        </p:nvSpPr>
        <p:spPr>
          <a:xfrm>
            <a:off x="457200" y="3566160"/>
            <a:ext cx="8275320" cy="1097280"/>
          </a:xfrm>
          <a:prstGeom prst="rect">
            <a:avLst/>
          </a:prstGeom>
          <a:noFill/>
        </p:spPr>
        <p:txBody>
          <a:bodyPr wrap="square" lIns="0" tIns="0" rIns="0" bIns="0">
            <a:spAutoFit/>
          </a:bodyPr>
          <a:lstStyle/>
          <a:p>
            <a:pPr marL="146304" indent="-146304" algn="l">
              <a:lnSpc>
                <a:spcPct val="106000"/>
              </a:lnSpc>
              <a:spcBef>
                <a:spcPts val="0"/>
              </a:spcBef>
              <a:spcAft>
                <a:spcPts val="300"/>
              </a:spcAft>
              <a:buClr>
                <a:srgbClr val="178CCB"/>
              </a:buClr>
              <a:buSzPct val="95000"/>
              <a:buFont typeface="Arial"/>
              <a:buChar char="•"/>
            </a:pPr>
            <a:r>
              <a:rPr sz="980" b="1" i="0">
                <a:solidFill>
                  <a:srgbClr val="2B3544"/>
                </a:solidFill>
                <a:latin typeface="Arial"/>
                <a:ea typeface="Arial"/>
                <a:cs typeface="Arial"/>
              </a:rPr>
              <a:t>198</a:t>
            </a:r>
            <a:r>
              <a:rPr sz="980" b="0" i="0">
                <a:solidFill>
                  <a:srgbClr val="2B3544"/>
                </a:solidFill>
                <a:latin typeface="Arial"/>
                <a:ea typeface="Arial"/>
                <a:cs typeface="Arial"/>
              </a:rPr>
              <a:t> Estonian Biobank participants at the extremes of BMI, none operated on</a:t>
            </a:r>
          </a:p>
          <a:p>
            <a:pPr marL="146304" indent="-146304" algn="l">
              <a:lnSpc>
                <a:spcPct val="106000"/>
              </a:lnSpc>
              <a:spcBef>
                <a:spcPts val="0"/>
              </a:spcBef>
              <a:spcAft>
                <a:spcPts val="300"/>
              </a:spcAft>
              <a:buClr>
                <a:srgbClr val="178CCB"/>
              </a:buClr>
              <a:buSzPct val="95000"/>
              <a:buFont typeface="Arial"/>
              <a:buChar char="•"/>
            </a:pPr>
            <a:r>
              <a:rPr sz="980" b="0" i="0">
                <a:solidFill>
                  <a:srgbClr val="2B3544"/>
                </a:solidFill>
                <a:latin typeface="Arial"/>
                <a:ea typeface="Arial"/>
                <a:cs typeface="Arial"/>
              </a:rPr>
              <a:t>MetRS-8 was higher in obesity than in lean controls (p = 0.01)</a:t>
            </a:r>
          </a:p>
          <a:p>
            <a:pPr marL="146304" indent="-146304" algn="l">
              <a:lnSpc>
                <a:spcPct val="106000"/>
              </a:lnSpc>
              <a:spcBef>
                <a:spcPts val="0"/>
              </a:spcBef>
              <a:spcAft>
                <a:spcPts val="300"/>
              </a:spcAft>
              <a:buClr>
                <a:srgbClr val="178CCB"/>
              </a:buClr>
              <a:buSzPct val="95000"/>
              <a:buFont typeface="Arial"/>
              <a:buChar char="•"/>
            </a:pPr>
            <a:r>
              <a:rPr sz="980" b="0" i="0">
                <a:solidFill>
                  <a:srgbClr val="2B3544"/>
                </a:solidFill>
                <a:latin typeface="Arial"/>
                <a:ea typeface="Arial"/>
                <a:cs typeface="Arial"/>
              </a:rPr>
              <a:t>The link to BMI itself is small: </a:t>
            </a:r>
            <a:r>
              <a:rPr sz="980" b="1" i="0">
                <a:solidFill>
                  <a:srgbClr val="2B3544"/>
                </a:solidFill>
                <a:latin typeface="Arial"/>
                <a:ea typeface="Arial"/>
                <a:cs typeface="Arial"/>
              </a:rPr>
              <a:t>0.10 kg/m²</a:t>
            </a:r>
            <a:r>
              <a:rPr sz="980" b="0" i="0">
                <a:solidFill>
                  <a:srgbClr val="2B3544"/>
                </a:solidFill>
                <a:latin typeface="Arial"/>
                <a:ea typeface="Arial"/>
                <a:cs typeface="Arial"/>
              </a:rPr>
              <a:t> per SD, p = 0.05</a:t>
            </a:r>
          </a:p>
          <a:p>
            <a:pPr marL="146304" indent="-146304" algn="l">
              <a:lnSpc>
                <a:spcPct val="106000"/>
              </a:lnSpc>
              <a:spcBef>
                <a:spcPts val="0"/>
              </a:spcBef>
              <a:spcAft>
                <a:spcPts val="300"/>
              </a:spcAft>
              <a:buClr>
                <a:srgbClr val="178CCB"/>
              </a:buClr>
              <a:buSzPct val="95000"/>
              <a:buFont typeface="Arial"/>
              <a:buChar char="•"/>
            </a:pPr>
            <a:r>
              <a:rPr sz="980" b="0" i="0">
                <a:solidFill>
                  <a:srgbClr val="2B3544"/>
                </a:solidFill>
                <a:latin typeface="Arial"/>
                <a:ea typeface="Arial"/>
                <a:cs typeface="Arial"/>
              </a:rPr>
              <a:t>PLS-DA separates lean from obese on the underlying profile</a:t>
            </a:r>
          </a:p>
          <a:p>
            <a:pPr marL="146304" indent="-146304" algn="l">
              <a:lnSpc>
                <a:spcPct val="106000"/>
              </a:lnSpc>
              <a:spcBef>
                <a:spcPts val="0"/>
              </a:spcBef>
              <a:spcAft>
                <a:spcPts val="300"/>
              </a:spcAft>
              <a:buClr>
                <a:srgbClr val="178CCB"/>
              </a:buClr>
              <a:buSzPct val="95000"/>
              <a:buFont typeface="Arial"/>
              <a:buChar char="•"/>
            </a:pPr>
            <a:r>
              <a:rPr sz="980" b="0" i="0">
                <a:solidFill>
                  <a:srgbClr val="2B3544"/>
                </a:solidFill>
                <a:latin typeface="Arial"/>
                <a:ea typeface="Arial"/>
                <a:cs typeface="Arial"/>
              </a:rPr>
              <a:t>The signature is not specific to surgery</a:t>
            </a:r>
          </a:p>
        </p:txBody>
      </p:sp>
      <p:sp>
        <p:nvSpPr>
          <p:cNvPr id="10" name="TextBox 9"/>
          <p:cNvSpPr txBox="1"/>
          <p:nvPr/>
        </p:nvSpPr>
        <p:spPr>
          <a:xfrm>
            <a:off x="457200" y="4727448"/>
            <a:ext cx="6949440" cy="274320"/>
          </a:xfrm>
          <a:prstGeom prst="rect">
            <a:avLst/>
          </a:prstGeom>
          <a:noFill/>
        </p:spPr>
        <p:txBody>
          <a:bodyPr wrap="square" lIns="0" tIns="0" rIns="0" bIns="0">
            <a:spAutoFit/>
          </a:bodyPr>
          <a:lstStyle/>
          <a:p>
            <a:pPr algn="l">
              <a:lnSpc>
                <a:spcPct val="105000"/>
              </a:lnSpc>
              <a:spcBef>
                <a:spcPts val="0"/>
              </a:spcBef>
              <a:spcAft>
                <a:spcPts val="0"/>
              </a:spcAft>
            </a:pPr>
            <a:r>
              <a:rPr sz="750" b="0" i="1">
                <a:solidFill>
                  <a:srgbClr val="9AA5B1"/>
                </a:solidFill>
                <a:latin typeface="Arial"/>
                <a:ea typeface="Arial"/>
                <a:cs typeface="Arial"/>
              </a:rPr>
              <a:t>Hsu et al., Nat Commun 2020 (Estonian Biobank obesity extremes).</a:t>
            </a:r>
          </a:p>
        </p:txBody>
      </p:sp>
      <p:pic>
        <p:nvPicPr>
          <p:cNvPr id="11" name="Picture 10" descr="image.png"/>
          <p:cNvPicPr>
            <a:picLocks noChangeAspect="1"/>
          </p:cNvPicPr>
          <p:nvPr/>
        </p:nvPicPr>
        <p:blipFill>
          <a:blip r:embed="rId5"/>
          <a:stretch>
            <a:fillRect/>
          </a:stretch>
        </p:blipFill>
        <p:spPr>
          <a:xfrm>
            <a:off x="8247888" y="4530852"/>
            <a:ext cx="694944" cy="448970"/>
          </a:xfrm>
          <a:prstGeom prst="rect">
            <a:avLst/>
          </a:prstGeom>
        </p:spPr>
      </p:pic>
      <p:sp>
        <p:nvSpPr>
          <p:cNvPr id="12" name="TextBox 11"/>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000" b="1" i="0">
                <a:solidFill>
                  <a:srgbClr val="052049"/>
                </a:solidFill>
                <a:latin typeface="Arial"/>
                <a:ea typeface="Arial"/>
                <a:cs typeface="Arial"/>
              </a:rPr>
              <a:t>Genetic architecture of the MetRS metabolites</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Results · genetics</a:t>
            </a:r>
          </a:p>
        </p:txBody>
      </p:sp>
      <p:sp>
        <p:nvSpPr>
          <p:cNvPr id="5" name="TextBox 4"/>
          <p:cNvSpPr txBox="1"/>
          <p:nvPr/>
        </p:nvSpPr>
        <p:spPr>
          <a:xfrm>
            <a:off x="411480" y="1051560"/>
            <a:ext cx="4114800" cy="201168"/>
          </a:xfrm>
          <a:prstGeom prst="rect">
            <a:avLst/>
          </a:prstGeom>
          <a:noFill/>
        </p:spPr>
        <p:txBody>
          <a:bodyPr wrap="square" lIns="0" tIns="0" rIns="0" bIns="0">
            <a:spAutoFit/>
          </a:bodyPr>
          <a:lstStyle/>
          <a:p>
            <a:pPr algn="l">
              <a:spcBef>
                <a:spcPts val="0"/>
              </a:spcBef>
              <a:spcAft>
                <a:spcPts val="0"/>
              </a:spcAft>
            </a:pPr>
            <a:r>
              <a:rPr sz="850" b="1" i="0">
                <a:solidFill>
                  <a:srgbClr val="052049"/>
                </a:solidFill>
                <a:latin typeface="Arial"/>
                <a:ea typeface="Arial"/>
                <a:cs typeface="Arial"/>
              </a:rPr>
              <a:t>Glucuronate, rs9594030 near </a:t>
            </a:r>
            <a:r>
              <a:rPr sz="850" b="1" i="1">
                <a:solidFill>
                  <a:srgbClr val="052049"/>
                </a:solidFill>
                <a:latin typeface="Arial"/>
                <a:ea typeface="Arial"/>
                <a:cs typeface="Arial"/>
              </a:rPr>
              <a:t>LINC00351</a:t>
            </a:r>
          </a:p>
        </p:txBody>
      </p:sp>
      <p:pic>
        <p:nvPicPr>
          <p:cNvPr id="6" name="Picture 5" descr="trim_fig4d_glucuronate_manhattan_450x99.png"/>
          <p:cNvPicPr>
            <a:picLocks noChangeAspect="1"/>
          </p:cNvPicPr>
          <p:nvPr/>
        </p:nvPicPr>
        <p:blipFill>
          <a:blip r:embed="rId3"/>
          <a:stretch>
            <a:fillRect/>
          </a:stretch>
        </p:blipFill>
        <p:spPr>
          <a:xfrm>
            <a:off x="411480" y="1282238"/>
            <a:ext cx="4114800" cy="910243"/>
          </a:xfrm>
          <a:prstGeom prst="rect">
            <a:avLst/>
          </a:prstGeom>
          <a:effectLst/>
        </p:spPr>
      </p:pic>
      <p:sp>
        <p:nvSpPr>
          <p:cNvPr id="7" name="TextBox 6"/>
          <p:cNvSpPr txBox="1"/>
          <p:nvPr/>
        </p:nvSpPr>
        <p:spPr>
          <a:xfrm>
            <a:off x="4617720" y="1051560"/>
            <a:ext cx="4114800" cy="201168"/>
          </a:xfrm>
          <a:prstGeom prst="rect">
            <a:avLst/>
          </a:prstGeom>
          <a:noFill/>
        </p:spPr>
        <p:txBody>
          <a:bodyPr wrap="square" lIns="0" tIns="0" rIns="0" bIns="0">
            <a:spAutoFit/>
          </a:bodyPr>
          <a:lstStyle/>
          <a:p>
            <a:pPr algn="l">
              <a:spcBef>
                <a:spcPts val="0"/>
              </a:spcBef>
              <a:spcAft>
                <a:spcPts val="0"/>
              </a:spcAft>
            </a:pPr>
            <a:r>
              <a:rPr sz="850" b="1" i="0">
                <a:solidFill>
                  <a:srgbClr val="052049"/>
                </a:solidFill>
                <a:latin typeface="Arial"/>
                <a:ea typeface="Arial"/>
                <a:cs typeface="Arial"/>
              </a:rPr>
              <a:t>Kynurenine, </a:t>
            </a:r>
            <a:r>
              <a:rPr sz="850" b="1" i="1">
                <a:solidFill>
                  <a:srgbClr val="052049"/>
                </a:solidFill>
                <a:latin typeface="Arial"/>
                <a:ea typeface="Arial"/>
                <a:cs typeface="Arial"/>
              </a:rPr>
              <a:t>SLC7A5</a:t>
            </a:r>
            <a:r>
              <a:rPr sz="850" b="1" i="0">
                <a:solidFill>
                  <a:srgbClr val="052049"/>
                </a:solidFill>
                <a:latin typeface="Arial"/>
                <a:ea typeface="Arial"/>
                <a:cs typeface="Arial"/>
              </a:rPr>
              <a:t> (LAT1 transporter)</a:t>
            </a:r>
          </a:p>
        </p:txBody>
      </p:sp>
      <p:pic>
        <p:nvPicPr>
          <p:cNvPr id="8" name="Picture 7" descr="trim_fig4e_kynurenine_manhattan_450x98.png"/>
          <p:cNvPicPr>
            <a:picLocks noChangeAspect="1"/>
          </p:cNvPicPr>
          <p:nvPr/>
        </p:nvPicPr>
        <p:blipFill>
          <a:blip r:embed="rId4"/>
          <a:stretch>
            <a:fillRect/>
          </a:stretch>
        </p:blipFill>
        <p:spPr>
          <a:xfrm>
            <a:off x="4617720" y="1288472"/>
            <a:ext cx="4114800" cy="897774"/>
          </a:xfrm>
          <a:prstGeom prst="rect">
            <a:avLst/>
          </a:prstGeom>
          <a:effectLst/>
        </p:spPr>
      </p:pic>
      <p:sp>
        <p:nvSpPr>
          <p:cNvPr id="9" name="TextBox 8"/>
          <p:cNvSpPr txBox="1"/>
          <p:nvPr/>
        </p:nvSpPr>
        <p:spPr>
          <a:xfrm>
            <a:off x="411480" y="2404872"/>
            <a:ext cx="4114800" cy="201168"/>
          </a:xfrm>
          <a:prstGeom prst="rect">
            <a:avLst/>
          </a:prstGeom>
          <a:noFill/>
        </p:spPr>
        <p:txBody>
          <a:bodyPr wrap="square" lIns="0" tIns="0" rIns="0" bIns="0">
            <a:spAutoFit/>
          </a:bodyPr>
          <a:lstStyle/>
          <a:p>
            <a:pPr algn="l">
              <a:spcBef>
                <a:spcPts val="0"/>
              </a:spcBef>
              <a:spcAft>
                <a:spcPts val="0"/>
              </a:spcAft>
            </a:pPr>
            <a:r>
              <a:rPr sz="850" b="1" i="0">
                <a:solidFill>
                  <a:srgbClr val="052049"/>
                </a:solidFill>
                <a:latin typeface="Arial"/>
                <a:ea typeface="Arial"/>
                <a:cs typeface="Arial"/>
              </a:rPr>
              <a:t>Hippurate, novel intergenic locus on chr21</a:t>
            </a:r>
          </a:p>
        </p:txBody>
      </p:sp>
      <p:pic>
        <p:nvPicPr>
          <p:cNvPr id="10" name="Picture 9" descr="trim_fig4f_hippurate_manhattan_450x98.png"/>
          <p:cNvPicPr>
            <a:picLocks noChangeAspect="1"/>
          </p:cNvPicPr>
          <p:nvPr/>
        </p:nvPicPr>
        <p:blipFill>
          <a:blip r:embed="rId5"/>
          <a:stretch>
            <a:fillRect/>
          </a:stretch>
        </p:blipFill>
        <p:spPr>
          <a:xfrm>
            <a:off x="411480" y="2641784"/>
            <a:ext cx="4114800" cy="897774"/>
          </a:xfrm>
          <a:prstGeom prst="rect">
            <a:avLst/>
          </a:prstGeom>
          <a:effectLst/>
        </p:spPr>
      </p:pic>
      <p:sp>
        <p:nvSpPr>
          <p:cNvPr id="11" name="TextBox 10"/>
          <p:cNvSpPr txBox="1"/>
          <p:nvPr/>
        </p:nvSpPr>
        <p:spPr>
          <a:xfrm>
            <a:off x="4617720" y="2404872"/>
            <a:ext cx="4114800" cy="201168"/>
          </a:xfrm>
          <a:prstGeom prst="rect">
            <a:avLst/>
          </a:prstGeom>
          <a:noFill/>
        </p:spPr>
        <p:txBody>
          <a:bodyPr wrap="square" lIns="0" tIns="0" rIns="0" bIns="0">
            <a:spAutoFit/>
          </a:bodyPr>
          <a:lstStyle/>
          <a:p>
            <a:pPr algn="l">
              <a:spcBef>
                <a:spcPts val="0"/>
              </a:spcBef>
              <a:spcAft>
                <a:spcPts val="0"/>
              </a:spcAft>
            </a:pPr>
            <a:r>
              <a:rPr sz="850" b="1" i="0">
                <a:solidFill>
                  <a:srgbClr val="052049"/>
                </a:solidFill>
                <a:latin typeface="Arial"/>
                <a:ea typeface="Arial"/>
                <a:cs typeface="Arial"/>
              </a:rPr>
              <a:t>C34:2 phosphatidylcholine, </a:t>
            </a:r>
            <a:r>
              <a:rPr sz="850" b="1" i="1">
                <a:solidFill>
                  <a:srgbClr val="052049"/>
                </a:solidFill>
                <a:latin typeface="Arial"/>
                <a:ea typeface="Arial"/>
                <a:cs typeface="Arial"/>
              </a:rPr>
              <a:t>FADS2</a:t>
            </a:r>
          </a:p>
        </p:txBody>
      </p:sp>
      <p:pic>
        <p:nvPicPr>
          <p:cNvPr id="12" name="Picture 11" descr="trim_fig4g_c34_2_pc_manhattan_450x98.png"/>
          <p:cNvPicPr>
            <a:picLocks noChangeAspect="1"/>
          </p:cNvPicPr>
          <p:nvPr/>
        </p:nvPicPr>
        <p:blipFill>
          <a:blip r:embed="rId6"/>
          <a:stretch>
            <a:fillRect/>
          </a:stretch>
        </p:blipFill>
        <p:spPr>
          <a:xfrm>
            <a:off x="4617720" y="2641784"/>
            <a:ext cx="4114800" cy="897774"/>
          </a:xfrm>
          <a:prstGeom prst="rect">
            <a:avLst/>
          </a:prstGeom>
          <a:effectLst/>
        </p:spPr>
      </p:pic>
      <p:sp>
        <p:nvSpPr>
          <p:cNvPr id="13" name="TextBox 12"/>
          <p:cNvSpPr txBox="1"/>
          <p:nvPr/>
        </p:nvSpPr>
        <p:spPr>
          <a:xfrm>
            <a:off x="411480" y="3657600"/>
            <a:ext cx="8321040" cy="960120"/>
          </a:xfrm>
          <a:prstGeom prst="rect">
            <a:avLst/>
          </a:prstGeom>
          <a:noFill/>
        </p:spPr>
        <p:txBody>
          <a:bodyPr wrap="square" lIns="0" tIns="0" rIns="0" bIns="0">
            <a:spAutoFit/>
          </a:bodyPr>
          <a:lstStyle/>
          <a:p>
            <a:pPr marL="146304" indent="-146304" algn="l">
              <a:lnSpc>
                <a:spcPct val="106000"/>
              </a:lnSpc>
              <a:spcBef>
                <a:spcPts val="0"/>
              </a:spcBef>
              <a:spcAft>
                <a:spcPts val="300"/>
              </a:spcAft>
              <a:buClr>
                <a:srgbClr val="178CCB"/>
              </a:buClr>
              <a:buSzPct val="95000"/>
              <a:buFont typeface="Arial"/>
              <a:buChar char="•"/>
            </a:pPr>
            <a:r>
              <a:rPr sz="950" b="0" i="0">
                <a:solidFill>
                  <a:srgbClr val="2B3544"/>
                </a:solidFill>
                <a:latin typeface="Arial"/>
                <a:ea typeface="Arial"/>
                <a:cs typeface="Arial"/>
              </a:rPr>
              <a:t>GWAS in </a:t>
            </a:r>
            <a:r>
              <a:rPr sz="950" b="1" i="0">
                <a:solidFill>
                  <a:srgbClr val="2B3544"/>
                </a:solidFill>
                <a:latin typeface="Arial"/>
                <a:ea typeface="Arial"/>
                <a:cs typeface="Arial"/>
              </a:rPr>
              <a:t>1,508</a:t>
            </a:r>
            <a:r>
              <a:rPr sz="950" b="0" i="0">
                <a:solidFill>
                  <a:srgbClr val="2B3544"/>
                </a:solidFill>
                <a:latin typeface="Arial"/>
                <a:ea typeface="Arial"/>
                <a:cs typeface="Arial"/>
              </a:rPr>
              <a:t> Framingham Offspring participants</a:t>
            </a:r>
          </a:p>
          <a:p>
            <a:pPr marL="146304" indent="-146304" algn="l">
              <a:lnSpc>
                <a:spcPct val="106000"/>
              </a:lnSpc>
              <a:spcBef>
                <a:spcPts val="0"/>
              </a:spcBef>
              <a:spcAft>
                <a:spcPts val="300"/>
              </a:spcAft>
              <a:buClr>
                <a:srgbClr val="178CCB"/>
              </a:buClr>
              <a:buSzPct val="95000"/>
              <a:buFont typeface="Arial"/>
              <a:buChar char="•"/>
            </a:pPr>
            <a:r>
              <a:rPr sz="950" b="0" i="0">
                <a:solidFill>
                  <a:srgbClr val="2B3544"/>
                </a:solidFill>
                <a:latin typeface="Arial"/>
                <a:ea typeface="Arial"/>
                <a:cs typeface="Arial"/>
              </a:rPr>
              <a:t>The MetRS and </a:t>
            </a:r>
            <a:r>
              <a:rPr sz="950" b="1" i="0">
                <a:solidFill>
                  <a:srgbClr val="2B3544"/>
                </a:solidFill>
                <a:latin typeface="Arial"/>
                <a:ea typeface="Arial"/>
                <a:cs typeface="Arial"/>
              </a:rPr>
              <a:t>five</a:t>
            </a:r>
            <a:r>
              <a:rPr sz="950" b="0" i="0">
                <a:solidFill>
                  <a:srgbClr val="2B3544"/>
                </a:solidFill>
                <a:latin typeface="Arial"/>
                <a:ea typeface="Arial"/>
                <a:cs typeface="Arial"/>
              </a:rPr>
              <a:t> of its metabolites reached </a:t>
            </a:r>
            <a:r>
              <a:rPr sz="950" b="1" i="0">
                <a:solidFill>
                  <a:srgbClr val="2B3544"/>
                </a:solidFill>
                <a:latin typeface="Arial"/>
                <a:ea typeface="Arial"/>
                <a:cs typeface="Arial"/>
              </a:rPr>
              <a:t>p &lt; 5 × 10⁻⁸</a:t>
            </a:r>
          </a:p>
          <a:p>
            <a:pPr marL="146304" indent="-146304" algn="l">
              <a:lnSpc>
                <a:spcPct val="106000"/>
              </a:lnSpc>
              <a:spcBef>
                <a:spcPts val="0"/>
              </a:spcBef>
              <a:spcAft>
                <a:spcPts val="300"/>
              </a:spcAft>
              <a:buClr>
                <a:srgbClr val="178CCB"/>
              </a:buClr>
              <a:buSzPct val="95000"/>
              <a:buFont typeface="Arial"/>
              <a:buChar char="•"/>
            </a:pPr>
            <a:r>
              <a:rPr sz="950" b="0" i="1">
                <a:solidFill>
                  <a:srgbClr val="2B3544"/>
                </a:solidFill>
                <a:latin typeface="Arial"/>
                <a:ea typeface="Arial"/>
                <a:cs typeface="Arial"/>
              </a:rPr>
              <a:t>SLC7A5</a:t>
            </a:r>
            <a:r>
              <a:rPr sz="950" b="0" i="0">
                <a:solidFill>
                  <a:srgbClr val="2B3544"/>
                </a:solidFill>
                <a:latin typeface="Arial"/>
                <a:ea typeface="Arial"/>
                <a:cs typeface="Arial"/>
              </a:rPr>
              <a:t> and kynurenine is a known metabolite QTL; </a:t>
            </a:r>
            <a:r>
              <a:rPr sz="950" b="0" i="1">
                <a:solidFill>
                  <a:srgbClr val="2B3544"/>
                </a:solidFill>
                <a:latin typeface="Arial"/>
                <a:ea typeface="Arial"/>
                <a:cs typeface="Arial"/>
              </a:rPr>
              <a:t>SLC7A5</a:t>
            </a:r>
            <a:r>
              <a:rPr sz="950" b="0" i="0">
                <a:solidFill>
                  <a:srgbClr val="2B3544"/>
                </a:solidFill>
                <a:latin typeface="Arial"/>
                <a:ea typeface="Arial"/>
                <a:cs typeface="Arial"/>
              </a:rPr>
              <a:t> encodes LAT1</a:t>
            </a:r>
          </a:p>
          <a:p>
            <a:pPr marL="146304" indent="-146304" algn="l">
              <a:lnSpc>
                <a:spcPct val="106000"/>
              </a:lnSpc>
              <a:spcBef>
                <a:spcPts val="0"/>
              </a:spcBef>
              <a:spcAft>
                <a:spcPts val="300"/>
              </a:spcAft>
              <a:buClr>
                <a:srgbClr val="178CCB"/>
              </a:buClr>
              <a:buSzPct val="95000"/>
              <a:buFont typeface="Arial"/>
              <a:buChar char="•"/>
            </a:pPr>
            <a:r>
              <a:rPr sz="950" b="0" i="0">
                <a:solidFill>
                  <a:srgbClr val="2B3544"/>
                </a:solidFill>
                <a:latin typeface="Arial"/>
                <a:ea typeface="Arial"/>
                <a:cs typeface="Arial"/>
              </a:rPr>
              <a:t>Glucuronate, hippurate and N-carbamoyl-β-alanine signals appear novel</a:t>
            </a:r>
          </a:p>
        </p:txBody>
      </p:sp>
      <p:sp>
        <p:nvSpPr>
          <p:cNvPr id="14" name="TextBox 13"/>
          <p:cNvSpPr txBox="1"/>
          <p:nvPr/>
        </p:nvSpPr>
        <p:spPr>
          <a:xfrm>
            <a:off x="457200" y="4727448"/>
            <a:ext cx="6949440" cy="274320"/>
          </a:xfrm>
          <a:prstGeom prst="rect">
            <a:avLst/>
          </a:prstGeom>
          <a:noFill/>
        </p:spPr>
        <p:txBody>
          <a:bodyPr wrap="square" lIns="0" tIns="0" rIns="0" bIns="0">
            <a:spAutoFit/>
          </a:bodyPr>
          <a:lstStyle/>
          <a:p>
            <a:pPr algn="l">
              <a:lnSpc>
                <a:spcPct val="105000"/>
              </a:lnSpc>
              <a:spcBef>
                <a:spcPts val="0"/>
              </a:spcBef>
              <a:spcAft>
                <a:spcPts val="0"/>
              </a:spcAft>
            </a:pPr>
            <a:r>
              <a:rPr sz="750" b="0" i="1">
                <a:solidFill>
                  <a:srgbClr val="9AA5B1"/>
                </a:solidFill>
                <a:latin typeface="Arial"/>
                <a:ea typeface="Arial"/>
                <a:cs typeface="Arial"/>
              </a:rPr>
              <a:t>Bagheri et al., Circ Genom Precis Med 2021; Sinclair et al., Nat Commun 2018.</a:t>
            </a:r>
          </a:p>
        </p:txBody>
      </p:sp>
      <p:pic>
        <p:nvPicPr>
          <p:cNvPr id="15" name="Picture 14" descr="image.png"/>
          <p:cNvPicPr>
            <a:picLocks noChangeAspect="1"/>
          </p:cNvPicPr>
          <p:nvPr/>
        </p:nvPicPr>
        <p:blipFill>
          <a:blip r:embed="rId7"/>
          <a:stretch>
            <a:fillRect/>
          </a:stretch>
        </p:blipFill>
        <p:spPr>
          <a:xfrm>
            <a:off x="8247888" y="4530852"/>
            <a:ext cx="694944" cy="448970"/>
          </a:xfrm>
          <a:prstGeom prst="rect">
            <a:avLst/>
          </a:prstGeom>
        </p:spPr>
      </p:pic>
      <p:sp>
        <p:nvSpPr>
          <p:cNvPr id="16" name="TextBox 15"/>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000" b="1" i="1">
                <a:solidFill>
                  <a:srgbClr val="052049"/>
                </a:solidFill>
                <a:latin typeface="Arial"/>
                <a:ea typeface="Arial"/>
                <a:cs typeface="Arial"/>
              </a:rPr>
              <a:t>AGXT2</a:t>
            </a:r>
            <a:r>
              <a:rPr sz="2000" b="1" i="0">
                <a:solidFill>
                  <a:srgbClr val="052049"/>
                </a:solidFill>
                <a:latin typeface="Arial"/>
                <a:ea typeface="Arial"/>
                <a:cs typeface="Arial"/>
              </a:rPr>
              <a:t> carries at least four independent signals</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Results · genetics</a:t>
            </a:r>
          </a:p>
        </p:txBody>
      </p:sp>
      <p:pic>
        <p:nvPicPr>
          <p:cNvPr id="5" name="Picture 4" descr="lz_C_rs13174300_455x332.png"/>
          <p:cNvPicPr>
            <a:picLocks noChangeAspect="1"/>
          </p:cNvPicPr>
          <p:nvPr/>
        </p:nvPicPr>
        <p:blipFill>
          <a:blip r:embed="rId3"/>
          <a:stretch>
            <a:fillRect/>
          </a:stretch>
        </p:blipFill>
        <p:spPr>
          <a:xfrm>
            <a:off x="384048" y="1096033"/>
            <a:ext cx="4160520" cy="3038301"/>
          </a:xfrm>
          <a:prstGeom prst="rect">
            <a:avLst/>
          </a:prstGeom>
          <a:effectLst/>
        </p:spPr>
      </p:pic>
      <p:sp>
        <p:nvSpPr>
          <p:cNvPr id="6" name="TextBox 5"/>
          <p:cNvSpPr txBox="1"/>
          <p:nvPr/>
        </p:nvSpPr>
        <p:spPr>
          <a:xfrm>
            <a:off x="155448" y="4207486"/>
            <a:ext cx="4617720" cy="201168"/>
          </a:xfrm>
          <a:prstGeom prst="rect">
            <a:avLst/>
          </a:prstGeom>
          <a:noFill/>
        </p:spPr>
        <p:txBody>
          <a:bodyPr wrap="square" lIns="0" tIns="0" rIns="0" bIns="0">
            <a:spAutoFit/>
          </a:bodyPr>
          <a:lstStyle/>
          <a:p>
            <a:pPr algn="ctr">
              <a:spcBef>
                <a:spcPts val="0"/>
              </a:spcBef>
              <a:spcAft>
                <a:spcPts val="0"/>
              </a:spcAft>
            </a:pPr>
            <a:r>
              <a:rPr sz="800" b="0" i="0">
                <a:solidFill>
                  <a:srgbClr val="6B7684"/>
                </a:solidFill>
                <a:latin typeface="Arial"/>
                <a:ea typeface="Arial"/>
                <a:cs typeface="Arial"/>
              </a:rPr>
              <a:t>Suppl. Fig. 7c  ·  regional association at </a:t>
            </a:r>
            <a:r>
              <a:rPr sz="800" b="0" i="1">
                <a:solidFill>
                  <a:srgbClr val="6B7684"/>
                </a:solidFill>
                <a:latin typeface="Arial"/>
                <a:ea typeface="Arial"/>
                <a:cs typeface="Arial"/>
              </a:rPr>
              <a:t>AGXT2</a:t>
            </a:r>
            <a:r>
              <a:rPr sz="800" b="0" i="0">
                <a:solidFill>
                  <a:srgbClr val="6B7684"/>
                </a:solidFill>
                <a:latin typeface="Arial"/>
                <a:ea typeface="Arial"/>
                <a:cs typeface="Arial"/>
              </a:rPr>
              <a:t> (chr5p13) for the composite MetRS</a:t>
            </a:r>
          </a:p>
        </p:txBody>
      </p:sp>
      <p:sp>
        <p:nvSpPr>
          <p:cNvPr id="7" name="TextBox 6"/>
          <p:cNvSpPr txBox="1"/>
          <p:nvPr/>
        </p:nvSpPr>
        <p:spPr>
          <a:xfrm>
            <a:off x="4828032" y="1042415"/>
            <a:ext cx="3913632" cy="3429000"/>
          </a:xfrm>
          <a:prstGeom prst="rect">
            <a:avLst/>
          </a:prstGeom>
          <a:noFill/>
        </p:spPr>
        <p:txBody>
          <a:bodyPr wrap="square" lIns="0" tIns="0" rIns="0" bIns="0">
            <a:spAutoFit/>
          </a:bodyPr>
          <a:lstStyle/>
          <a:p>
            <a:pPr marL="146304" indent="-146304" algn="l">
              <a:lnSpc>
                <a:spcPct val="106000"/>
              </a:lnSpc>
              <a:spcBef>
                <a:spcPts val="0"/>
              </a:spcBef>
              <a:spcAft>
                <a:spcPts val="600"/>
              </a:spcAft>
              <a:buClr>
                <a:srgbClr val="178CCB"/>
              </a:buClr>
              <a:buSzPct val="95000"/>
              <a:buFont typeface="Arial"/>
              <a:buChar char="•"/>
            </a:pPr>
            <a:r>
              <a:rPr sz="1000" b="0" i="0">
                <a:solidFill>
                  <a:srgbClr val="2B3544"/>
                </a:solidFill>
                <a:latin typeface="Arial"/>
                <a:ea typeface="Arial"/>
                <a:cs typeface="Arial"/>
              </a:rPr>
              <a:t>BAIBA (β-aminoisobutyric acid): a myokine-like metabolite of valine, tied to fatty acid oxidation and insulin sensitivity</a:t>
            </a:r>
          </a:p>
          <a:p>
            <a:pPr marL="146304" indent="-146304" algn="l">
              <a:lnSpc>
                <a:spcPct val="106000"/>
              </a:lnSpc>
              <a:spcBef>
                <a:spcPts val="0"/>
              </a:spcBef>
              <a:spcAft>
                <a:spcPts val="600"/>
              </a:spcAft>
              <a:buClr>
                <a:srgbClr val="178CCB"/>
              </a:buClr>
              <a:buSzPct val="95000"/>
              <a:buFont typeface="Arial"/>
              <a:buChar char="•"/>
            </a:pPr>
            <a:r>
              <a:rPr sz="1000" b="0" i="0">
                <a:solidFill>
                  <a:srgbClr val="2B3544"/>
                </a:solidFill>
                <a:latin typeface="Arial"/>
                <a:ea typeface="Arial"/>
                <a:cs typeface="Arial"/>
              </a:rPr>
              <a:t>rs13174300 is associated with both the MetRS and BAIBA, and survives conditioning on three nearby BAIBA variants</a:t>
            </a:r>
          </a:p>
          <a:p>
            <a:pPr marL="146304" indent="-146304" algn="l">
              <a:lnSpc>
                <a:spcPct val="106000"/>
              </a:lnSpc>
              <a:spcBef>
                <a:spcPts val="0"/>
              </a:spcBef>
              <a:spcAft>
                <a:spcPts val="600"/>
              </a:spcAft>
              <a:buClr>
                <a:srgbClr val="178CCB"/>
              </a:buClr>
              <a:buSzPct val="95000"/>
              <a:buFont typeface="Arial"/>
              <a:buChar char="•"/>
            </a:pPr>
            <a:r>
              <a:rPr sz="1000" b="1" i="0">
                <a:solidFill>
                  <a:srgbClr val="2B3544"/>
                </a:solidFill>
                <a:latin typeface="Arial"/>
                <a:ea typeface="Arial"/>
                <a:cs typeface="Arial"/>
              </a:rPr>
              <a:t>Three</a:t>
            </a:r>
            <a:r>
              <a:rPr sz="1000" b="0" i="0">
                <a:solidFill>
                  <a:srgbClr val="2B3544"/>
                </a:solidFill>
                <a:latin typeface="Arial"/>
                <a:ea typeface="Arial"/>
                <a:cs typeface="Arial"/>
              </a:rPr>
              <a:t> more independent BAIBA signals: rs37376, rs163910, rs11749934</a:t>
            </a:r>
          </a:p>
          <a:p>
            <a:pPr marL="146304" indent="0" algn="l">
              <a:lnSpc>
                <a:spcPct val="106000"/>
              </a:lnSpc>
              <a:spcBef>
                <a:spcPts val="0"/>
              </a:spcBef>
              <a:spcAft>
                <a:spcPts val="600"/>
              </a:spcAft>
              <a:buNone/>
            </a:pPr>
            <a:r>
              <a:rPr sz="950" b="0" i="0">
                <a:solidFill>
                  <a:srgbClr val="6B7684"/>
                </a:solidFill>
                <a:latin typeface="Arial"/>
                <a:ea typeface="Arial"/>
                <a:cs typeface="Arial"/>
              </a:rPr>
              <a:t>All pairwise </a:t>
            </a:r>
            <a:r>
              <a:rPr sz="950" b="1" i="0">
                <a:solidFill>
                  <a:srgbClr val="6B7684"/>
                </a:solidFill>
                <a:latin typeface="Arial"/>
                <a:ea typeface="Arial"/>
                <a:cs typeface="Arial"/>
              </a:rPr>
              <a:t>r² &lt; 0.2</a:t>
            </a:r>
          </a:p>
          <a:p>
            <a:pPr marL="146304" indent="-146304" algn="l">
              <a:lnSpc>
                <a:spcPct val="106000"/>
              </a:lnSpc>
              <a:spcBef>
                <a:spcPts val="0"/>
              </a:spcBef>
              <a:spcAft>
                <a:spcPts val="600"/>
              </a:spcAft>
              <a:buClr>
                <a:srgbClr val="178CCB"/>
              </a:buClr>
              <a:buSzPct val="95000"/>
              <a:buFont typeface="Arial"/>
              <a:buChar char="•"/>
            </a:pPr>
            <a:r>
              <a:rPr sz="1000" b="0" i="1">
                <a:solidFill>
                  <a:srgbClr val="2B3544"/>
                </a:solidFill>
                <a:latin typeface="Arial"/>
                <a:ea typeface="Arial"/>
                <a:cs typeface="Arial"/>
              </a:rPr>
              <a:t>AGXT2</a:t>
            </a:r>
            <a:r>
              <a:rPr sz="1000" b="0" i="0">
                <a:solidFill>
                  <a:srgbClr val="2B3544"/>
                </a:solidFill>
                <a:latin typeface="Arial"/>
                <a:ea typeface="Arial"/>
                <a:cs typeface="Arial"/>
              </a:rPr>
              <a:t> encodes the enzyme that degrades BAIBA</a:t>
            </a:r>
          </a:p>
          <a:p>
            <a:pPr marL="146304" indent="-146304" algn="l">
              <a:lnSpc>
                <a:spcPct val="106000"/>
              </a:lnSpc>
              <a:spcBef>
                <a:spcPts val="0"/>
              </a:spcBef>
              <a:spcAft>
                <a:spcPts val="600"/>
              </a:spcAft>
              <a:buClr>
                <a:srgbClr val="178CCB"/>
              </a:buClr>
              <a:buSzPct val="95000"/>
              <a:buFont typeface="Arial"/>
              <a:buChar char="•"/>
            </a:pPr>
            <a:r>
              <a:rPr sz="1000" b="0" i="0">
                <a:solidFill>
                  <a:srgbClr val="2B3544"/>
                </a:solidFill>
                <a:latin typeface="Arial"/>
                <a:ea typeface="Arial"/>
                <a:cs typeface="Arial"/>
              </a:rPr>
              <a:t>rs13174300 is intronic, about </a:t>
            </a:r>
            <a:r>
              <a:rPr sz="1000" b="1" i="0">
                <a:solidFill>
                  <a:srgbClr val="2B3544"/>
                </a:solidFill>
                <a:latin typeface="Arial"/>
                <a:ea typeface="Arial"/>
                <a:cs typeface="Arial"/>
              </a:rPr>
              <a:t>39%</a:t>
            </a:r>
            <a:r>
              <a:rPr sz="1000" b="0" i="0">
                <a:solidFill>
                  <a:srgbClr val="2B3544"/>
                </a:solidFill>
                <a:latin typeface="Arial"/>
                <a:ea typeface="Arial"/>
                <a:cs typeface="Arial"/>
              </a:rPr>
              <a:t> frequency in non-Finnish Europeans</a:t>
            </a:r>
          </a:p>
          <a:p>
            <a:pPr marL="146304" indent="0" algn="l">
              <a:lnSpc>
                <a:spcPct val="106000"/>
              </a:lnSpc>
              <a:spcBef>
                <a:spcPts val="0"/>
              </a:spcBef>
              <a:spcAft>
                <a:spcPts val="600"/>
              </a:spcAft>
              <a:buNone/>
            </a:pPr>
            <a:r>
              <a:rPr sz="950" b="0" i="0">
                <a:solidFill>
                  <a:srgbClr val="6B7684"/>
                </a:solidFill>
                <a:latin typeface="Arial"/>
                <a:ea typeface="Arial"/>
                <a:cs typeface="Arial"/>
              </a:rPr>
              <a:t>Much rarer in African (</a:t>
            </a:r>
            <a:r>
              <a:rPr sz="950" b="1" i="0">
                <a:solidFill>
                  <a:srgbClr val="6B7684"/>
                </a:solidFill>
                <a:latin typeface="Arial"/>
                <a:ea typeface="Arial"/>
                <a:cs typeface="Arial"/>
              </a:rPr>
              <a:t>17%</a:t>
            </a:r>
            <a:r>
              <a:rPr sz="950" b="0" i="0">
                <a:solidFill>
                  <a:srgbClr val="6B7684"/>
                </a:solidFill>
                <a:latin typeface="Arial"/>
                <a:ea typeface="Arial"/>
                <a:cs typeface="Arial"/>
              </a:rPr>
              <a:t>) and East Asian (</a:t>
            </a:r>
            <a:r>
              <a:rPr sz="950" b="1" i="0">
                <a:solidFill>
                  <a:srgbClr val="6B7684"/>
                </a:solidFill>
                <a:latin typeface="Arial"/>
                <a:ea typeface="Arial"/>
                <a:cs typeface="Arial"/>
              </a:rPr>
              <a:t>12%</a:t>
            </a:r>
            <a:r>
              <a:rPr sz="950" b="0" i="0">
                <a:solidFill>
                  <a:srgbClr val="6B7684"/>
                </a:solidFill>
                <a:latin typeface="Arial"/>
                <a:ea typeface="Arial"/>
                <a:cs typeface="Arial"/>
              </a:rPr>
              <a:t>) ancestries</a:t>
            </a:r>
          </a:p>
          <a:p>
            <a:pPr marL="146304" indent="-146304" algn="l">
              <a:lnSpc>
                <a:spcPct val="106000"/>
              </a:lnSpc>
              <a:spcBef>
                <a:spcPts val="0"/>
              </a:spcBef>
              <a:spcAft>
                <a:spcPts val="600"/>
              </a:spcAft>
              <a:buClr>
                <a:srgbClr val="178CCB"/>
              </a:buClr>
              <a:buSzPct val="95000"/>
              <a:buFont typeface="Arial"/>
              <a:buChar char="•"/>
            </a:pPr>
            <a:r>
              <a:rPr sz="1000" b="0" i="0">
                <a:solidFill>
                  <a:srgbClr val="2B3544"/>
                </a:solidFill>
                <a:latin typeface="Arial"/>
                <a:ea typeface="Arial"/>
                <a:cs typeface="Arial"/>
              </a:rPr>
              <a:t>Phenome-wide hits: age at menarche and serum triglycerides</a:t>
            </a:r>
          </a:p>
          <a:p>
            <a:pPr marL="146304" indent="-146304" algn="l">
              <a:lnSpc>
                <a:spcPct val="106000"/>
              </a:lnSpc>
              <a:spcBef>
                <a:spcPts val="0"/>
              </a:spcBef>
              <a:spcAft>
                <a:spcPts val="600"/>
              </a:spcAft>
              <a:buClr>
                <a:srgbClr val="178CCB"/>
              </a:buClr>
              <a:buSzPct val="95000"/>
              <a:buFont typeface="Arial"/>
              <a:buChar char="•"/>
            </a:pPr>
            <a:r>
              <a:rPr sz="1000" b="1" i="0">
                <a:solidFill>
                  <a:srgbClr val="052049"/>
                </a:solidFill>
                <a:latin typeface="Arial"/>
                <a:ea typeface="Arial"/>
                <a:cs typeface="Arial"/>
              </a:rPr>
              <a:t>Part of the signature is inherited, not acquired</a:t>
            </a:r>
          </a:p>
        </p:txBody>
      </p:sp>
      <p:sp>
        <p:nvSpPr>
          <p:cNvPr id="8" name="TextBox 7"/>
          <p:cNvSpPr txBox="1"/>
          <p:nvPr/>
        </p:nvSpPr>
        <p:spPr>
          <a:xfrm>
            <a:off x="457200" y="4727448"/>
            <a:ext cx="6949440" cy="274320"/>
          </a:xfrm>
          <a:prstGeom prst="rect">
            <a:avLst/>
          </a:prstGeom>
          <a:noFill/>
        </p:spPr>
        <p:txBody>
          <a:bodyPr wrap="square" lIns="0" tIns="0" rIns="0" bIns="0">
            <a:spAutoFit/>
          </a:bodyPr>
          <a:lstStyle/>
          <a:p>
            <a:pPr algn="l">
              <a:lnSpc>
                <a:spcPct val="105000"/>
              </a:lnSpc>
              <a:spcBef>
                <a:spcPts val="0"/>
              </a:spcBef>
              <a:spcAft>
                <a:spcPts val="0"/>
              </a:spcAft>
            </a:pPr>
            <a:r>
              <a:rPr sz="750" b="0" i="1">
                <a:solidFill>
                  <a:srgbClr val="9AA5B1"/>
                </a:solidFill>
                <a:latin typeface="Arial"/>
                <a:ea typeface="Arial"/>
                <a:cs typeface="Arial"/>
              </a:rPr>
              <a:t>Lüneburg et al., Circulation 2014 (AGXT2 and BAIBA); gnomAD v4; HugeAMP; UK Biobank PheWeb.</a:t>
            </a:r>
          </a:p>
        </p:txBody>
      </p:sp>
      <p:pic>
        <p:nvPicPr>
          <p:cNvPr id="9" name="Picture 8" descr="image.png"/>
          <p:cNvPicPr>
            <a:picLocks noChangeAspect="1"/>
          </p:cNvPicPr>
          <p:nvPr/>
        </p:nvPicPr>
        <p:blipFill>
          <a:blip r:embed="rId4"/>
          <a:stretch>
            <a:fillRect/>
          </a:stretch>
        </p:blipFill>
        <p:spPr>
          <a:xfrm>
            <a:off x="8247888" y="4530852"/>
            <a:ext cx="694944" cy="448970"/>
          </a:xfrm>
          <a:prstGeom prst="rect">
            <a:avLst/>
          </a:prstGeom>
        </p:spPr>
      </p:pic>
      <p:sp>
        <p:nvSpPr>
          <p:cNvPr id="10" name="TextBox 9"/>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03720" cy="566928"/>
          </a:xfrm>
          <a:prstGeom prst="rect">
            <a:avLst/>
          </a:prstGeom>
          <a:noFill/>
        </p:spPr>
        <p:txBody>
          <a:bodyPr wrap="square" lIns="0" tIns="0" rIns="0" bIns="0" anchor="ctr">
            <a:spAutoFit/>
          </a:bodyPr>
          <a:lstStyle/>
          <a:p>
            <a:pPr algn="l">
              <a:lnSpc>
                <a:spcPct val="95000"/>
              </a:lnSpc>
              <a:spcBef>
                <a:spcPts val="0"/>
              </a:spcBef>
              <a:spcAft>
                <a:spcPts val="0"/>
              </a:spcAft>
            </a:pPr>
            <a:r>
              <a:rPr sz="2400" b="1" i="0">
                <a:solidFill>
                  <a:srgbClr val="052049"/>
                </a:solidFill>
                <a:latin typeface="Arial"/>
                <a:ea typeface="Arial"/>
                <a:cs typeface="Arial"/>
              </a:rPr>
              <a:t>Conclusions</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lIns="0" tIns="0" rIns="0" bIns="0">
            <a:spAutoFit/>
          </a:bodyPr>
          <a:lstStyle/>
          <a:p>
            <a:pPr algn="r">
              <a:spcBef>
                <a:spcPts val="0"/>
              </a:spcBef>
              <a:spcAft>
                <a:spcPts val="0"/>
              </a:spcAft>
            </a:pPr>
            <a:r>
              <a:rPr sz="950" b="0" i="0">
                <a:solidFill>
                  <a:srgbClr val="9AA5B1"/>
                </a:solidFill>
                <a:latin typeface="Arial"/>
                <a:ea typeface="Arial"/>
                <a:cs typeface="Arial"/>
              </a:rPr>
              <a:t>Toward precision bariatrics</a:t>
            </a:r>
          </a:p>
        </p:txBody>
      </p:sp>
      <p:sp>
        <p:nvSpPr>
          <p:cNvPr id="5" name="TextBox 4"/>
          <p:cNvSpPr txBox="1"/>
          <p:nvPr/>
        </p:nvSpPr>
        <p:spPr>
          <a:xfrm>
            <a:off x="457200" y="1417320"/>
            <a:ext cx="8275320" cy="2103120"/>
          </a:xfrm>
          <a:prstGeom prst="rect">
            <a:avLst/>
          </a:prstGeom>
          <a:noFill/>
        </p:spPr>
        <p:txBody>
          <a:bodyPr wrap="square" lIns="0" tIns="0" rIns="0" bIns="0">
            <a:spAutoFit/>
          </a:bodyPr>
          <a:lstStyle/>
          <a:p>
            <a:pPr marL="146304" indent="-146304" algn="l">
              <a:lnSpc>
                <a:spcPct val="106000"/>
              </a:lnSpc>
              <a:spcBef>
                <a:spcPts val="0"/>
              </a:spcBef>
              <a:spcAft>
                <a:spcPts val="1000"/>
              </a:spcAft>
              <a:buClr>
                <a:srgbClr val="178CCB"/>
              </a:buClr>
              <a:buSzPct val="95000"/>
              <a:buFont typeface="Arial"/>
              <a:buChar char="•"/>
            </a:pPr>
            <a:r>
              <a:rPr sz="1200" b="1" i="0">
                <a:solidFill>
                  <a:srgbClr val="2B3544"/>
                </a:solidFill>
                <a:latin typeface="Arial"/>
                <a:ea typeface="Arial"/>
                <a:cs typeface="Arial"/>
              </a:rPr>
              <a:t>Thirteen</a:t>
            </a:r>
            <a:r>
              <a:rPr sz="1200" b="0" i="0">
                <a:solidFill>
                  <a:srgbClr val="2B3544"/>
                </a:solidFill>
                <a:latin typeface="Arial"/>
                <a:ea typeface="Arial"/>
                <a:cs typeface="Arial"/>
              </a:rPr>
              <a:t> preoperative metabolites predict </a:t>
            </a:r>
            <a:r>
              <a:rPr sz="1200" b="1" i="0">
                <a:solidFill>
                  <a:srgbClr val="2B3544"/>
                </a:solidFill>
                <a:latin typeface="Arial"/>
                <a:ea typeface="Arial"/>
                <a:cs typeface="Arial"/>
              </a:rPr>
              <a:t>five-year</a:t>
            </a:r>
            <a:r>
              <a:rPr sz="1200" b="0" i="0">
                <a:solidFill>
                  <a:srgbClr val="2B3544"/>
                </a:solidFill>
                <a:latin typeface="Arial"/>
                <a:ea typeface="Arial"/>
                <a:cs typeface="Arial"/>
              </a:rPr>
              <a:t> weight trajectory after RYGB</a:t>
            </a:r>
          </a:p>
          <a:p>
            <a:pPr marL="146304" indent="-146304" algn="l">
              <a:lnSpc>
                <a:spcPct val="106000"/>
              </a:lnSpc>
              <a:spcBef>
                <a:spcPts val="0"/>
              </a:spcBef>
              <a:spcAft>
                <a:spcPts val="1000"/>
              </a:spcAft>
              <a:buClr>
                <a:srgbClr val="178CCB"/>
              </a:buClr>
              <a:buSzPct val="95000"/>
              <a:buFont typeface="Arial"/>
              <a:buChar char="•"/>
            </a:pPr>
            <a:r>
              <a:rPr sz="1200" b="0" i="0">
                <a:solidFill>
                  <a:srgbClr val="2B3544"/>
                </a:solidFill>
                <a:latin typeface="Arial"/>
                <a:ea typeface="Arial"/>
                <a:cs typeface="Arial"/>
              </a:rPr>
              <a:t>The score adds to what clinical variables already give: AUC </a:t>
            </a:r>
            <a:r>
              <a:rPr sz="1200" b="1" i="0">
                <a:solidFill>
                  <a:srgbClr val="2B3544"/>
                </a:solidFill>
                <a:latin typeface="Arial"/>
                <a:ea typeface="Arial"/>
                <a:cs typeface="Arial"/>
              </a:rPr>
              <a:t>0.60 to 0.74</a:t>
            </a:r>
          </a:p>
          <a:p>
            <a:pPr marL="146304" indent="-146304" algn="l">
              <a:lnSpc>
                <a:spcPct val="106000"/>
              </a:lnSpc>
              <a:spcBef>
                <a:spcPts val="0"/>
              </a:spcBef>
              <a:spcAft>
                <a:spcPts val="1000"/>
              </a:spcAft>
              <a:buClr>
                <a:srgbClr val="178CCB"/>
              </a:buClr>
              <a:buSzPct val="95000"/>
              <a:buFont typeface="Arial"/>
              <a:buChar char="•"/>
            </a:pPr>
            <a:r>
              <a:rPr sz="1200" b="0" i="0">
                <a:solidFill>
                  <a:srgbClr val="2B3544"/>
                </a:solidFill>
                <a:latin typeface="Arial"/>
                <a:ea typeface="Arial"/>
                <a:cs typeface="Arial"/>
              </a:rPr>
              <a:t>It replicated in an independent post-RYGB cohort </a:t>
            </a:r>
            <a:r>
              <a:rPr sz="1200" b="1" i="0">
                <a:solidFill>
                  <a:srgbClr val="2B3544"/>
                </a:solidFill>
                <a:latin typeface="Arial"/>
                <a:ea typeface="Arial"/>
                <a:cs typeface="Arial"/>
              </a:rPr>
              <a:t>seven years</a:t>
            </a:r>
            <a:r>
              <a:rPr sz="1200" b="0" i="0">
                <a:solidFill>
                  <a:srgbClr val="2B3544"/>
                </a:solidFill>
                <a:latin typeface="Arial"/>
                <a:ea typeface="Arial"/>
                <a:cs typeface="Arial"/>
              </a:rPr>
              <a:t> after surgery</a:t>
            </a:r>
          </a:p>
          <a:p>
            <a:pPr marL="146304" indent="-146304" algn="l">
              <a:lnSpc>
                <a:spcPct val="106000"/>
              </a:lnSpc>
              <a:spcBef>
                <a:spcPts val="0"/>
              </a:spcBef>
              <a:spcAft>
                <a:spcPts val="1000"/>
              </a:spcAft>
              <a:buClr>
                <a:srgbClr val="178CCB"/>
              </a:buClr>
              <a:buSzPct val="95000"/>
              <a:buFont typeface="Arial"/>
              <a:buChar char="•"/>
            </a:pPr>
            <a:r>
              <a:rPr sz="1200" b="0" i="0">
                <a:solidFill>
                  <a:srgbClr val="2B3544"/>
                </a:solidFill>
                <a:latin typeface="Arial"/>
                <a:ea typeface="Arial"/>
                <a:cs typeface="Arial"/>
              </a:rPr>
              <a:t>It also tracks obesity in people who never had surgery</a:t>
            </a:r>
          </a:p>
          <a:p>
            <a:pPr marL="146304" indent="-146304" algn="l">
              <a:lnSpc>
                <a:spcPct val="106000"/>
              </a:lnSpc>
              <a:spcBef>
                <a:spcPts val="0"/>
              </a:spcBef>
              <a:spcAft>
                <a:spcPts val="1000"/>
              </a:spcAft>
              <a:buClr>
                <a:srgbClr val="178CCB"/>
              </a:buClr>
              <a:buSzPct val="95000"/>
              <a:buFont typeface="Arial"/>
              <a:buChar char="•"/>
            </a:pPr>
            <a:r>
              <a:rPr sz="1200" b="0" i="0">
                <a:solidFill>
                  <a:srgbClr val="2B3544"/>
                </a:solidFill>
                <a:latin typeface="Arial"/>
                <a:ea typeface="Arial"/>
                <a:cs typeface="Arial"/>
              </a:rPr>
              <a:t>The metabolites organise into </a:t>
            </a:r>
            <a:r>
              <a:rPr sz="1200" b="1" i="0">
                <a:solidFill>
                  <a:srgbClr val="2B3544"/>
                </a:solidFill>
                <a:latin typeface="Arial"/>
                <a:ea typeface="Arial"/>
                <a:cs typeface="Arial"/>
              </a:rPr>
              <a:t>four axes</a:t>
            </a:r>
            <a:r>
              <a:rPr sz="1200" b="0" i="0">
                <a:solidFill>
                  <a:srgbClr val="2B3544"/>
                </a:solidFill>
                <a:latin typeface="Arial"/>
                <a:ea typeface="Arial"/>
                <a:cs typeface="Arial"/>
              </a:rPr>
              <a:t> that already have drugs: bile acid and GLP-1, tryptophan, fatty acid oxidation, nitric oxide</a:t>
            </a:r>
          </a:p>
          <a:p>
            <a:pPr marL="146304" indent="-146304" algn="l">
              <a:lnSpc>
                <a:spcPct val="106000"/>
              </a:lnSpc>
              <a:spcBef>
                <a:spcPts val="0"/>
              </a:spcBef>
              <a:spcAft>
                <a:spcPts val="1000"/>
              </a:spcAft>
              <a:buClr>
                <a:srgbClr val="178CCB"/>
              </a:buClr>
              <a:buSzPct val="95000"/>
              <a:buFont typeface="Arial"/>
              <a:buChar char="•"/>
            </a:pPr>
            <a:r>
              <a:rPr sz="1200" b="0" i="0">
                <a:solidFill>
                  <a:srgbClr val="2B3544"/>
                </a:solidFill>
                <a:latin typeface="Arial"/>
                <a:ea typeface="Arial"/>
                <a:cs typeface="Arial"/>
              </a:rPr>
              <a:t>Genome-wide signals at </a:t>
            </a:r>
            <a:r>
              <a:rPr sz="1200" b="0" i="1">
                <a:solidFill>
                  <a:srgbClr val="2B3544"/>
                </a:solidFill>
                <a:latin typeface="Arial"/>
                <a:ea typeface="Arial"/>
                <a:cs typeface="Arial"/>
              </a:rPr>
              <a:t>AGXT2</a:t>
            </a:r>
            <a:r>
              <a:rPr sz="1200" b="0" i="0">
                <a:solidFill>
                  <a:srgbClr val="2B3544"/>
                </a:solidFill>
                <a:latin typeface="Arial"/>
                <a:ea typeface="Arial"/>
                <a:cs typeface="Arial"/>
              </a:rPr>
              <a:t>, </a:t>
            </a:r>
            <a:r>
              <a:rPr sz="1200" b="0" i="1">
                <a:solidFill>
                  <a:srgbClr val="2B3544"/>
                </a:solidFill>
                <a:latin typeface="Arial"/>
                <a:ea typeface="Arial"/>
                <a:cs typeface="Arial"/>
              </a:rPr>
              <a:t>SLC7A5</a:t>
            </a:r>
            <a:r>
              <a:rPr sz="1200" b="0" i="0">
                <a:solidFill>
                  <a:srgbClr val="2B3544"/>
                </a:solidFill>
                <a:latin typeface="Arial"/>
                <a:ea typeface="Arial"/>
                <a:cs typeface="Arial"/>
              </a:rPr>
              <a:t>, </a:t>
            </a:r>
            <a:r>
              <a:rPr sz="1200" b="0" i="1">
                <a:solidFill>
                  <a:srgbClr val="2B3544"/>
                </a:solidFill>
                <a:latin typeface="Arial"/>
                <a:ea typeface="Arial"/>
                <a:cs typeface="Arial"/>
              </a:rPr>
              <a:t>LINC00351</a:t>
            </a:r>
            <a:r>
              <a:rPr sz="1200" b="0" i="0">
                <a:solidFill>
                  <a:srgbClr val="2B3544"/>
                </a:solidFill>
                <a:latin typeface="Arial"/>
                <a:ea typeface="Arial"/>
                <a:cs typeface="Arial"/>
              </a:rPr>
              <a:t> and </a:t>
            </a:r>
            <a:r>
              <a:rPr sz="1200" b="0" i="1">
                <a:solidFill>
                  <a:srgbClr val="2B3544"/>
                </a:solidFill>
                <a:latin typeface="Arial"/>
                <a:ea typeface="Arial"/>
                <a:cs typeface="Arial"/>
              </a:rPr>
              <a:t>FADS2</a:t>
            </a:r>
            <a:r>
              <a:rPr sz="1200" b="0" i="0">
                <a:solidFill>
                  <a:srgbClr val="2B3544"/>
                </a:solidFill>
                <a:latin typeface="Arial"/>
                <a:ea typeface="Arial"/>
                <a:cs typeface="Arial"/>
              </a:rPr>
              <a:t> point to an inherited component</a:t>
            </a:r>
          </a:p>
        </p:txBody>
      </p:sp>
      <p:pic>
        <p:nvPicPr>
          <p:cNvPr id="7" name="Picture 6" descr="image.png"/>
          <p:cNvPicPr>
            <a:picLocks noChangeAspect="1"/>
          </p:cNvPicPr>
          <p:nvPr/>
        </p:nvPicPr>
        <p:blipFill>
          <a:blip r:embed="rId3"/>
          <a:stretch>
            <a:fillRect/>
          </a:stretch>
        </p:blipFill>
        <p:spPr>
          <a:xfrm>
            <a:off x="8247888" y="4530852"/>
            <a:ext cx="694944" cy="448970"/>
          </a:xfrm>
          <a:prstGeom prst="rect">
            <a:avLst/>
          </a:prstGeom>
        </p:spPr>
      </p:pic>
      <p:sp>
        <p:nvSpPr>
          <p:cNvPr id="8" name="TextBox 7"/>
          <p:cNvSpPr txBox="1"/>
          <p:nvPr/>
        </p:nvSpPr>
        <p:spPr>
          <a:xfrm>
            <a:off x="7543800" y="4754880"/>
            <a:ext cx="548640" cy="201168"/>
          </a:xfrm>
          <a:prstGeom prst="rect">
            <a:avLst/>
          </a:prstGeom>
          <a:noFill/>
        </p:spPr>
        <p:txBody>
          <a:bodyPr wrap="square" lIns="0" tIns="0" rIns="0" bIns="0">
            <a:spAutoFit/>
          </a:bodyPr>
          <a:lstStyle/>
          <a:p>
            <a:pPr algn="r">
              <a:spcBef>
                <a:spcPts val="0"/>
              </a:spcBef>
              <a:spcAft>
                <a:spcPts val="0"/>
              </a:spcAft>
            </a:pPr>
            <a:r>
              <a:rPr sz="900" b="0" i="0">
                <a:solidFill>
                  <a:srgbClr val="9AA5B1"/>
                </a:solidFill>
                <a:latin typeface="Arial"/>
                <a:ea typeface="Arial"/>
                <a:cs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6903720" cy="566928"/>
          </a:xfrm>
          <a:prstGeom prst="rect">
            <a:avLst/>
          </a:prstGeom>
          <a:noFill/>
        </p:spPr>
        <p:txBody>
          <a:bodyPr wrap="square">
            <a:spAutoFit/>
          </a:bodyPr>
          <a:lstStyle/>
          <a:p>
            <a:r>
              <a:rPr sz="2400" b="1" i="0">
                <a:solidFill>
                  <a:srgbClr val="052049"/>
                </a:solidFill>
                <a:latin typeface="Arial"/>
              </a:rPr>
              <a:t>Acknowledgements</a:t>
            </a:r>
          </a:p>
        </p:txBody>
      </p:sp>
      <p:sp>
        <p:nvSpPr>
          <p:cNvPr id="3" name="Rectangle 2"/>
          <p:cNvSpPr/>
          <p:nvPr/>
        </p:nvSpPr>
        <p:spPr>
          <a:xfrm>
            <a:off x="457200" y="850392"/>
            <a:ext cx="713232" cy="34747"/>
          </a:xfrm>
          <a:prstGeom prst="rect">
            <a:avLst/>
          </a:prstGeom>
          <a:solidFill>
            <a:srgbClr val="178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0" y="329184"/>
            <a:ext cx="3182112" cy="274320"/>
          </a:xfrm>
          <a:prstGeom prst="rect">
            <a:avLst/>
          </a:prstGeom>
          <a:noFill/>
        </p:spPr>
        <p:txBody>
          <a:bodyPr wrap="square">
            <a:spAutoFit/>
          </a:bodyPr>
          <a:lstStyle/>
          <a:p>
            <a:pPr algn="r"/>
            <a:r>
              <a:rPr sz="950" b="0" i="0">
                <a:solidFill>
                  <a:srgbClr val="9AA5B1"/>
                </a:solidFill>
                <a:latin typeface="Arial"/>
              </a:rPr>
              <a:t>Thank you</a:t>
            </a:r>
          </a:p>
        </p:txBody>
      </p:sp>
      <p:pic>
        <p:nvPicPr>
          <p:cNvPr id="5" name="Picture 4" descr="collage_baranzini.png"/>
          <p:cNvPicPr>
            <a:picLocks noChangeAspect="1"/>
          </p:cNvPicPr>
          <p:nvPr/>
        </p:nvPicPr>
        <p:blipFill>
          <a:blip r:embed="rId2"/>
          <a:stretch>
            <a:fillRect/>
          </a:stretch>
        </p:blipFill>
        <p:spPr>
          <a:xfrm>
            <a:off x="411480" y="1188720"/>
            <a:ext cx="4480560" cy="3218688"/>
          </a:xfrm>
          <a:prstGeom prst="rect">
            <a:avLst/>
          </a:prstGeom>
        </p:spPr>
      </p:pic>
      <p:sp>
        <p:nvSpPr>
          <p:cNvPr id="6" name="TextBox 5"/>
          <p:cNvSpPr txBox="1"/>
          <p:nvPr/>
        </p:nvSpPr>
        <p:spPr>
          <a:xfrm>
            <a:off x="411480" y="4480560"/>
            <a:ext cx="4526280" cy="457200"/>
          </a:xfrm>
          <a:prstGeom prst="rect">
            <a:avLst/>
          </a:prstGeom>
          <a:noFill/>
        </p:spPr>
        <p:txBody>
          <a:bodyPr wrap="square">
            <a:spAutoFit/>
          </a:bodyPr>
          <a:lstStyle/>
          <a:p>
            <a:r>
              <a:rPr sz="1050" b="1" i="0">
                <a:solidFill>
                  <a:srgbClr val="2B3544"/>
                </a:solidFill>
                <a:latin typeface="Arial"/>
              </a:rPr>
              <a:t>Baranzini Lab</a:t>
            </a:r>
          </a:p>
          <a:p>
            <a:r>
              <a:rPr sz="850" b="0" i="0">
                <a:solidFill>
                  <a:srgbClr val="6B7684"/>
                </a:solidFill>
                <a:latin typeface="Arial"/>
              </a:rPr>
              <a:t>Department of Neurology, Weill Institute for Neurosciences, UC San Francisco</a:t>
            </a:r>
          </a:p>
        </p:txBody>
      </p:sp>
      <p:sp>
        <p:nvSpPr>
          <p:cNvPr id="7" name="TextBox 6"/>
          <p:cNvSpPr txBox="1"/>
          <p:nvPr/>
        </p:nvSpPr>
        <p:spPr>
          <a:xfrm>
            <a:off x="5230368" y="1060704"/>
            <a:ext cx="3520440" cy="274320"/>
          </a:xfrm>
          <a:prstGeom prst="rect">
            <a:avLst/>
          </a:prstGeom>
          <a:noFill/>
        </p:spPr>
        <p:txBody>
          <a:bodyPr wrap="square">
            <a:spAutoFit/>
          </a:bodyPr>
          <a:lstStyle/>
          <a:p>
            <a:r>
              <a:rPr sz="1050" b="1" i="0">
                <a:solidFill>
                  <a:srgbClr val="052049"/>
                </a:solidFill>
                <a:latin typeface="Arial"/>
              </a:rPr>
              <a:t>With thanks to every member of</a:t>
            </a:r>
          </a:p>
        </p:txBody>
      </p:sp>
      <p:pic>
        <p:nvPicPr>
          <p:cNvPr id="8" name="Picture 7" descr="thaker.png"/>
          <p:cNvPicPr>
            <a:picLocks noChangeAspect="1"/>
          </p:cNvPicPr>
          <p:nvPr/>
        </p:nvPicPr>
        <p:blipFill>
          <a:blip r:embed="rId3"/>
          <a:stretch>
            <a:fillRect/>
          </a:stretch>
        </p:blipFill>
        <p:spPr>
          <a:xfrm>
            <a:off x="5230368" y="1481328"/>
            <a:ext cx="1115568" cy="1115568"/>
          </a:xfrm>
          <a:prstGeom prst="rect">
            <a:avLst/>
          </a:prstGeom>
        </p:spPr>
      </p:pic>
      <p:sp>
        <p:nvSpPr>
          <p:cNvPr id="9" name="TextBox 8"/>
          <p:cNvSpPr txBox="1"/>
          <p:nvPr/>
        </p:nvSpPr>
        <p:spPr>
          <a:xfrm>
            <a:off x="6455664" y="1463040"/>
            <a:ext cx="2331720" cy="1152144"/>
          </a:xfrm>
          <a:prstGeom prst="rect">
            <a:avLst/>
          </a:prstGeom>
          <a:noFill/>
        </p:spPr>
        <p:txBody>
          <a:bodyPr wrap="square" anchor="ctr">
            <a:spAutoFit/>
          </a:bodyPr>
          <a:lstStyle/>
          <a:p>
            <a:r>
              <a:rPr sz="1100" b="1" i="0">
                <a:solidFill>
                  <a:srgbClr val="2B3544"/>
                </a:solidFill>
                <a:latin typeface="Arial"/>
              </a:rPr>
              <a:t>Thaker Lab</a:t>
            </a:r>
          </a:p>
          <a:p>
            <a:r>
              <a:rPr sz="850" b="0" i="0">
                <a:solidFill>
                  <a:srgbClr val="6B7684"/>
                </a:solidFill>
                <a:latin typeface="Arial"/>
              </a:rPr>
              <a:t>Vidhu Thaker, MD · Pediatric endocrinology</a:t>
            </a:r>
          </a:p>
          <a:p>
            <a:r>
              <a:rPr sz="850" b="0" i="0">
                <a:solidFill>
                  <a:srgbClr val="6B7684"/>
                </a:solidFill>
                <a:latin typeface="Arial"/>
              </a:rPr>
              <a:t>Columbia University</a:t>
            </a:r>
          </a:p>
          <a:p>
            <a:r>
              <a:rPr sz="850" b="0" i="1">
                <a:solidFill>
                  <a:srgbClr val="6B7684"/>
                </a:solidFill>
                <a:latin typeface="Arial"/>
              </a:rPr>
              <a:t>whose collaboration made this study possible</a:t>
            </a:r>
          </a:p>
        </p:txBody>
      </p:sp>
      <p:pic>
        <p:nvPicPr>
          <p:cNvPr id="10" name="Picture 9" descr="salem.png"/>
          <p:cNvPicPr>
            <a:picLocks noChangeAspect="1"/>
          </p:cNvPicPr>
          <p:nvPr/>
        </p:nvPicPr>
        <p:blipFill>
          <a:blip r:embed="rId4"/>
          <a:stretch>
            <a:fillRect/>
          </a:stretch>
        </p:blipFill>
        <p:spPr>
          <a:xfrm>
            <a:off x="5230368" y="2880360"/>
            <a:ext cx="1389888" cy="1042415"/>
          </a:xfrm>
          <a:prstGeom prst="rect">
            <a:avLst/>
          </a:prstGeom>
        </p:spPr>
      </p:pic>
      <p:sp>
        <p:nvSpPr>
          <p:cNvPr id="11" name="TextBox 10"/>
          <p:cNvSpPr txBox="1"/>
          <p:nvPr/>
        </p:nvSpPr>
        <p:spPr>
          <a:xfrm>
            <a:off x="6729984" y="2880360"/>
            <a:ext cx="2057400" cy="1060704"/>
          </a:xfrm>
          <a:prstGeom prst="rect">
            <a:avLst/>
          </a:prstGeom>
          <a:noFill/>
        </p:spPr>
        <p:txBody>
          <a:bodyPr wrap="square" anchor="ctr">
            <a:spAutoFit/>
          </a:bodyPr>
          <a:lstStyle/>
          <a:p>
            <a:r>
              <a:rPr sz="1100" b="1" i="0">
                <a:solidFill>
                  <a:srgbClr val="2B3544"/>
                </a:solidFill>
                <a:latin typeface="Arial"/>
              </a:rPr>
              <a:t>Salem Lab</a:t>
            </a:r>
          </a:p>
          <a:p>
            <a:r>
              <a:rPr sz="850" b="0" i="0">
                <a:solidFill>
                  <a:srgbClr val="6B7684"/>
                </a:solidFill>
                <a:latin typeface="Arial"/>
              </a:rPr>
              <a:t>Herbert Wertheim School of Public Health and Human Longevity Science, UC San Diego</a:t>
            </a:r>
          </a:p>
        </p:txBody>
      </p:sp>
      <p:sp>
        <p:nvSpPr>
          <p:cNvPr id="12" name="TextBox 11"/>
          <p:cNvSpPr txBox="1"/>
          <p:nvPr/>
        </p:nvSpPr>
        <p:spPr>
          <a:xfrm>
            <a:off x="5230368" y="4160520"/>
            <a:ext cx="3520440" cy="274320"/>
          </a:xfrm>
          <a:prstGeom prst="rect">
            <a:avLst/>
          </a:prstGeom>
          <a:noFill/>
        </p:spPr>
        <p:txBody>
          <a:bodyPr wrap="square">
            <a:spAutoFit/>
          </a:bodyPr>
          <a:lstStyle/>
          <a:p>
            <a:r>
              <a:rPr sz="850" b="0" i="1">
                <a:solidFill>
                  <a:srgbClr val="9AA5B1"/>
                </a:solidFill>
                <a:latin typeface="Arial"/>
              </a:rPr>
              <a:t>and the LABS-2 participants and study teams</a:t>
            </a:r>
          </a:p>
        </p:txBody>
      </p:sp>
      <p:pic>
        <p:nvPicPr>
          <p:cNvPr id="13" name="Picture 12" descr="image.png"/>
          <p:cNvPicPr>
            <a:picLocks noChangeAspect="1"/>
          </p:cNvPicPr>
          <p:nvPr/>
        </p:nvPicPr>
        <p:blipFill>
          <a:blip r:embed="rId5"/>
          <a:stretch>
            <a:fillRect/>
          </a:stretch>
        </p:blipFill>
        <p:spPr>
          <a:xfrm>
            <a:off x="8247888" y="4530852"/>
            <a:ext cx="694944" cy="448056"/>
          </a:xfrm>
          <a:prstGeom prst="rect">
            <a:avLst/>
          </a:prstGeom>
        </p:spPr>
      </p:pic>
      <p:sp>
        <p:nvSpPr>
          <p:cNvPr id="14" name="TextBox 13"/>
          <p:cNvSpPr txBox="1"/>
          <p:nvPr/>
        </p:nvSpPr>
        <p:spPr>
          <a:xfrm>
            <a:off x="7543800" y="4754880"/>
            <a:ext cx="548640" cy="201168"/>
          </a:xfrm>
          <a:prstGeom prst="rect">
            <a:avLst/>
          </a:prstGeom>
          <a:noFill/>
        </p:spPr>
        <p:txBody>
          <a:bodyPr wrap="square">
            <a:spAutoFit/>
          </a:bodyPr>
          <a:lstStyle/>
          <a:p>
            <a:r>
              <a:rPr sz="900" b="0" i="0">
                <a:solidFill>
                  <a:srgbClr val="9AA5B1"/>
                </a:solidFill>
                <a:latin typeface="Arial"/>
              </a:rPr>
              <a:t>21</a:t>
            </a:r>
          </a:p>
        </p:txBody>
      </p:sp>
    </p:spTree>
  </p:cSld>
  <p:clrMapOvr>
    <a:masterClrMapping/>
  </p:clrMapOvr>
</p:sld>
</file>

<file path=ppt/theme/theme1.xml><?xml version="1.0" encoding="utf-8"?>
<a:theme xmlns:a="http://schemas.openxmlformats.org/drawingml/2006/main" name="UCSF Classic">
  <a:themeElements>
    <a:clrScheme name="USCF Template">
      <a:dk1>
        <a:srgbClr val="052049"/>
      </a:dk1>
      <a:lt1>
        <a:srgbClr val="FFFFFF"/>
      </a:lt1>
      <a:dk2>
        <a:srgbClr val="052049"/>
      </a:dk2>
      <a:lt2>
        <a:srgbClr val="FFFFFF"/>
      </a:lt2>
      <a:accent1>
        <a:srgbClr val="178CCB"/>
      </a:accent1>
      <a:accent2>
        <a:srgbClr val="16A0AC"/>
      </a:accent2>
      <a:accent3>
        <a:srgbClr val="32A03E"/>
      </a:accent3>
      <a:accent4>
        <a:srgbClr val="6E61D7"/>
      </a:accent4>
      <a:accent5>
        <a:srgbClr val="A238BA"/>
      </a:accent5>
      <a:accent6>
        <a:srgbClr val="C32882"/>
      </a:accent6>
      <a:hlink>
        <a:srgbClr val="178CCB"/>
      </a:hlink>
      <a:folHlink>
        <a:srgbClr val="5F5F5F"/>
      </a:folHlink>
    </a:clrScheme>
    <a:fontScheme name="Arial">
      <a:majorFont>
        <a:latin typeface="Arial"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lgn="ctr">
          <a:noFill/>
          <a:miter lim="800000"/>
          <a:headEnd/>
          <a:tailEnd/>
        </a:ln>
      </a:spPr>
      <a:bodyPr wrap="none" rtlCol="0" anchor="ctr"/>
      <a:lstStyle>
        <a:defPPr algn="ctr">
          <a:lnSpc>
            <a:spcPct val="90000"/>
          </a:lnSpc>
          <a:defRPr sz="1600" b="1" dirty="0" err="1" smtClean="0">
            <a:solidFill>
              <a:schemeClr val="bg1"/>
            </a:solidFill>
            <a:latin typeface="+mj-lt"/>
          </a:defRPr>
        </a:defPPr>
      </a:lstStyle>
    </a:spDef>
    <a:lnDef>
      <a:spPr>
        <a:ln w="2857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auto">
        <a:noFill/>
        <a:ln w="19050" algn="ctr">
          <a:noFill/>
          <a:miter lim="800000"/>
          <a:headEnd/>
          <a:tailEnd/>
        </a:ln>
      </a:spPr>
      <a:bodyPr wrap="square" lIns="0" tIns="0" rIns="0" bIns="0" rtlCol="0">
        <a:noAutofit/>
      </a:bodyPr>
      <a:lstStyle>
        <a:defPPr marL="342900" indent="-342900">
          <a:buClr>
            <a:schemeClr val="accent1"/>
          </a:buClr>
          <a:buSzPct val="80000"/>
          <a:buFont typeface="Wingdings" charset="2"/>
          <a:buChar char="§"/>
          <a:defRPr sz="2000" dirty="0" smtClean="0">
            <a:solidFill>
              <a:schemeClr val="tx1"/>
            </a:solidFill>
          </a:defRPr>
        </a:defPPr>
      </a:lstStyle>
    </a:txDef>
  </a:objectDefaults>
  <a:extraClrSchemeLst/>
  <a:extLst>
    <a:ext uri="{05A4C25C-085E-4340-85A3-A5531E510DB2}">
      <thm15:themeFamily xmlns:thm15="http://schemas.microsoft.com/office/thememl/2012/main" name="e3_UCSF-16x9-FontA_test2" id="{24DA3907-1B0C-0B4F-8531-D21433304D1E}" vid="{D9C2AF2E-EB53-994D-B007-E3AEEE4B0E8B}"/>
    </a:ext>
  </a:extLst>
</a:theme>
</file>

<file path=ppt/theme/theme2.xml><?xml version="1.0" encoding="utf-8"?>
<a:theme xmlns:a="http://schemas.openxmlformats.org/drawingml/2006/main" name="UCSF Contemporary Pattern 1">
  <a:themeElements>
    <a:clrScheme name="USCF Template">
      <a:dk1>
        <a:srgbClr val="052049"/>
      </a:dk1>
      <a:lt1>
        <a:srgbClr val="FFFFFF"/>
      </a:lt1>
      <a:dk2>
        <a:srgbClr val="052049"/>
      </a:dk2>
      <a:lt2>
        <a:srgbClr val="FFFFFF"/>
      </a:lt2>
      <a:accent1>
        <a:srgbClr val="178CCB"/>
      </a:accent1>
      <a:accent2>
        <a:srgbClr val="16A0AC"/>
      </a:accent2>
      <a:accent3>
        <a:srgbClr val="32A03E"/>
      </a:accent3>
      <a:accent4>
        <a:srgbClr val="6E61D7"/>
      </a:accent4>
      <a:accent5>
        <a:srgbClr val="A238BA"/>
      </a:accent5>
      <a:accent6>
        <a:srgbClr val="C32882"/>
      </a:accent6>
      <a:hlink>
        <a:srgbClr val="178CCB"/>
      </a:hlink>
      <a:folHlink>
        <a:srgbClr val="5F5F5F"/>
      </a:folHlink>
    </a:clrScheme>
    <a:fontScheme name="UCSF">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lgn="ctr">
          <a:noFill/>
          <a:miter lim="800000"/>
          <a:headEnd/>
          <a:tailEnd/>
        </a:ln>
      </a:spPr>
      <a:bodyPr wrap="none" rtlCol="0" anchor="ctr"/>
      <a:lstStyle>
        <a:defPPr algn="ctr">
          <a:lnSpc>
            <a:spcPct val="90000"/>
          </a:lnSpc>
          <a:defRPr sz="1600" b="1" dirty="0" err="1" smtClean="0">
            <a:solidFill>
              <a:schemeClr val="bg1"/>
            </a:solidFill>
            <a:latin typeface="+mj-lt"/>
          </a:defRPr>
        </a:defPPr>
      </a:lstStyle>
    </a:spDef>
    <a:lnDef>
      <a:spPr>
        <a:ln w="2857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auto">
        <a:noFill/>
        <a:ln w="19050" algn="ctr">
          <a:noFill/>
          <a:miter lim="800000"/>
          <a:headEnd/>
          <a:tailEnd/>
        </a:ln>
      </a:spPr>
      <a:bodyPr wrap="square" lIns="0" tIns="0" rIns="0" bIns="0" rtlCol="0">
        <a:spAutoFit/>
      </a:bodyPr>
      <a:lstStyle>
        <a:defPPr>
          <a:defRPr sz="2000" dirty="0" err="1" smtClean="0"/>
        </a:defPPr>
      </a:lstStyle>
    </a:txDef>
  </a:objectDefaults>
  <a:extraClrSchemeLst/>
  <a:extLst>
    <a:ext uri="{05A4C25C-085E-4340-85A3-A5531E510DB2}">
      <thm15:themeFamily xmlns:thm15="http://schemas.microsoft.com/office/thememl/2012/main" name="e3_UCSF-16x9-FontA_test2" id="{24DA3907-1B0C-0B4F-8531-D21433304D1E}" vid="{5AF78529-A89B-1E41-BE10-0E2BEF66F84E}"/>
    </a:ext>
  </a:extLst>
</a:theme>
</file>

<file path=ppt/theme/theme3.xml><?xml version="1.0" encoding="utf-8"?>
<a:theme xmlns:a="http://schemas.openxmlformats.org/drawingml/2006/main" name="Office Theme">
  <a:themeElements>
    <a:clrScheme name="Coalesse Palette">
      <a:dk1>
        <a:sysClr val="windowText" lastClr="000000"/>
      </a:dk1>
      <a:lt1>
        <a:sysClr val="window" lastClr="FFFFFF"/>
      </a:lt1>
      <a:dk2>
        <a:srgbClr val="342B2A"/>
      </a:dk2>
      <a:lt2>
        <a:srgbClr val="DAD6CB"/>
      </a:lt2>
      <a:accent1>
        <a:srgbClr val="E55302"/>
      </a:accent1>
      <a:accent2>
        <a:srgbClr val="5F3032"/>
      </a:accent2>
      <a:accent3>
        <a:srgbClr val="005774"/>
      </a:accent3>
      <a:accent4>
        <a:srgbClr val="9BA03C"/>
      </a:accent4>
      <a:accent5>
        <a:srgbClr val="34AA71"/>
      </a:accent5>
      <a:accent6>
        <a:srgbClr val="F3BD48"/>
      </a:accent6>
      <a:hlink>
        <a:srgbClr val="34AA71"/>
      </a:hlink>
      <a:folHlink>
        <a:srgbClr val="8C8C8C"/>
      </a:folHlink>
    </a:clrScheme>
    <a:fontScheme name="Coaless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Coalesse Palette">
      <a:dk1>
        <a:sysClr val="windowText" lastClr="000000"/>
      </a:dk1>
      <a:lt1>
        <a:sysClr val="window" lastClr="FFFFFF"/>
      </a:lt1>
      <a:dk2>
        <a:srgbClr val="342B2A"/>
      </a:dk2>
      <a:lt2>
        <a:srgbClr val="DAD6CB"/>
      </a:lt2>
      <a:accent1>
        <a:srgbClr val="E55302"/>
      </a:accent1>
      <a:accent2>
        <a:srgbClr val="5F3032"/>
      </a:accent2>
      <a:accent3>
        <a:srgbClr val="005774"/>
      </a:accent3>
      <a:accent4>
        <a:srgbClr val="9BA03C"/>
      </a:accent4>
      <a:accent5>
        <a:srgbClr val="34AA71"/>
      </a:accent5>
      <a:accent6>
        <a:srgbClr val="F3BD48"/>
      </a:accent6>
      <a:hlink>
        <a:srgbClr val="34AA71"/>
      </a:hlink>
      <a:folHlink>
        <a:srgbClr val="8C8C8C"/>
      </a:folHlink>
    </a:clrScheme>
    <a:fontScheme name="Coaless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e3_UCSF-16x9-FontA_Draft4 (1)</Template>
  <TotalTime>20518</TotalTime>
  <Words>4810</Words>
  <Application>Microsoft Macintosh PowerPoint</Application>
  <PresentationFormat>On-screen Show (16:9)</PresentationFormat>
  <Paragraphs>287</Paragraphs>
  <Slides>20</Slides>
  <Notes>16</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20</vt:i4>
      </vt:variant>
    </vt:vector>
  </HeadingPairs>
  <TitlesOfParts>
    <vt:vector size="24" baseType="lpstr">
      <vt:lpstr>Arial</vt:lpstr>
      <vt:lpstr>Wingdings</vt:lpstr>
      <vt:lpstr>UCSF Classic</vt:lpstr>
      <vt:lpstr>UCSF Contemporary Pattern 1</vt:lpstr>
      <vt:lpstr>Baseline metabolomic profile as a biomarker for weight change after Roux-en-Y gastric bypass</vt:lpstr>
      <vt:lpstr>Background</vt:lpstr>
      <vt:lpstr>PowerPoint Presentation</vt:lpstr>
      <vt:lpstr>PowerPoint Presentation</vt:lpstr>
      <vt:lpstr>Study design and methods</vt:lpstr>
      <vt:lpstr>PowerPoint Presentation</vt:lpstr>
      <vt:lpstr>PowerPoint Presentation</vt:lpstr>
      <vt:lpstr>PowerPoint Presentation</vt:lpstr>
      <vt:lpstr>Results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Baseline metabolomic profile as a biomarker for weight change after Roux-en-Y gastric bypass</dc:title>
  <dc:subject>MetRS: a 13-metabolite risk score for weight regain after RYGB</dc:subject>
  <dc:creator>Wanjun Gu</dc:creator>
  <dc:description>Slides prepared by Wanjun Gu.</dc:description>
  <cp:lastModifiedBy>Gu, Wanjun</cp:lastModifiedBy>
  <cp:revision>177</cp:revision>
  <dcterms:created xsi:type="dcterms:W3CDTF">2017-04-18T17:07:44Z</dcterms:created>
  <dcterms:modified xsi:type="dcterms:W3CDTF">2026-08-20T03:17:21Z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0x01010009BFD5D484ED57438231C5F4848B6EC7</vt:lpwstr>
  </property>
</Properties>
</file>